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notesMasterIdLst>
    <p:notesMasterId r:id="rId25"/>
  </p:notesMasterIdLst>
  <p:sldIdLst>
    <p:sldId id="269" r:id="rId6"/>
    <p:sldId id="288" r:id="rId7"/>
    <p:sldId id="289" r:id="rId8"/>
    <p:sldId id="272" r:id="rId9"/>
    <p:sldId id="290" r:id="rId10"/>
    <p:sldId id="302" r:id="rId11"/>
    <p:sldId id="303" r:id="rId12"/>
    <p:sldId id="291" r:id="rId13"/>
    <p:sldId id="293" r:id="rId14"/>
    <p:sldId id="292" r:id="rId15"/>
    <p:sldId id="294" r:id="rId16"/>
    <p:sldId id="295" r:id="rId17"/>
    <p:sldId id="296" r:id="rId18"/>
    <p:sldId id="298" r:id="rId19"/>
    <p:sldId id="305" r:id="rId20"/>
    <p:sldId id="304" r:id="rId21"/>
    <p:sldId id="299" r:id="rId22"/>
    <p:sldId id="300" r:id="rId23"/>
    <p:sldId id="301" r:id="rId24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ardsectie" id="{3F3DAAD7-D56C-4526-A872-99B653579593}">
          <p14:sldIdLst>
            <p14:sldId id="269"/>
            <p14:sldId id="288"/>
            <p14:sldId id="289"/>
            <p14:sldId id="272"/>
            <p14:sldId id="290"/>
            <p14:sldId id="302"/>
            <p14:sldId id="303"/>
            <p14:sldId id="291"/>
            <p14:sldId id="293"/>
            <p14:sldId id="292"/>
            <p14:sldId id="294"/>
            <p14:sldId id="295"/>
            <p14:sldId id="296"/>
            <p14:sldId id="298"/>
            <p14:sldId id="305"/>
            <p14:sldId id="304"/>
            <p14:sldId id="299"/>
            <p14:sldId id="300"/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4337"/>
    <a:srgbClr val="102B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FCB8D8-BE37-A12D-B066-88D4340F5854}" v="3" dt="2025-11-27T19:38:02.5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Stijl, gemiddeld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73" autoAdjust="0"/>
    <p:restoredTop sz="95534" autoAdjust="0"/>
  </p:normalViewPr>
  <p:slideViewPr>
    <p:cSldViewPr snapToGrid="0">
      <p:cViewPr varScale="1">
        <p:scale>
          <a:sx n="103" d="100"/>
          <a:sy n="103" d="100"/>
        </p:scale>
        <p:origin x="6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vestment Club | VEK" userId="S::investmentclub@vek.be::fccfcf99-cb57-4190-863c-7d6490e7bab2" providerId="AD" clId="Web-{1BFCB8D8-BE37-A12D-B066-88D4340F5854}"/>
    <pc:docChg chg="modSld">
      <pc:chgData name="Investment Club | VEK" userId="S::investmentclub@vek.be::fccfcf99-cb57-4190-863c-7d6490e7bab2" providerId="AD" clId="Web-{1BFCB8D8-BE37-A12D-B066-88D4340F5854}" dt="2025-11-27T19:38:02.514" v="2"/>
      <pc:docMkLst>
        <pc:docMk/>
      </pc:docMkLst>
      <pc:sldChg chg="addSp delSp modSp">
        <pc:chgData name="Investment Club | VEK" userId="S::investmentclub@vek.be::fccfcf99-cb57-4190-863c-7d6490e7bab2" providerId="AD" clId="Web-{1BFCB8D8-BE37-A12D-B066-88D4340F5854}" dt="2025-11-27T19:38:02.514" v="2"/>
        <pc:sldMkLst>
          <pc:docMk/>
          <pc:sldMk cId="2323985960" sldId="301"/>
        </pc:sldMkLst>
        <pc:spChg chg="add del mod">
          <ac:chgData name="Investment Club | VEK" userId="S::investmentclub@vek.be::fccfcf99-cb57-4190-863c-7d6490e7bab2" providerId="AD" clId="Web-{1BFCB8D8-BE37-A12D-B066-88D4340F5854}" dt="2025-11-27T19:38:02.514" v="2"/>
          <ac:spMkLst>
            <pc:docMk/>
            <pc:sldMk cId="2323985960" sldId="301"/>
            <ac:spMk id="3" creationId="{B0AED001-5886-5996-36E9-67A496DE0B4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39CEF8-D931-4635-9D59-897EC15C6356}" type="datetimeFigureOut">
              <a:rPr lang="nl-BE" smtClean="0"/>
              <a:t>27/11/2025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485BF0-3D51-4747-9D20-CE4DB12E4A7F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50278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9AC517-B988-EB68-8BAC-925B8C429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715FCC8-49F3-DA7C-D48E-D96CC614E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E32E5A1-436D-5DAD-AB61-F9E63D53C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27/11/2025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D773E98-2CD4-4896-A8D4-721A101A6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4BCCD98-667F-C1AA-3F92-6A4B8516C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84829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E01D21-EFE2-BA02-4562-FCDC06012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C78237D-D423-2D73-C4FF-7137A03AB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2E2D613-3ABC-6C9C-AAF0-28156D9C5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27/11/2025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B35B855-4A0E-2D07-328D-8DB476106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D6B777F-5E77-5BD5-24C1-F2CCC1BC2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08851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B10792-05AE-BC19-2B74-E3F8EB7C0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D7F92F7-C619-6432-8C30-11F29A9C7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B6A89C8-7D22-1FFD-A6BF-2301B8B4B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27/11/2025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8D7AB5B-906F-0094-6232-F56E4D8EF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2BB81CA-0192-9646-9C81-51CB30982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22883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91FD50-0C59-C417-55E1-5B3A891EA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072CF92-7358-3C54-F5F6-E2907BA7A6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E8CD0E01-57D7-1ED1-25CB-80AF4919F3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F8A1F70-CB2A-3596-2FF6-A5518EB71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27/11/2025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6DEAD15-42FE-9533-E17D-C8D552AA4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E1BE3A8-C2AB-BD02-4381-014E1BAE8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07604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CAE3E7-3791-865B-3F8B-F0364AA08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C289837-11C1-D555-A7C5-13704B5A8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AC8E3B0-F466-2639-BB83-F754FBE4B6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B5629B61-B828-DAE9-43BD-D83CFD7731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7A95B215-8D9C-8203-3A79-6B052A6E9B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8222EA28-84C7-1A06-ACB3-6131D7C76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27/11/2025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6C2FCF4A-C584-0AD6-787A-DE0731DFE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BC2CE877-1AB5-5219-5331-E750DF8B7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35264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15DD5A-C047-F8D0-DA7E-19329467A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7DD8A31-6EFC-CFB6-C096-C1FB86C63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27/11/2025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363919A-4AC8-2939-3A78-BC0128E13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E0690A0E-097A-7DDE-A49E-22FF894B7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8773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A5ECDA8F-593F-DEC1-EB1E-019275C61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27/11/2025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1A989CE3-ABEA-CBC6-17DC-301A91C44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655E20E-9A75-6809-639D-6BF508F71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89007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750C39-B327-A6CA-9BA1-8A6D4C157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411A3E1-63CD-AA3E-9B0E-912E88F19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DA25E0A-0902-85F9-601D-04F8AFDDA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0B2E31D-5342-EC7F-E643-58EE8699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27/11/2025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44D4488-8B90-86E5-8C03-7E4B8FB5C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63F28CB5-5AD3-1F16-2D64-D41D4CA56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61395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6DB5E9-EA15-D30B-3C35-42A9BBF08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95281E37-FB05-E021-874C-01D79EEDDA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C42E8BD-AD00-F1CA-03F5-2675F2AC1B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62E5033-4861-59E4-CE97-FFC9C32B4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27/11/2025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0FFDCAE-789C-84DA-F97A-AF00B6478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3AFDC7F-2710-035E-BB0A-DDC96F4F7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15969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609A12-F89E-8C75-46BD-2D9B07210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AB165141-0061-579D-91C9-66A577F9EE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80BF015-D3A6-E932-D45E-2155C8D46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27/11/2025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B7F2026-EBD9-14E0-ECF9-9FD50B26D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0E25C6A-274B-2F87-37F0-B01D042F9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73478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5D68690B-1FE4-5378-5250-AF6AC74C2C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83CD605D-8B21-C317-340A-11D26EC33F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3E270A5-8991-CAED-AD4F-FCA600976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27/11/2025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0245DB4-94EF-F96B-1B89-C6FA18065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1ED165D-6C26-FE9A-A313-D5FA88962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869578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6D74-CFC0-5AAD-0DBA-4DAE2FE55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DE51AA-1826-D5A4-4D74-A387839ED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27/11/2025</a:t>
            </a:fld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31CC4B-E962-E33F-B794-ED573FCF3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819002-D3F4-0B35-B8C1-52338A27C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742228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FBC7C-D718-AD56-BB7A-81ABE0A964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29C63E-9C7B-8E7C-A717-FDCFDE121D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5AEF8-3D49-DDF2-B9AB-0E9D4A929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11/27/2025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FF76D-B929-D2EF-FB98-572CB6CCF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4CBF5-2216-5724-58FB-FEB68F7C6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307856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08AB3-0611-255A-0882-8B7ECD513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F1010-89D2-01C1-845E-DD17DB4D9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643EA-82EE-878C-ABA0-AFDBC6EDB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11/27/2025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28868-17D1-F1D6-6B4B-75AE970C5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18483-0AD5-F41E-3130-A4EBD8B11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99246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FDB43-CC8E-3A65-A592-6B7E6C600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E7A94-F2CC-F7F5-D941-55B8FDDE3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2ECE2-97A4-0081-7019-909BE4185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11/27/2025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390EB-9333-46CB-6D91-6BFD1BA27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C0607-343C-8770-0DAF-9D3302ED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8361176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8B67D-412C-FEA2-9096-8BCBCC5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26F19-6BDC-1F37-AD39-067A46C597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1FFC51-EC72-C86E-038E-9FA25C073E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A048AD-0E09-1CC7-700B-001F01FB6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11/27/2025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AF59AB-58F9-B8B5-0773-E24D51EDC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D107C3-7DD1-F595-7642-C341AA0F1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96029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DBEC9-4C32-2BE4-CA4C-FCA81E1FF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0F3422-63DF-23D2-542D-6EF4370C1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808E8A-3245-31B7-5872-6E65528762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47431C-97B5-59FF-C5B6-C9848AE6A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3902D8-0AE8-A661-6A7C-47164949E5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57AFB6-E851-88B9-1BDE-E6CF53710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11/27/2025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CAE788-1F15-9300-B7B7-A5A445B71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9874FD-327C-9575-A12D-18F87C220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265646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27F15-611A-41B6-0A4D-6FC022E2B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5270E5-7C95-D9B4-F71E-5F787F80D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11/27/2025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47CE89-5CA6-A295-4332-AD7A4428A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E939CE-AB76-6F40-4A8B-FA8B80F21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586487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E04FC0-D99F-388C-0B79-992280415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11/27/2025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66F526-2840-2DC9-FA31-16E98D9B8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F1413F-E31B-E36B-FB48-134137F6A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303154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B067D-A42F-4274-2573-3FC2654B1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DE74E-D1B8-93D4-E538-C24EC1228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0124F2-ECDB-334C-C672-B930DA1D96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7CED1B-74FF-5CBC-384C-034C3B820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11/27/2025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2D9E93-1F54-2EF5-5D68-13E957525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271EB1-CA88-7427-A265-6E788740D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910962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82458-2C56-62A3-CD46-259AAB532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86F67C-AC15-3039-4652-C04CAA2C07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13E69E-3B81-2E0B-764A-D9AF1DB7DC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610C8E-DE1F-33A1-42C8-F36DB46BA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11/27/2025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B6E386-E2D1-41AE-6DF4-0A56515CF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FAD2B2-48DB-3767-F174-5DD2AA85B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913400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C07D2-095A-7FBB-456B-09911A384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917183-08A6-52C7-607B-B3A658B523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05959-5EF3-4640-B1C7-DD79EAF72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11/27/2025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315E6-F1C0-6CFC-6B44-46144E2F4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F5F67-7669-4A78-FA65-4AFC9EE0A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999310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BE960C-5CFF-3258-A914-F627E93925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22DCE5-12E8-721A-8C2D-6F635614DD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A7F42-E301-DB24-EA06-10E8B84CE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11/27/2025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B63F5-58D8-1D33-6CAF-0967B11C8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09A63-A46F-7696-234D-FA0799AF2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35068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A3C29633-190A-0197-3DA9-EC8DFAB0F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76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0301B5E-4E2B-A6DB-5925-B2EC519EB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796AF50-A528-B12A-96B0-868A2F2677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C89BB1-5A5B-4779-81CE-BF22AFA9B40A}" type="datetimeFigureOut">
              <a:rPr lang="nl-BE" smtClean="0"/>
              <a:t>27/11/2025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928E766-20E7-FFEB-BB73-3728F14346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9F1833D-C567-A08F-A4C3-DA00B20469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DB9325-F9AB-0E8D-505A-AD1065F024E3}"/>
              </a:ext>
            </a:extLst>
          </p:cNvPr>
          <p:cNvCxnSpPr>
            <a:cxnSpLocks/>
          </p:cNvCxnSpPr>
          <p:nvPr userDrawn="1"/>
        </p:nvCxnSpPr>
        <p:spPr>
          <a:xfrm flipH="1">
            <a:off x="832857" y="1379372"/>
            <a:ext cx="10520943" cy="6606"/>
          </a:xfrm>
          <a:prstGeom prst="line">
            <a:avLst/>
          </a:prstGeom>
          <a:ln w="38100">
            <a:solidFill>
              <a:srgbClr val="074422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938EE0-8464-5FE4-4025-D7C4D74A0332}"/>
              </a:ext>
            </a:extLst>
          </p:cNvPr>
          <p:cNvCxnSpPr>
            <a:cxnSpLocks/>
          </p:cNvCxnSpPr>
          <p:nvPr userDrawn="1"/>
        </p:nvCxnSpPr>
        <p:spPr>
          <a:xfrm flipH="1">
            <a:off x="853293" y="6176963"/>
            <a:ext cx="9128907" cy="0"/>
          </a:xfrm>
          <a:prstGeom prst="line">
            <a:avLst/>
          </a:prstGeom>
          <a:ln w="38100">
            <a:solidFill>
              <a:srgbClr val="074422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E7A888C-6579-EE81-3DA4-6DC8DFA250D4}"/>
              </a:ext>
            </a:extLst>
          </p:cNvPr>
          <p:cNvCxnSpPr>
            <a:cxnSpLocks/>
          </p:cNvCxnSpPr>
          <p:nvPr userDrawn="1"/>
        </p:nvCxnSpPr>
        <p:spPr>
          <a:xfrm flipH="1">
            <a:off x="11018520" y="6176963"/>
            <a:ext cx="335280" cy="0"/>
          </a:xfrm>
          <a:prstGeom prst="line">
            <a:avLst/>
          </a:prstGeom>
          <a:ln w="38100">
            <a:solidFill>
              <a:srgbClr val="074422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7E023A86-F80F-76D3-C672-8C771FC48894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033800" y="5710404"/>
            <a:ext cx="933119" cy="93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725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C66EFB-49B5-5AD4-7916-FC6162A53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7D05F7-2DDD-5EEC-8413-0DCA0CF59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E564E-4AB9-C83C-1931-128DE4E6DC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60EBFD-C0B0-4406-9B6E-841DD2A8CA96}" type="datetimeFigureOut">
              <a:rPr lang="en-BE" smtClean="0"/>
              <a:t>11/27/2025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0F2FF-9BB5-8647-2B06-30D4FE031C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ECACD-1254-E804-895F-79A9E21739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11410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A9B099-3678-56D7-4D13-0036810034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3613" y="1946276"/>
            <a:ext cx="9684774" cy="1655762"/>
          </a:xfrm>
        </p:spPr>
        <p:txBody>
          <a:bodyPr>
            <a:normAutofit/>
          </a:bodyPr>
          <a:lstStyle/>
          <a:p>
            <a:r>
              <a:rPr lang="nl-BE" sz="4800" b="1" cap="all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Lato Black" panose="020F0A02020204030203" pitchFamily="34" charset="0"/>
              </a:rPr>
              <a:t>Algemene vergadering 5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DB8EF02-DF1E-4CA0-A16A-719DCC97ED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0490" y="3602038"/>
            <a:ext cx="10491020" cy="1655762"/>
          </a:xfrm>
        </p:spPr>
        <p:txBody>
          <a:bodyPr>
            <a:normAutofit/>
          </a:bodyPr>
          <a:lstStyle/>
          <a:p>
            <a:r>
              <a:rPr lang="nl-BE" sz="4400" cap="small" dirty="0">
                <a:ln w="3175">
                  <a:noFill/>
                </a:ln>
                <a:solidFill>
                  <a:schemeClr val="bg1"/>
                </a:solidFill>
                <a:latin typeface="Lato" panose="020F0502020204030203" pitchFamily="34" charset="0"/>
              </a:rPr>
              <a:t>27 november 2025</a:t>
            </a:r>
          </a:p>
        </p:txBody>
      </p:sp>
    </p:spTree>
    <p:extLst>
      <p:ext uri="{BB962C8B-B14F-4D97-AF65-F5344CB8AC3E}">
        <p14:creationId xmlns:p14="http://schemas.microsoft.com/office/powerpoint/2010/main" val="948246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B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2EE084-D575-8009-5207-2E9BFA437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19B580-013D-6C6D-815E-D54429584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3613" y="3030473"/>
            <a:ext cx="9684774" cy="797054"/>
          </a:xfrm>
        </p:spPr>
        <p:txBody>
          <a:bodyPr>
            <a:normAutofit/>
          </a:bodyPr>
          <a:lstStyle/>
          <a:p>
            <a:r>
              <a:rPr lang="nl-BE" sz="4800" b="1" cap="all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Lato Black" panose="020F0A02020204030203" pitchFamily="34" charset="0"/>
              </a:rPr>
              <a:t>MACRO</a:t>
            </a:r>
          </a:p>
        </p:txBody>
      </p:sp>
    </p:spTree>
    <p:extLst>
      <p:ext uri="{BB962C8B-B14F-4D97-AF65-F5344CB8AC3E}">
        <p14:creationId xmlns:p14="http://schemas.microsoft.com/office/powerpoint/2010/main" val="3906517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DFDF0-6618-F0BC-839E-4CC7912CC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B3EA8-3E10-C7F1-A8EE-E736D2FF5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>
                <a:solidFill>
                  <a:srgbClr val="244337"/>
                </a:solidFill>
                <a:latin typeface="Lato Black" panose="020F0A02020204030203" pitchFamily="34" charset="0"/>
              </a:rPr>
              <a:t>US Economic Fundamentals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C6D22E4-A187-3146-0034-BD09DAA57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7973"/>
            <a:ext cx="10091569" cy="45529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i="0" dirty="0" err="1">
                <a:solidFill>
                  <a:srgbClr val="242628"/>
                </a:solidFill>
                <a:effectLst/>
                <a:latin typeface="jaf-bernina-sans"/>
              </a:rPr>
              <a:t>Vertragende</a:t>
            </a:r>
            <a:r>
              <a:rPr lang="en-GB" sz="2400" b="1" i="0" dirty="0">
                <a:solidFill>
                  <a:srgbClr val="242628"/>
                </a:solidFill>
                <a:effectLst/>
                <a:latin typeface="jaf-bernina-sans"/>
              </a:rPr>
              <a:t> </a:t>
            </a:r>
            <a:r>
              <a:rPr lang="en-GB" sz="2400" b="1" i="0" dirty="0" err="1">
                <a:solidFill>
                  <a:srgbClr val="242628"/>
                </a:solidFill>
                <a:effectLst/>
                <a:latin typeface="jaf-bernina-sans"/>
              </a:rPr>
              <a:t>economie</a:t>
            </a:r>
            <a:endParaRPr lang="en-GB" sz="2400" b="1" i="0" dirty="0">
              <a:solidFill>
                <a:srgbClr val="242628"/>
              </a:solidFill>
              <a:effectLst/>
              <a:latin typeface="jaf-bernina-sans"/>
            </a:endParaRPr>
          </a:p>
          <a:p>
            <a:r>
              <a:rPr lang="en-GB" sz="2400" b="0" i="0" dirty="0" err="1">
                <a:solidFill>
                  <a:srgbClr val="242628"/>
                </a:solidFill>
                <a:effectLst/>
                <a:latin typeface="jaf-bernina-sans"/>
              </a:rPr>
              <a:t>Arbeidsmarkt</a:t>
            </a:r>
            <a:r>
              <a:rPr lang="en-GB" sz="2400" b="0" i="0" dirty="0">
                <a:solidFill>
                  <a:srgbClr val="242628"/>
                </a:solidFill>
                <a:effectLst/>
                <a:latin typeface="jaf-bernina-sans"/>
              </a:rPr>
              <a:t>: </a:t>
            </a:r>
            <a:r>
              <a:rPr lang="en-GB" sz="2400" b="0" i="0" dirty="0" err="1">
                <a:solidFill>
                  <a:srgbClr val="242628"/>
                </a:solidFill>
                <a:effectLst/>
                <a:latin typeface="jaf-bernina-sans"/>
              </a:rPr>
              <a:t>afkoeling</a:t>
            </a:r>
            <a:endParaRPr lang="en-GB" sz="2400" b="0" i="0" dirty="0">
              <a:solidFill>
                <a:srgbClr val="242628"/>
              </a:solidFill>
              <a:effectLst/>
              <a:latin typeface="jaf-bernina-sans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rgbClr val="242628"/>
                </a:solidFill>
                <a:latin typeface="jaf-bernina-sans"/>
              </a:rPr>
              <a:t>NFP:</a:t>
            </a:r>
            <a:r>
              <a:rPr lang="en-GB" sz="2000" b="0" i="0" dirty="0">
                <a:solidFill>
                  <a:srgbClr val="242628"/>
                </a:solidFill>
                <a:effectLst/>
                <a:latin typeface="jaf-bernina-sans"/>
              </a:rPr>
              <a:t> </a:t>
            </a:r>
            <a:r>
              <a:rPr lang="en-GB" sz="2000" b="0" i="0" dirty="0" err="1">
                <a:solidFill>
                  <a:srgbClr val="242628"/>
                </a:solidFill>
                <a:effectLst/>
                <a:latin typeface="jaf-bernina-sans"/>
              </a:rPr>
              <a:t>Verzwakking</a:t>
            </a:r>
            <a:r>
              <a:rPr lang="en-GB" sz="2000" dirty="0">
                <a:solidFill>
                  <a:srgbClr val="242628"/>
                </a:solidFill>
                <a:latin typeface="jaf-bernina-sans"/>
              </a:rPr>
              <a:t> (</a:t>
            </a:r>
            <a:r>
              <a:rPr lang="en-GB" sz="2000" dirty="0" err="1">
                <a:solidFill>
                  <a:srgbClr val="242628"/>
                </a:solidFill>
                <a:latin typeface="jaf-bernina-sans"/>
              </a:rPr>
              <a:t>veel</a:t>
            </a:r>
            <a:r>
              <a:rPr lang="en-GB" sz="2000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000" dirty="0" err="1">
                <a:solidFill>
                  <a:srgbClr val="242628"/>
                </a:solidFill>
                <a:latin typeface="jaf-bernina-sans"/>
              </a:rPr>
              <a:t>ontslagrondes</a:t>
            </a:r>
            <a:r>
              <a:rPr lang="en-GB" sz="2000" dirty="0">
                <a:solidFill>
                  <a:srgbClr val="242628"/>
                </a:solidFill>
                <a:latin typeface="jaf-bernina-sans"/>
              </a:rPr>
              <a:t>, </a:t>
            </a:r>
            <a:r>
              <a:rPr lang="en-GB" sz="2000" dirty="0" err="1">
                <a:solidFill>
                  <a:srgbClr val="242628"/>
                </a:solidFill>
                <a:latin typeface="jaf-bernina-sans"/>
              </a:rPr>
              <a:t>weinig</a:t>
            </a:r>
            <a:r>
              <a:rPr lang="en-GB" sz="2000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000" dirty="0" err="1">
                <a:solidFill>
                  <a:srgbClr val="242628"/>
                </a:solidFill>
                <a:latin typeface="jaf-bernina-sans"/>
              </a:rPr>
              <a:t>banengroei</a:t>
            </a:r>
            <a:r>
              <a:rPr lang="en-GB" sz="2000" dirty="0">
                <a:solidFill>
                  <a:srgbClr val="242628"/>
                </a:solidFill>
                <a:latin typeface="jaf-bernina-sans"/>
              </a:rPr>
              <a:t>, </a:t>
            </a:r>
            <a:r>
              <a:rPr lang="en-GB" sz="2000" dirty="0" err="1">
                <a:solidFill>
                  <a:srgbClr val="242628"/>
                </a:solidFill>
                <a:latin typeface="jaf-bernina-sans"/>
              </a:rPr>
              <a:t>afnemende</a:t>
            </a:r>
            <a:r>
              <a:rPr lang="en-GB" sz="2000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000" dirty="0" err="1">
                <a:solidFill>
                  <a:srgbClr val="242628"/>
                </a:solidFill>
                <a:latin typeface="jaf-bernina-sans"/>
              </a:rPr>
              <a:t>loongroei</a:t>
            </a:r>
            <a:r>
              <a:rPr lang="en-GB" sz="2000" dirty="0">
                <a:solidFill>
                  <a:srgbClr val="242628"/>
                </a:solidFill>
                <a:latin typeface="jaf-bernina-sans"/>
              </a:rPr>
              <a:t>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sz="2000" dirty="0" err="1">
                <a:solidFill>
                  <a:srgbClr val="242628"/>
                </a:solidFill>
                <a:latin typeface="jaf-bernina-sans"/>
              </a:rPr>
              <a:t>Stijgende</a:t>
            </a:r>
            <a:r>
              <a:rPr lang="en-GB" sz="2000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000" dirty="0" err="1">
                <a:solidFill>
                  <a:srgbClr val="242628"/>
                </a:solidFill>
                <a:latin typeface="jaf-bernina-sans"/>
              </a:rPr>
              <a:t>werkoosheid</a:t>
            </a:r>
            <a:r>
              <a:rPr lang="en-GB" sz="2000" dirty="0">
                <a:solidFill>
                  <a:srgbClr val="242628"/>
                </a:solidFill>
                <a:latin typeface="jaf-bernina-sans"/>
              </a:rPr>
              <a:t> (4,4%): </a:t>
            </a:r>
            <a:r>
              <a:rPr lang="en-GB" sz="2000" dirty="0" err="1">
                <a:solidFill>
                  <a:srgbClr val="242628"/>
                </a:solidFill>
                <a:latin typeface="jaf-bernina-sans"/>
              </a:rPr>
              <a:t>hoogste</a:t>
            </a:r>
            <a:r>
              <a:rPr lang="en-GB" sz="2000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000" dirty="0" err="1">
                <a:solidFill>
                  <a:srgbClr val="242628"/>
                </a:solidFill>
                <a:latin typeface="jaf-bernina-sans"/>
              </a:rPr>
              <a:t>niveau</a:t>
            </a:r>
            <a:r>
              <a:rPr lang="en-GB" sz="2000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000" dirty="0" err="1">
                <a:solidFill>
                  <a:srgbClr val="242628"/>
                </a:solidFill>
                <a:latin typeface="jaf-bernina-sans"/>
              </a:rPr>
              <a:t>sinds</a:t>
            </a:r>
            <a:r>
              <a:rPr lang="en-GB" sz="2000" dirty="0">
                <a:solidFill>
                  <a:srgbClr val="242628"/>
                </a:solidFill>
                <a:latin typeface="jaf-bernina-sans"/>
              </a:rPr>
              <a:t> 2021</a:t>
            </a:r>
          </a:p>
          <a:p>
            <a:endParaRPr lang="en-GB" sz="2000" dirty="0">
              <a:solidFill>
                <a:srgbClr val="242628"/>
              </a:solidFill>
              <a:latin typeface="jaf-bernina-sans"/>
            </a:endParaRPr>
          </a:p>
          <a:p>
            <a:r>
              <a:rPr lang="en-GB" sz="2400" dirty="0" err="1">
                <a:solidFill>
                  <a:srgbClr val="242628"/>
                </a:solidFill>
                <a:latin typeface="jaf-bernina-sans"/>
              </a:rPr>
              <a:t>Inflatie</a:t>
            </a:r>
            <a:r>
              <a:rPr lang="en-GB" sz="2400" dirty="0">
                <a:solidFill>
                  <a:srgbClr val="242628"/>
                </a:solidFill>
                <a:latin typeface="jaf-bernina-sans"/>
              </a:rPr>
              <a:t>: </a:t>
            </a:r>
            <a:r>
              <a:rPr lang="en-GB" sz="2400" dirty="0" err="1">
                <a:solidFill>
                  <a:srgbClr val="242628"/>
                </a:solidFill>
                <a:latin typeface="jaf-bernina-sans"/>
              </a:rPr>
              <a:t>stabiel</a:t>
            </a:r>
            <a:r>
              <a:rPr lang="en-GB" sz="2400" dirty="0">
                <a:solidFill>
                  <a:srgbClr val="242628"/>
                </a:solidFill>
                <a:latin typeface="jaf-bernina-sans"/>
              </a:rPr>
              <a:t> (Core CPI +- 3%)</a:t>
            </a:r>
          </a:p>
          <a:p>
            <a:pPr marL="0" indent="0">
              <a:buNone/>
            </a:pPr>
            <a:endParaRPr lang="en-GB" sz="2400" dirty="0">
              <a:solidFill>
                <a:srgbClr val="242628"/>
              </a:solidFill>
              <a:latin typeface="jaf-bernina-sans"/>
            </a:endParaRPr>
          </a:p>
          <a:p>
            <a:r>
              <a:rPr lang="en-GB" sz="2400" dirty="0">
                <a:solidFill>
                  <a:srgbClr val="242628"/>
                </a:solidFill>
                <a:latin typeface="jaf-bernina-sans"/>
              </a:rPr>
              <a:t>ISM Manufacturing PMI: 48,7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sz="2000" dirty="0" err="1"/>
              <a:t>Industriële</a:t>
            </a:r>
            <a:r>
              <a:rPr lang="en-GB" sz="2000" dirty="0"/>
              <a:t> </a:t>
            </a:r>
            <a:r>
              <a:rPr lang="en-GB" sz="2000" dirty="0" err="1"/>
              <a:t>activiteit</a:t>
            </a:r>
            <a:r>
              <a:rPr lang="en-GB" sz="2000" dirty="0"/>
              <a:t> </a:t>
            </a:r>
            <a:r>
              <a:rPr lang="en-GB" sz="2000" dirty="0" err="1"/>
              <a:t>neemt</a:t>
            </a:r>
            <a:r>
              <a:rPr lang="en-GB" sz="2000" dirty="0"/>
              <a:t> </a:t>
            </a:r>
            <a:r>
              <a:rPr lang="en-GB" sz="2000" dirty="0" err="1"/>
              <a:t>af</a:t>
            </a:r>
            <a:r>
              <a:rPr lang="en-GB" sz="2000" dirty="0"/>
              <a:t> (</a:t>
            </a:r>
            <a:r>
              <a:rPr lang="en-GB" sz="2000" dirty="0" err="1"/>
              <a:t>economische</a:t>
            </a:r>
            <a:r>
              <a:rPr lang="en-GB" sz="2000" dirty="0"/>
              <a:t> </a:t>
            </a:r>
            <a:r>
              <a:rPr lang="en-GB" sz="2000" dirty="0" err="1"/>
              <a:t>vertraging</a:t>
            </a:r>
            <a:r>
              <a:rPr lang="en-GB" sz="2000" dirty="0"/>
              <a:t>)</a:t>
            </a:r>
            <a:endParaRPr lang="en-GB" sz="2000" dirty="0">
              <a:solidFill>
                <a:srgbClr val="242628"/>
              </a:solidFill>
              <a:latin typeface="jaf-bernina-sans"/>
            </a:endParaRPr>
          </a:p>
        </p:txBody>
      </p:sp>
    </p:spTree>
    <p:extLst>
      <p:ext uri="{BB962C8B-B14F-4D97-AF65-F5344CB8AC3E}">
        <p14:creationId xmlns:p14="http://schemas.microsoft.com/office/powerpoint/2010/main" val="654825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>
                <a:solidFill>
                  <a:srgbClr val="244337"/>
                </a:solidFill>
                <a:latin typeface="Lato Black" panose="020F0A02020204030203" pitchFamily="34" charset="0"/>
              </a:rPr>
              <a:t>FED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2518"/>
            <a:ext cx="6408433" cy="41441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i="0" dirty="0">
                <a:solidFill>
                  <a:srgbClr val="242628"/>
                </a:solidFill>
                <a:effectLst/>
                <a:latin typeface="jaf-bernina-sans"/>
              </a:rPr>
              <a:t>84% </a:t>
            </a:r>
            <a:r>
              <a:rPr lang="en-GB" sz="2400" b="1" i="0" dirty="0" err="1">
                <a:solidFill>
                  <a:srgbClr val="242628"/>
                </a:solidFill>
                <a:effectLst/>
                <a:latin typeface="jaf-bernina-sans"/>
              </a:rPr>
              <a:t>kans</a:t>
            </a:r>
            <a:r>
              <a:rPr lang="en-GB" sz="2400" b="1" i="0" dirty="0">
                <a:solidFill>
                  <a:srgbClr val="242628"/>
                </a:solidFill>
                <a:effectLst/>
                <a:latin typeface="jaf-bernina-sans"/>
              </a:rPr>
              <a:t> op rate cut </a:t>
            </a:r>
            <a:r>
              <a:rPr lang="en-GB" sz="2400" b="0" i="0" dirty="0">
                <a:solidFill>
                  <a:srgbClr val="242628"/>
                </a:solidFill>
                <a:effectLst/>
                <a:latin typeface="jaf-bernina-sans"/>
              </a:rPr>
              <a:t>in December</a:t>
            </a:r>
          </a:p>
          <a:p>
            <a:pPr marL="0" indent="0">
              <a:buNone/>
            </a:pPr>
            <a:endParaRPr lang="en-GB" sz="900" b="0" i="0" dirty="0">
              <a:solidFill>
                <a:srgbClr val="242628"/>
              </a:solidFill>
              <a:effectLst/>
              <a:latin typeface="jaf-bernina-sans"/>
            </a:endParaRPr>
          </a:p>
          <a:p>
            <a:r>
              <a:rPr lang="en-GB" sz="2400" dirty="0">
                <a:solidFill>
                  <a:srgbClr val="242628"/>
                </a:solidFill>
                <a:latin typeface="jaf-bernina-sans"/>
              </a:rPr>
              <a:t>‘Hawkish’ shift mid November (minder commitment </a:t>
            </a:r>
            <a:r>
              <a:rPr lang="en-GB" sz="2400" dirty="0" err="1">
                <a:solidFill>
                  <a:srgbClr val="242628"/>
                </a:solidFill>
                <a:latin typeface="jaf-bernina-sans"/>
              </a:rPr>
              <a:t>voor</a:t>
            </a:r>
            <a:r>
              <a:rPr lang="en-GB" sz="2400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400" dirty="0" err="1">
                <a:solidFill>
                  <a:srgbClr val="242628"/>
                </a:solidFill>
                <a:latin typeface="jaf-bernina-sans"/>
              </a:rPr>
              <a:t>verdere</a:t>
            </a:r>
            <a:r>
              <a:rPr lang="en-GB" sz="2400" dirty="0">
                <a:solidFill>
                  <a:srgbClr val="242628"/>
                </a:solidFill>
                <a:latin typeface="jaf-bernina-sans"/>
              </a:rPr>
              <a:t> rate cuts)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rgbClr val="242628"/>
                </a:solidFill>
                <a:latin typeface="jaf-bernina-sans"/>
              </a:rPr>
              <a:t>Data blackout: US government shutdown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sz="2000" dirty="0" err="1">
                <a:solidFill>
                  <a:srgbClr val="242628"/>
                </a:solidFill>
                <a:latin typeface="jaf-bernina-sans"/>
              </a:rPr>
              <a:t>Verschillende</a:t>
            </a:r>
            <a:r>
              <a:rPr lang="en-GB" sz="2000" dirty="0">
                <a:solidFill>
                  <a:srgbClr val="242628"/>
                </a:solidFill>
                <a:latin typeface="jaf-bernina-sans"/>
              </a:rPr>
              <a:t> FED-officials </a:t>
            </a:r>
            <a:r>
              <a:rPr lang="en-GB" sz="2000" dirty="0" err="1">
                <a:solidFill>
                  <a:srgbClr val="242628"/>
                </a:solidFill>
                <a:latin typeface="jaf-bernina-sans"/>
              </a:rPr>
              <a:t>waren</a:t>
            </a:r>
            <a:r>
              <a:rPr lang="en-GB" sz="2000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000" dirty="0" err="1">
                <a:solidFill>
                  <a:srgbClr val="242628"/>
                </a:solidFill>
                <a:latin typeface="jaf-bernina-sans"/>
              </a:rPr>
              <a:t>tegen</a:t>
            </a:r>
            <a:r>
              <a:rPr lang="en-GB" sz="2000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000" dirty="0" err="1">
                <a:solidFill>
                  <a:srgbClr val="242628"/>
                </a:solidFill>
                <a:latin typeface="jaf-bernina-sans"/>
              </a:rPr>
              <a:t>verdere</a:t>
            </a:r>
            <a:r>
              <a:rPr lang="en-GB" sz="2000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000" dirty="0" err="1">
                <a:solidFill>
                  <a:srgbClr val="242628"/>
                </a:solidFill>
                <a:latin typeface="jaf-bernina-sans"/>
              </a:rPr>
              <a:t>renteverlaging</a:t>
            </a:r>
            <a:endParaRPr lang="en-GB" sz="2000" dirty="0">
              <a:solidFill>
                <a:srgbClr val="242628"/>
              </a:solidFill>
              <a:latin typeface="jaf-bernina-sans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rgbClr val="242628"/>
                </a:solidFill>
                <a:latin typeface="jaf-bernina-sans"/>
              </a:rPr>
              <a:t>Economic fundamentals </a:t>
            </a:r>
            <a:r>
              <a:rPr lang="en-GB" sz="2000" dirty="0" err="1">
                <a:solidFill>
                  <a:srgbClr val="242628"/>
                </a:solidFill>
                <a:latin typeface="jaf-bernina-sans"/>
              </a:rPr>
              <a:t>zaten</a:t>
            </a:r>
            <a:r>
              <a:rPr lang="en-GB" sz="2000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000" dirty="0" err="1">
                <a:solidFill>
                  <a:srgbClr val="242628"/>
                </a:solidFill>
                <a:latin typeface="jaf-bernina-sans"/>
              </a:rPr>
              <a:t>niet</a:t>
            </a:r>
            <a:r>
              <a:rPr lang="en-GB" sz="2000" dirty="0">
                <a:solidFill>
                  <a:srgbClr val="242628"/>
                </a:solidFill>
                <a:latin typeface="jaf-bernina-sans"/>
              </a:rPr>
              <a:t> mee: </a:t>
            </a:r>
            <a:r>
              <a:rPr lang="en-GB" sz="2000" dirty="0" err="1">
                <a:solidFill>
                  <a:srgbClr val="242628"/>
                </a:solidFill>
                <a:latin typeface="jaf-bernina-sans"/>
              </a:rPr>
              <a:t>lage</a:t>
            </a:r>
            <a:r>
              <a:rPr lang="en-GB" sz="2000" dirty="0">
                <a:solidFill>
                  <a:srgbClr val="242628"/>
                </a:solidFill>
                <a:latin typeface="jaf-bernina-sans"/>
              </a:rPr>
              <a:t> unemployment &amp; </a:t>
            </a:r>
            <a:r>
              <a:rPr lang="en-GB" sz="2000" dirty="0" err="1">
                <a:solidFill>
                  <a:srgbClr val="242628"/>
                </a:solidFill>
                <a:latin typeface="jaf-bernina-sans"/>
              </a:rPr>
              <a:t>hoge</a:t>
            </a:r>
            <a:r>
              <a:rPr lang="en-GB" sz="2000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000" dirty="0" err="1">
                <a:solidFill>
                  <a:srgbClr val="242628"/>
                </a:solidFill>
                <a:latin typeface="jaf-bernina-sans"/>
              </a:rPr>
              <a:t>inflatie</a:t>
            </a:r>
            <a:endParaRPr lang="en-GB" sz="2000" dirty="0">
              <a:solidFill>
                <a:srgbClr val="242628"/>
              </a:solidFill>
              <a:latin typeface="jaf-bernina-sans"/>
            </a:endParaRPr>
          </a:p>
          <a:p>
            <a:pPr lvl="1">
              <a:buFont typeface="Courier New" panose="02070309020205020404" pitchFamily="49" charset="0"/>
              <a:buChar char="o"/>
            </a:pPr>
            <a:endParaRPr lang="en-GB" sz="900" dirty="0">
              <a:solidFill>
                <a:srgbClr val="242628"/>
              </a:solidFill>
              <a:latin typeface="jaf-bernina-sans"/>
            </a:endParaRPr>
          </a:p>
          <a:p>
            <a:r>
              <a:rPr lang="en-GB" sz="2400" dirty="0">
                <a:solidFill>
                  <a:srgbClr val="242628"/>
                </a:solidFill>
                <a:latin typeface="jaf-bernina-sans"/>
              </a:rPr>
              <a:t>Nu </a:t>
            </a:r>
            <a:r>
              <a:rPr lang="en-GB" sz="2400" dirty="0" err="1">
                <a:solidFill>
                  <a:srgbClr val="242628"/>
                </a:solidFill>
                <a:latin typeface="jaf-bernina-sans"/>
              </a:rPr>
              <a:t>terug</a:t>
            </a:r>
            <a:r>
              <a:rPr lang="en-GB" sz="2400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400" dirty="0" err="1">
                <a:solidFill>
                  <a:srgbClr val="242628"/>
                </a:solidFill>
                <a:latin typeface="jaf-bernina-sans"/>
              </a:rPr>
              <a:t>omslag</a:t>
            </a:r>
            <a:r>
              <a:rPr lang="en-GB" sz="2400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400" dirty="0" err="1">
                <a:solidFill>
                  <a:srgbClr val="242628"/>
                </a:solidFill>
                <a:latin typeface="jaf-bernina-sans"/>
              </a:rPr>
              <a:t>naar</a:t>
            </a:r>
            <a:r>
              <a:rPr lang="en-GB" sz="2400" dirty="0">
                <a:solidFill>
                  <a:srgbClr val="242628"/>
                </a:solidFill>
                <a:latin typeface="jaf-bernina-sans"/>
              </a:rPr>
              <a:t> ’Dovish’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sz="2000" dirty="0" err="1">
                <a:solidFill>
                  <a:srgbClr val="242628"/>
                </a:solidFill>
                <a:latin typeface="jaf-bernina-sans"/>
              </a:rPr>
              <a:t>Zorgen</a:t>
            </a:r>
            <a:r>
              <a:rPr lang="en-GB" sz="2000" dirty="0">
                <a:solidFill>
                  <a:srgbClr val="242628"/>
                </a:solidFill>
                <a:latin typeface="jaf-bernina-sans"/>
              </a:rPr>
              <a:t> over ‘Economic weaknesses’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D4F1425A-1696-6B92-53D3-5A635E3C7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1022" y="1482062"/>
            <a:ext cx="5222442" cy="4144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5449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C35E4-09A6-6E63-6284-FE11B5343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58E3F-3CAA-473C-E844-3DCB58CCC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7824"/>
            <a:ext cx="10515600" cy="76235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400" b="1" dirty="0">
                <a:solidFill>
                  <a:srgbClr val="244337"/>
                </a:solidFill>
                <a:latin typeface="jaf-bernina-sans"/>
              </a:rPr>
              <a:t>AI-Bubble(?)</a:t>
            </a:r>
            <a:endParaRPr lang="en-GB" sz="4400" dirty="0">
              <a:solidFill>
                <a:srgbClr val="244337"/>
              </a:solidFill>
              <a:latin typeface="jaf-bernina-sans"/>
              <a:sym typeface="Wingdings" pitchFamily="2" charset="2"/>
            </a:endParaRPr>
          </a:p>
          <a:p>
            <a:pPr>
              <a:buFont typeface="Wingdings" pitchFamily="2" charset="2"/>
              <a:buChar char="à"/>
            </a:pPr>
            <a:endParaRPr lang="en-GB" sz="4000" dirty="0">
              <a:solidFill>
                <a:srgbClr val="242628"/>
              </a:solidFill>
              <a:latin typeface="jaf-bernina-san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C72537D-2CD2-F780-5359-B596F153A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627742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556AA-4BD9-CA69-EC52-CB85E11AF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94DF3-4AB5-4D74-BE5C-F239A714B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>
                <a:solidFill>
                  <a:srgbClr val="244337"/>
                </a:solidFill>
                <a:latin typeface="Lato Black" panose="020F0A02020204030203" pitchFamily="34" charset="0"/>
              </a:rPr>
              <a:t>AI-Bubble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E13F2-5644-D1D3-C967-63FA8426F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2518"/>
            <a:ext cx="10515600" cy="414418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sz="2600" b="1" dirty="0">
                <a:solidFill>
                  <a:srgbClr val="242628"/>
                </a:solidFill>
                <a:latin typeface="jaf-bernina-sans"/>
              </a:rPr>
              <a:t>AI is </a:t>
            </a:r>
            <a:r>
              <a:rPr lang="en-GB" sz="2600" b="1" dirty="0" err="1">
                <a:solidFill>
                  <a:srgbClr val="242628"/>
                </a:solidFill>
                <a:latin typeface="jaf-bernina-sans"/>
              </a:rPr>
              <a:t>een</a:t>
            </a:r>
            <a:r>
              <a:rPr lang="en-GB" sz="2600" b="1" dirty="0">
                <a:solidFill>
                  <a:srgbClr val="242628"/>
                </a:solidFill>
                <a:latin typeface="jaf-bernina-sans"/>
              </a:rPr>
              <a:t> life-changing </a:t>
            </a:r>
            <a:r>
              <a:rPr lang="en-GB" sz="2600" b="1" dirty="0" err="1">
                <a:solidFill>
                  <a:srgbClr val="242628"/>
                </a:solidFill>
                <a:latin typeface="jaf-bernina-sans"/>
              </a:rPr>
              <a:t>revolutie</a:t>
            </a:r>
            <a:endParaRPr lang="en-GB" sz="2600" dirty="0">
              <a:solidFill>
                <a:srgbClr val="242628"/>
              </a:solidFill>
              <a:latin typeface="jaf-bernina-sans"/>
            </a:endParaRPr>
          </a:p>
          <a:p>
            <a:pPr>
              <a:buFont typeface="Wingdings" pitchFamily="2" charset="2"/>
              <a:buChar char="à"/>
            </a:pPr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AI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wordt</a:t>
            </a:r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 de motor achter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mondiale</a:t>
            </a:r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groei</a:t>
            </a:r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 van de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komende</a:t>
            </a:r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jaren</a:t>
            </a:r>
            <a:endParaRPr lang="en-GB" sz="2600" dirty="0">
              <a:solidFill>
                <a:srgbClr val="242628"/>
              </a:solidFill>
              <a:latin typeface="jaf-bernina-sans"/>
            </a:endParaRPr>
          </a:p>
          <a:p>
            <a:pPr marL="0" indent="0">
              <a:buNone/>
            </a:pPr>
            <a:endParaRPr lang="en-GB" sz="2600" dirty="0">
              <a:solidFill>
                <a:srgbClr val="242628"/>
              </a:solidFill>
              <a:latin typeface="jaf-bernina-sans"/>
            </a:endParaRPr>
          </a:p>
          <a:p>
            <a:pPr marL="0" indent="0">
              <a:buNone/>
            </a:pPr>
            <a:r>
              <a:rPr lang="en-GB" sz="2600" b="1" dirty="0" err="1">
                <a:solidFill>
                  <a:srgbClr val="242628"/>
                </a:solidFill>
                <a:latin typeface="jaf-bernina-sans"/>
              </a:rPr>
              <a:t>Reële</a:t>
            </a:r>
            <a:r>
              <a:rPr lang="en-GB" sz="2600" b="1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600" b="1" dirty="0" err="1">
                <a:solidFill>
                  <a:srgbClr val="242628"/>
                </a:solidFill>
                <a:latin typeface="jaf-bernina-sans"/>
              </a:rPr>
              <a:t>winstgroei</a:t>
            </a:r>
            <a:endParaRPr lang="en-GB" sz="2600" b="1" dirty="0">
              <a:solidFill>
                <a:srgbClr val="242628"/>
              </a:solidFill>
              <a:latin typeface="jaf-bernina-sans"/>
            </a:endParaRPr>
          </a:p>
          <a:p>
            <a:r>
              <a:rPr lang="en-GB" sz="2600" dirty="0">
                <a:solidFill>
                  <a:srgbClr val="242628"/>
                </a:solidFill>
                <a:latin typeface="jaf-bernina-sans"/>
              </a:rPr>
              <a:t>S&amp;P500: 7%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</a:rPr>
              <a:t>omzetgroei</a:t>
            </a:r>
            <a:r>
              <a:rPr lang="en-GB" sz="2600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</a:rPr>
              <a:t>tegenover</a:t>
            </a:r>
            <a:r>
              <a:rPr lang="en-GB" sz="2600" dirty="0">
                <a:solidFill>
                  <a:srgbClr val="242628"/>
                </a:solidFill>
                <a:latin typeface="jaf-bernina-sans"/>
              </a:rPr>
              <a:t> 13%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</a:rPr>
              <a:t>winstgroei</a:t>
            </a:r>
            <a:r>
              <a:rPr lang="en-GB" sz="2600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 </a:t>
            </a:r>
            <a:r>
              <a:rPr lang="en-GB" sz="2600" u="sng" dirty="0" err="1">
                <a:solidFill>
                  <a:srgbClr val="242628"/>
                </a:solidFill>
                <a:latin typeface="jaf-bernina-sans"/>
              </a:rPr>
              <a:t>duidelijke</a:t>
            </a:r>
            <a:r>
              <a:rPr lang="en-GB" sz="2600" u="sng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600" u="sng" dirty="0" err="1">
                <a:solidFill>
                  <a:srgbClr val="242628"/>
                </a:solidFill>
                <a:latin typeface="jaf-bernina-sans"/>
              </a:rPr>
              <a:t>productiviteitswinst</a:t>
            </a:r>
            <a:endParaRPr lang="en-GB" sz="2600" dirty="0">
              <a:solidFill>
                <a:srgbClr val="242628"/>
              </a:solidFill>
              <a:latin typeface="jaf-bernina-sans"/>
            </a:endParaRPr>
          </a:p>
          <a:p>
            <a:r>
              <a:rPr lang="en-GB" sz="2600" dirty="0">
                <a:solidFill>
                  <a:srgbClr val="242628"/>
                </a:solidFill>
                <a:latin typeface="jaf-bernina-sans"/>
              </a:rPr>
              <a:t>Grote AI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</a:rPr>
              <a:t>spelers</a:t>
            </a:r>
            <a:r>
              <a:rPr lang="en-GB" sz="2600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</a:rPr>
              <a:t>genereren</a:t>
            </a:r>
            <a:r>
              <a:rPr lang="en-GB" sz="2600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</a:rPr>
              <a:t>gigantische</a:t>
            </a:r>
            <a:r>
              <a:rPr lang="en-GB" sz="2600" dirty="0">
                <a:solidFill>
                  <a:srgbClr val="242628"/>
                </a:solidFill>
                <a:latin typeface="jaf-bernina-sans"/>
              </a:rPr>
              <a:t> FCF’s,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</a:rPr>
              <a:t>en</a:t>
            </a:r>
            <a:r>
              <a:rPr lang="en-GB" sz="2600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</a:rPr>
              <a:t>zijn</a:t>
            </a:r>
            <a:r>
              <a:rPr lang="en-GB" sz="2600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</a:rPr>
              <a:t>structureel</a:t>
            </a:r>
            <a:r>
              <a:rPr lang="en-GB" sz="2600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</a:rPr>
              <a:t>winstgevend</a:t>
            </a:r>
            <a:endParaRPr lang="en-GB" sz="2600" dirty="0">
              <a:solidFill>
                <a:srgbClr val="242628"/>
              </a:solidFill>
              <a:latin typeface="jaf-bernina-sans"/>
            </a:endParaRPr>
          </a:p>
          <a:p>
            <a:r>
              <a:rPr lang="en-GB" sz="2600" dirty="0">
                <a:solidFill>
                  <a:srgbClr val="242628"/>
                </a:solidFill>
                <a:latin typeface="jaf-bernina-sans"/>
              </a:rPr>
              <a:t>AI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</a:rPr>
              <a:t>wordt</a:t>
            </a:r>
            <a:r>
              <a:rPr lang="en-GB" sz="2600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</a:rPr>
              <a:t>vandaag</a:t>
            </a:r>
            <a:r>
              <a:rPr lang="en-GB" sz="2600" dirty="0">
                <a:solidFill>
                  <a:srgbClr val="242628"/>
                </a:solidFill>
                <a:latin typeface="jaf-bernina-sans"/>
              </a:rPr>
              <a:t> al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</a:rPr>
              <a:t>geïntegreerd</a:t>
            </a:r>
            <a:r>
              <a:rPr lang="en-GB" sz="2600" dirty="0">
                <a:solidFill>
                  <a:srgbClr val="242628"/>
                </a:solidFill>
                <a:latin typeface="jaf-bernina-sans"/>
              </a:rPr>
              <a:t> in cloud, search, advertising, enterprise-software</a:t>
            </a:r>
          </a:p>
          <a:p>
            <a:endParaRPr lang="en-GB" sz="2600" dirty="0">
              <a:solidFill>
                <a:srgbClr val="242628"/>
              </a:solidFill>
              <a:latin typeface="jaf-bernina-sans"/>
            </a:endParaRPr>
          </a:p>
          <a:p>
            <a:pPr marL="0" indent="0">
              <a:buNone/>
            </a:pPr>
            <a:r>
              <a:rPr lang="en-GB" sz="2600" b="1" dirty="0">
                <a:solidFill>
                  <a:srgbClr val="242628"/>
                </a:solidFill>
                <a:latin typeface="jaf-bernina-sans"/>
              </a:rPr>
              <a:t>Maar… </a:t>
            </a:r>
            <a:r>
              <a:rPr lang="en-GB" sz="2600" b="1" dirty="0" err="1">
                <a:solidFill>
                  <a:srgbClr val="242628"/>
                </a:solidFill>
                <a:latin typeface="jaf-bernina-sans"/>
              </a:rPr>
              <a:t>elke</a:t>
            </a:r>
            <a:r>
              <a:rPr lang="en-GB" sz="2600" b="1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600" b="1" dirty="0" err="1">
                <a:solidFill>
                  <a:srgbClr val="242628"/>
                </a:solidFill>
                <a:latin typeface="jaf-bernina-sans"/>
              </a:rPr>
              <a:t>technologische</a:t>
            </a:r>
            <a:r>
              <a:rPr lang="en-GB" sz="2600" b="1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600" b="1" dirty="0" err="1">
                <a:solidFill>
                  <a:srgbClr val="242628"/>
                </a:solidFill>
                <a:latin typeface="jaf-bernina-sans"/>
              </a:rPr>
              <a:t>revolutie</a:t>
            </a:r>
            <a:r>
              <a:rPr lang="en-GB" sz="2600" b="1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600" b="1" dirty="0" err="1">
                <a:solidFill>
                  <a:srgbClr val="242628"/>
                </a:solidFill>
                <a:latin typeface="jaf-bernina-sans"/>
              </a:rPr>
              <a:t>kent</a:t>
            </a:r>
            <a:r>
              <a:rPr lang="en-GB" sz="2600" b="1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600" b="1" dirty="0" err="1">
                <a:solidFill>
                  <a:srgbClr val="242628"/>
                </a:solidFill>
                <a:latin typeface="jaf-bernina-sans"/>
              </a:rPr>
              <a:t>ook</a:t>
            </a:r>
            <a:r>
              <a:rPr lang="en-GB" sz="2600" b="1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600" b="1" dirty="0" err="1">
                <a:solidFill>
                  <a:srgbClr val="242628"/>
                </a:solidFill>
                <a:latin typeface="jaf-bernina-sans"/>
              </a:rPr>
              <a:t>veel</a:t>
            </a:r>
            <a:r>
              <a:rPr lang="en-GB" sz="2600" b="1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600" b="1" dirty="0" err="1">
                <a:solidFill>
                  <a:srgbClr val="242628"/>
                </a:solidFill>
                <a:latin typeface="jaf-bernina-sans"/>
              </a:rPr>
              <a:t>slachtoffers</a:t>
            </a:r>
            <a:endParaRPr lang="en-GB" sz="2600" b="1" dirty="0">
              <a:solidFill>
                <a:srgbClr val="242628"/>
              </a:solidFill>
              <a:latin typeface="jaf-bernina-sans"/>
            </a:endParaRPr>
          </a:p>
          <a:p>
            <a:r>
              <a:rPr lang="en-GB" sz="2600" dirty="0">
                <a:solidFill>
                  <a:srgbClr val="242628"/>
                </a:solidFill>
                <a:latin typeface="jaf-bernina-sans"/>
              </a:rPr>
              <a:t>Op de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</a:rPr>
              <a:t>beurs</a:t>
            </a:r>
            <a:r>
              <a:rPr lang="en-GB" sz="2600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</a:rPr>
              <a:t>lijkt</a:t>
            </a:r>
            <a:r>
              <a:rPr lang="en-GB" sz="2600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</a:rPr>
              <a:t>momenteel</a:t>
            </a:r>
            <a:r>
              <a:rPr lang="en-GB" sz="2600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</a:rPr>
              <a:t>bijna</a:t>
            </a:r>
            <a:r>
              <a:rPr lang="en-GB" sz="2600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</a:rPr>
              <a:t>iedereen</a:t>
            </a:r>
            <a:r>
              <a:rPr lang="en-GB" sz="2600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</a:rPr>
              <a:t>een</a:t>
            </a:r>
            <a:r>
              <a:rPr lang="en-GB" sz="2600" dirty="0">
                <a:solidFill>
                  <a:srgbClr val="242628"/>
                </a:solidFill>
                <a:latin typeface="jaf-bernina-sans"/>
              </a:rPr>
              <a:t> ‘winner’</a:t>
            </a:r>
          </a:p>
          <a:p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Grote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vraag</a:t>
            </a:r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: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wie</a:t>
            </a:r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zullen</a:t>
            </a:r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 de ‘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slachtoffers</a:t>
            </a:r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’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zijn</a:t>
            </a:r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?</a:t>
            </a:r>
          </a:p>
          <a:p>
            <a:pPr>
              <a:buFont typeface="Wingdings" pitchFamily="2" charset="2"/>
              <a:buChar char="à"/>
            </a:pPr>
            <a:endParaRPr lang="en-GB" sz="2000" dirty="0">
              <a:solidFill>
                <a:srgbClr val="242628"/>
              </a:solidFill>
              <a:latin typeface="jaf-bernina-sans"/>
            </a:endParaRPr>
          </a:p>
        </p:txBody>
      </p:sp>
    </p:spTree>
    <p:extLst>
      <p:ext uri="{BB962C8B-B14F-4D97-AF65-F5344CB8AC3E}">
        <p14:creationId xmlns:p14="http://schemas.microsoft.com/office/powerpoint/2010/main" val="3620032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4E6A1-4B25-AA93-5456-4CC723F79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63F39-0EB2-20E8-5F90-630A848B1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>
                <a:solidFill>
                  <a:srgbClr val="244337"/>
                </a:solidFill>
                <a:latin typeface="Lato Black" panose="020F0A02020204030203" pitchFamily="34" charset="0"/>
              </a:rPr>
              <a:t>AI-Bubble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D7A9A-E5B3-B101-C106-7F98AFAD0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2518"/>
            <a:ext cx="10515600" cy="41441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>
                <a:solidFill>
                  <a:srgbClr val="242628"/>
                </a:solidFill>
                <a:latin typeface="jaf-bernina-sans"/>
              </a:rPr>
              <a:t>AI </a:t>
            </a:r>
            <a:r>
              <a:rPr lang="en-GB" sz="2400" b="1" dirty="0" err="1">
                <a:solidFill>
                  <a:srgbClr val="242628"/>
                </a:solidFill>
                <a:latin typeface="jaf-bernina-sans"/>
              </a:rPr>
              <a:t>vertoont</a:t>
            </a:r>
            <a:r>
              <a:rPr lang="en-GB" sz="2400" b="1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400" b="1" dirty="0" err="1">
                <a:solidFill>
                  <a:srgbClr val="242628"/>
                </a:solidFill>
                <a:latin typeface="jaf-bernina-sans"/>
              </a:rPr>
              <a:t>klassieke</a:t>
            </a:r>
            <a:r>
              <a:rPr lang="en-GB" sz="2400" b="1" dirty="0">
                <a:solidFill>
                  <a:srgbClr val="242628"/>
                </a:solidFill>
                <a:latin typeface="jaf-bernina-sans"/>
              </a:rPr>
              <a:t> ‘</a:t>
            </a:r>
            <a:r>
              <a:rPr lang="en-GB" sz="2400" b="1" dirty="0" err="1">
                <a:solidFill>
                  <a:srgbClr val="242628"/>
                </a:solidFill>
                <a:latin typeface="jaf-bernina-sans"/>
              </a:rPr>
              <a:t>bubbelsignalen</a:t>
            </a:r>
            <a:r>
              <a:rPr lang="en-GB" sz="2400" b="1" dirty="0">
                <a:solidFill>
                  <a:srgbClr val="242628"/>
                </a:solidFill>
                <a:latin typeface="jaf-bernina-sans"/>
              </a:rPr>
              <a:t>’</a:t>
            </a:r>
          </a:p>
          <a:p>
            <a:r>
              <a:rPr lang="en-GB" sz="2400" b="1" dirty="0">
                <a:solidFill>
                  <a:srgbClr val="242628"/>
                </a:solidFill>
                <a:latin typeface="jaf-bernina-sans"/>
              </a:rPr>
              <a:t>Hoge </a:t>
            </a:r>
            <a:r>
              <a:rPr lang="en-GB" sz="2400" b="1" dirty="0" err="1">
                <a:solidFill>
                  <a:srgbClr val="242628"/>
                </a:solidFill>
                <a:latin typeface="jaf-bernina-sans"/>
              </a:rPr>
              <a:t>waarderingen</a:t>
            </a:r>
            <a:r>
              <a:rPr lang="en-GB" sz="2400" b="1" dirty="0">
                <a:solidFill>
                  <a:srgbClr val="242628"/>
                </a:solidFill>
                <a:latin typeface="jaf-bernina-sans"/>
              </a:rPr>
              <a:t>: </a:t>
            </a:r>
            <a:r>
              <a:rPr lang="en-GB" sz="2400" dirty="0" err="1">
                <a:solidFill>
                  <a:srgbClr val="242628"/>
                </a:solidFill>
                <a:latin typeface="jaf-bernina-sans"/>
              </a:rPr>
              <a:t>vergelijkbaar</a:t>
            </a:r>
            <a:r>
              <a:rPr lang="en-GB" sz="2400" dirty="0">
                <a:solidFill>
                  <a:srgbClr val="242628"/>
                </a:solidFill>
                <a:latin typeface="jaf-bernina-sans"/>
              </a:rPr>
              <a:t> met Dot-com bubble</a:t>
            </a:r>
          </a:p>
          <a:p>
            <a:r>
              <a:rPr lang="en-GB" sz="2400" b="1" dirty="0" err="1">
                <a:solidFill>
                  <a:srgbClr val="242628"/>
                </a:solidFill>
                <a:latin typeface="jaf-bernina-sans"/>
              </a:rPr>
              <a:t>Speculatie</a:t>
            </a:r>
            <a:r>
              <a:rPr lang="en-GB" sz="2400" dirty="0">
                <a:solidFill>
                  <a:srgbClr val="242628"/>
                </a:solidFill>
                <a:latin typeface="jaf-bernina-sans"/>
              </a:rPr>
              <a:t>: VC’s </a:t>
            </a:r>
            <a:r>
              <a:rPr lang="en-GB" sz="2400" dirty="0" err="1">
                <a:solidFill>
                  <a:srgbClr val="242628"/>
                </a:solidFill>
                <a:latin typeface="jaf-bernina-sans"/>
              </a:rPr>
              <a:t>investeren</a:t>
            </a:r>
            <a:r>
              <a:rPr lang="en-GB" sz="2400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400" dirty="0" err="1">
                <a:solidFill>
                  <a:srgbClr val="242628"/>
                </a:solidFill>
                <a:latin typeface="jaf-bernina-sans"/>
              </a:rPr>
              <a:t>miljarden</a:t>
            </a:r>
            <a:r>
              <a:rPr lang="en-GB" sz="2400" dirty="0">
                <a:solidFill>
                  <a:srgbClr val="242628"/>
                </a:solidFill>
                <a:latin typeface="jaf-bernina-sans"/>
              </a:rPr>
              <a:t> in AI-startups </a:t>
            </a:r>
            <a:r>
              <a:rPr lang="en-GB" sz="2400" dirty="0" err="1">
                <a:solidFill>
                  <a:srgbClr val="242628"/>
                </a:solidFill>
                <a:latin typeface="jaf-bernina-sans"/>
              </a:rPr>
              <a:t>zonder</a:t>
            </a:r>
            <a:r>
              <a:rPr lang="en-GB" sz="2400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400" dirty="0" err="1">
                <a:solidFill>
                  <a:srgbClr val="242628"/>
                </a:solidFill>
                <a:latin typeface="jaf-bernina-sans"/>
              </a:rPr>
              <a:t>echt</a:t>
            </a:r>
            <a:r>
              <a:rPr lang="en-GB" sz="2400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400" dirty="0" err="1">
                <a:solidFill>
                  <a:srgbClr val="242628"/>
                </a:solidFill>
                <a:latin typeface="jaf-bernina-sans"/>
              </a:rPr>
              <a:t>sterk</a:t>
            </a:r>
            <a:r>
              <a:rPr lang="en-GB" sz="2400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400" dirty="0" err="1">
                <a:solidFill>
                  <a:srgbClr val="242628"/>
                </a:solidFill>
                <a:latin typeface="jaf-bernina-sans"/>
              </a:rPr>
              <a:t>businessplan</a:t>
            </a:r>
            <a:endParaRPr lang="en-GB" sz="2400" dirty="0">
              <a:solidFill>
                <a:srgbClr val="242628"/>
              </a:solidFill>
              <a:latin typeface="jaf-bernina-sans"/>
            </a:endParaRPr>
          </a:p>
          <a:p>
            <a:r>
              <a:rPr lang="en-GB" sz="2400" b="1" dirty="0">
                <a:solidFill>
                  <a:srgbClr val="242628"/>
                </a:solidFill>
                <a:latin typeface="jaf-bernina-sans"/>
              </a:rPr>
              <a:t>Overhype</a:t>
            </a:r>
            <a:r>
              <a:rPr lang="en-GB" sz="2400" dirty="0">
                <a:solidFill>
                  <a:srgbClr val="242628"/>
                </a:solidFill>
                <a:latin typeface="jaf-bernina-sans"/>
              </a:rPr>
              <a:t>: </a:t>
            </a:r>
            <a:r>
              <a:rPr lang="en-GB" sz="2400" dirty="0" err="1">
                <a:solidFill>
                  <a:srgbClr val="242628"/>
                </a:solidFill>
                <a:latin typeface="jaf-bernina-sans"/>
              </a:rPr>
              <a:t>bedrijven</a:t>
            </a:r>
            <a:r>
              <a:rPr lang="en-GB" sz="2400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400" dirty="0" err="1">
                <a:solidFill>
                  <a:srgbClr val="242628"/>
                </a:solidFill>
                <a:latin typeface="jaf-bernina-sans"/>
              </a:rPr>
              <a:t>stijgen</a:t>
            </a:r>
            <a:r>
              <a:rPr lang="en-GB" sz="2400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400" dirty="0" err="1">
                <a:solidFill>
                  <a:srgbClr val="242628"/>
                </a:solidFill>
                <a:latin typeface="jaf-bernina-sans"/>
              </a:rPr>
              <a:t>honderden</a:t>
            </a:r>
            <a:r>
              <a:rPr lang="en-GB" sz="2400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400" dirty="0" err="1">
                <a:solidFill>
                  <a:srgbClr val="242628"/>
                </a:solidFill>
                <a:latin typeface="jaf-bernina-sans"/>
              </a:rPr>
              <a:t>miljarden</a:t>
            </a:r>
            <a:r>
              <a:rPr lang="en-GB" sz="2400" dirty="0">
                <a:solidFill>
                  <a:srgbClr val="242628"/>
                </a:solidFill>
                <a:latin typeface="jaf-bernina-sans"/>
              </a:rPr>
              <a:t> in </a:t>
            </a:r>
            <a:r>
              <a:rPr lang="en-GB" sz="2400" dirty="0" err="1">
                <a:solidFill>
                  <a:srgbClr val="242628"/>
                </a:solidFill>
                <a:latin typeface="jaf-bernina-sans"/>
              </a:rPr>
              <a:t>beurswaarde</a:t>
            </a:r>
            <a:r>
              <a:rPr lang="en-GB" sz="2400" dirty="0">
                <a:solidFill>
                  <a:srgbClr val="242628"/>
                </a:solidFill>
                <a:latin typeface="jaf-bernina-sans"/>
              </a:rPr>
              <a:t> door </a:t>
            </a:r>
            <a:r>
              <a:rPr lang="en-GB" sz="2400" dirty="0" err="1">
                <a:solidFill>
                  <a:srgbClr val="242628"/>
                </a:solidFill>
                <a:latin typeface="jaf-bernina-sans"/>
              </a:rPr>
              <a:t>vage</a:t>
            </a:r>
            <a:r>
              <a:rPr lang="en-GB" sz="2400" dirty="0">
                <a:solidFill>
                  <a:srgbClr val="242628"/>
                </a:solidFill>
                <a:latin typeface="jaf-bernina-sans"/>
              </a:rPr>
              <a:t> AI-partnerships</a:t>
            </a:r>
          </a:p>
          <a:p>
            <a:endParaRPr lang="en-GB" sz="2400" dirty="0">
              <a:solidFill>
                <a:srgbClr val="242628"/>
              </a:solidFill>
              <a:latin typeface="jaf-bernina-sans"/>
            </a:endParaRPr>
          </a:p>
          <a:p>
            <a:pPr marL="0" indent="0">
              <a:buNone/>
            </a:pPr>
            <a:r>
              <a:rPr lang="en-GB" sz="2400" b="1" i="1" dirty="0">
                <a:solidFill>
                  <a:srgbClr val="242628"/>
                </a:solidFill>
                <a:latin typeface="jaf-bernina-sans"/>
              </a:rPr>
              <a:t>In short: </a:t>
            </a:r>
            <a:r>
              <a:rPr lang="en-GB" sz="2400" i="1" dirty="0" err="1">
                <a:solidFill>
                  <a:srgbClr val="242628"/>
                </a:solidFill>
                <a:latin typeface="jaf-bernina-sans"/>
              </a:rPr>
              <a:t>enorm</a:t>
            </a:r>
            <a:r>
              <a:rPr lang="en-GB" sz="2400" i="1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400" i="1" dirty="0" err="1"/>
              <a:t>veel</a:t>
            </a:r>
            <a:r>
              <a:rPr lang="en-GB" sz="2400" i="1" dirty="0"/>
              <a:t> </a:t>
            </a:r>
            <a:r>
              <a:rPr lang="en-GB" sz="2400" i="1" dirty="0" err="1"/>
              <a:t>kapitaal</a:t>
            </a:r>
            <a:r>
              <a:rPr lang="en-GB" sz="2400" i="1" dirty="0"/>
              <a:t> </a:t>
            </a:r>
            <a:r>
              <a:rPr lang="en-GB" sz="2400" i="1" dirty="0" err="1"/>
              <a:t>stroomt</a:t>
            </a:r>
            <a:r>
              <a:rPr lang="en-GB" sz="2400" i="1" dirty="0"/>
              <a:t> </a:t>
            </a:r>
            <a:r>
              <a:rPr lang="en-GB" sz="2400" i="1" dirty="0" err="1"/>
              <a:t>naar</a:t>
            </a:r>
            <a:r>
              <a:rPr lang="en-GB" sz="2400" i="1" dirty="0"/>
              <a:t> AI </a:t>
            </a:r>
            <a:r>
              <a:rPr lang="en-GB" sz="2400" i="1" dirty="0" err="1"/>
              <a:t>zonder</a:t>
            </a:r>
            <a:r>
              <a:rPr lang="en-GB" sz="2400" i="1" dirty="0"/>
              <a:t> </a:t>
            </a:r>
            <a:r>
              <a:rPr lang="en-GB" sz="2400" i="1" dirty="0" err="1"/>
              <a:t>onderscheid</a:t>
            </a:r>
            <a:r>
              <a:rPr lang="en-GB" sz="2400" i="1" dirty="0"/>
              <a:t> </a:t>
            </a:r>
            <a:r>
              <a:rPr lang="en-GB" sz="2400" i="1" dirty="0" err="1"/>
              <a:t>tussen</a:t>
            </a:r>
            <a:r>
              <a:rPr lang="en-GB" sz="2400" i="1" dirty="0"/>
              <a:t> </a:t>
            </a:r>
            <a:r>
              <a:rPr lang="en-GB" sz="2400" i="1" dirty="0" err="1"/>
              <a:t>echte</a:t>
            </a:r>
            <a:r>
              <a:rPr lang="en-GB" sz="2400" i="1" dirty="0"/>
              <a:t> </a:t>
            </a:r>
            <a:r>
              <a:rPr lang="en-GB" sz="2400" i="1" dirty="0" err="1"/>
              <a:t>winnaars</a:t>
            </a:r>
            <a:r>
              <a:rPr lang="en-GB" sz="2400" i="1" dirty="0"/>
              <a:t> </a:t>
            </a:r>
            <a:r>
              <a:rPr lang="en-GB" sz="2400" i="1" dirty="0" err="1"/>
              <a:t>en</a:t>
            </a:r>
            <a:r>
              <a:rPr lang="en-GB" sz="2400" i="1" dirty="0"/>
              <a:t> ‘</a:t>
            </a:r>
            <a:r>
              <a:rPr lang="en-GB" sz="2400" i="1" dirty="0" err="1"/>
              <a:t>luchtkastelen</a:t>
            </a:r>
            <a:r>
              <a:rPr lang="en-GB" sz="2400" i="1" dirty="0"/>
              <a:t>’.</a:t>
            </a:r>
            <a:endParaRPr lang="en-GB" sz="2400" i="1" dirty="0">
              <a:solidFill>
                <a:srgbClr val="242628"/>
              </a:solidFill>
              <a:latin typeface="jaf-bernina-sans"/>
            </a:endParaRPr>
          </a:p>
          <a:p>
            <a:endParaRPr lang="en-GB" sz="2000" dirty="0">
              <a:solidFill>
                <a:srgbClr val="242628"/>
              </a:solidFill>
              <a:latin typeface="jaf-bernina-sans"/>
            </a:endParaRPr>
          </a:p>
        </p:txBody>
      </p:sp>
    </p:spTree>
    <p:extLst>
      <p:ext uri="{BB962C8B-B14F-4D97-AF65-F5344CB8AC3E}">
        <p14:creationId xmlns:p14="http://schemas.microsoft.com/office/powerpoint/2010/main" val="473474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99D67-42BF-7061-54E5-D42026762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15CB4-A5B3-16A7-1A6A-B39308752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>
                <a:solidFill>
                  <a:srgbClr val="244337"/>
                </a:solidFill>
                <a:latin typeface="Lato Black" panose="020F0A02020204030203" pitchFamily="34" charset="0"/>
              </a:rPr>
              <a:t>AI-Bubble</a:t>
            </a:r>
          </a:p>
        </p:txBody>
      </p:sp>
      <p:pic>
        <p:nvPicPr>
          <p:cNvPr id="5" name="Picture 4" descr="A graph of stock market growth&#10;&#10;AI-generated content may be incorrect.">
            <a:extLst>
              <a:ext uri="{FF2B5EF4-FFF2-40B4-BE49-F238E27FC236}">
                <a16:creationId xmlns:a16="http://schemas.microsoft.com/office/drawing/2014/main" id="{6FC97E91-8FE9-0C4B-AB5F-4D752CFF32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2128" y="1501858"/>
            <a:ext cx="7867744" cy="4425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840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CB934-002F-FD09-BF86-5CBC9C65E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196C1-4218-53E3-A5E9-9C78FC78B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>
                <a:solidFill>
                  <a:srgbClr val="244337"/>
                </a:solidFill>
                <a:latin typeface="Lato Black" panose="020F0A02020204030203" pitchFamily="34" charset="0"/>
              </a:rPr>
              <a:t>AI-Bubble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660CDE2-D043-F3DD-A915-924F2247C6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6782" y="1490532"/>
            <a:ext cx="7858435" cy="4286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7665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5A387-D407-857B-A4AA-306D426A1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EB1D8-41E2-95DE-384E-46ED2427C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>
                <a:solidFill>
                  <a:srgbClr val="244337"/>
                </a:solidFill>
                <a:latin typeface="Lato Black" panose="020F0A02020204030203" pitchFamily="34" charset="0"/>
              </a:rPr>
              <a:t>AI-Bubble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B6ACE-7276-3705-88EC-CDD93CA7A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2518"/>
            <a:ext cx="10515600" cy="41441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600" b="1" dirty="0">
                <a:solidFill>
                  <a:srgbClr val="242628"/>
                </a:solidFill>
                <a:latin typeface="jaf-bernina-sans"/>
              </a:rPr>
              <a:t>Wat </a:t>
            </a:r>
            <a:r>
              <a:rPr lang="en-GB" sz="2600" b="1" dirty="0" err="1">
                <a:solidFill>
                  <a:srgbClr val="242628"/>
                </a:solidFill>
                <a:latin typeface="jaf-bernina-sans"/>
              </a:rPr>
              <a:t>zeggen</a:t>
            </a:r>
            <a:r>
              <a:rPr lang="en-GB" sz="2600" b="1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600" b="1" dirty="0" err="1">
                <a:solidFill>
                  <a:srgbClr val="242628"/>
                </a:solidFill>
                <a:latin typeface="jaf-bernina-sans"/>
              </a:rPr>
              <a:t>financiele</a:t>
            </a:r>
            <a:r>
              <a:rPr lang="en-GB" sz="2600" b="1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600" b="1" dirty="0" err="1">
                <a:solidFill>
                  <a:srgbClr val="242628"/>
                </a:solidFill>
                <a:latin typeface="jaf-bernina-sans"/>
              </a:rPr>
              <a:t>instellingen</a:t>
            </a:r>
            <a:r>
              <a:rPr lang="en-GB" sz="2600" b="1" dirty="0">
                <a:solidFill>
                  <a:srgbClr val="242628"/>
                </a:solidFill>
                <a:latin typeface="jaf-bernina-sans"/>
              </a:rPr>
              <a:t>?</a:t>
            </a:r>
          </a:p>
          <a:p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IMF: </a:t>
            </a:r>
            <a:r>
              <a:rPr lang="en-GB" sz="2400" dirty="0" err="1"/>
              <a:t>mogelijke</a:t>
            </a:r>
            <a:r>
              <a:rPr lang="en-GB" sz="2400" dirty="0"/>
              <a:t> AI-investment bubble die </a:t>
            </a:r>
            <a:r>
              <a:rPr lang="en-GB" sz="2400" dirty="0" err="1"/>
              <a:t>kan</a:t>
            </a:r>
            <a:r>
              <a:rPr lang="en-GB" sz="2400" dirty="0"/>
              <a:t> </a:t>
            </a:r>
            <a:r>
              <a:rPr lang="en-GB" sz="2400" dirty="0" err="1"/>
              <a:t>barsten</a:t>
            </a:r>
            <a:r>
              <a:rPr lang="en-GB" sz="2400" dirty="0"/>
              <a:t>, maar </a:t>
            </a:r>
            <a:r>
              <a:rPr lang="en-GB" sz="2400" dirty="0" err="1"/>
              <a:t>verwacht</a:t>
            </a:r>
            <a:r>
              <a:rPr lang="en-GB" sz="2400" dirty="0"/>
              <a:t> </a:t>
            </a:r>
            <a:r>
              <a:rPr lang="en-GB" sz="2400" dirty="0" err="1"/>
              <a:t>kleine</a:t>
            </a:r>
            <a:r>
              <a:rPr lang="en-GB" sz="2400" dirty="0"/>
              <a:t> </a:t>
            </a:r>
            <a:r>
              <a:rPr lang="en-GB" sz="2400" dirty="0" err="1"/>
              <a:t>kans</a:t>
            </a:r>
            <a:r>
              <a:rPr lang="en-GB" sz="2400" dirty="0"/>
              <a:t> op </a:t>
            </a:r>
            <a:r>
              <a:rPr lang="en-GB" sz="2400" dirty="0" err="1"/>
              <a:t>een</a:t>
            </a:r>
            <a:r>
              <a:rPr lang="en-GB" sz="2400" dirty="0"/>
              <a:t> ‘</a:t>
            </a:r>
            <a:r>
              <a:rPr lang="en-GB" sz="2400" dirty="0" err="1"/>
              <a:t>systeemcrisis</a:t>
            </a:r>
            <a:r>
              <a:rPr lang="en-GB" sz="2400" dirty="0"/>
              <a:t>’</a:t>
            </a:r>
          </a:p>
          <a:p>
            <a:r>
              <a:rPr lang="en-GB" sz="24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BoE: </a:t>
            </a:r>
            <a:r>
              <a:rPr lang="en-GB" sz="2400" i="1" dirty="0"/>
              <a:t>“</a:t>
            </a:r>
            <a:r>
              <a:rPr lang="en-GB" sz="2400" i="1" dirty="0" err="1"/>
              <a:t>risico</a:t>
            </a:r>
            <a:r>
              <a:rPr lang="en-GB" sz="2400" i="1" dirty="0"/>
              <a:t> op </a:t>
            </a:r>
            <a:r>
              <a:rPr lang="en-GB" sz="2400" i="1" dirty="0" err="1"/>
              <a:t>een</a:t>
            </a:r>
            <a:r>
              <a:rPr lang="en-GB" sz="2400" i="1" dirty="0"/>
              <a:t> </a:t>
            </a:r>
            <a:r>
              <a:rPr lang="en-GB" sz="2400" i="1" dirty="0" err="1"/>
              <a:t>scherpe</a:t>
            </a:r>
            <a:r>
              <a:rPr lang="en-GB" sz="2400" i="1" dirty="0"/>
              <a:t> </a:t>
            </a:r>
            <a:r>
              <a:rPr lang="en-GB" sz="2400" i="1" dirty="0" err="1"/>
              <a:t>marktcorrectie</a:t>
            </a:r>
            <a:r>
              <a:rPr lang="en-GB" sz="2400" i="1" dirty="0"/>
              <a:t> is </a:t>
            </a:r>
            <a:r>
              <a:rPr lang="en-GB" sz="2400" i="1" dirty="0" err="1"/>
              <a:t>toegenomen</a:t>
            </a:r>
            <a:r>
              <a:rPr lang="en-GB" sz="2400" i="1" dirty="0"/>
              <a:t>” </a:t>
            </a:r>
            <a:r>
              <a:rPr lang="en-GB" sz="2400" dirty="0"/>
              <a:t>door AI-hype in </a:t>
            </a:r>
            <a:r>
              <a:rPr lang="en-GB" sz="2400" dirty="0" err="1"/>
              <a:t>techkoersen</a:t>
            </a:r>
            <a:endParaRPr lang="en-GB" sz="2400" dirty="0"/>
          </a:p>
          <a:p>
            <a:r>
              <a:rPr lang="en-GB" sz="24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ECB: </a:t>
            </a:r>
            <a:r>
              <a:rPr lang="en-GB" sz="2400" i="1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“</a:t>
            </a:r>
            <a:r>
              <a:rPr lang="en-GB" sz="2400" i="1" dirty="0" err="1">
                <a:solidFill>
                  <a:srgbClr val="242628"/>
                </a:solidFill>
                <a:latin typeface="jaf-bernina-sans"/>
              </a:rPr>
              <a:t>maakt</a:t>
            </a:r>
            <a:r>
              <a:rPr lang="en-GB" sz="2400" i="1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400" i="1" dirty="0" err="1">
                <a:solidFill>
                  <a:srgbClr val="242628"/>
                </a:solidFill>
                <a:latin typeface="jaf-bernina-sans"/>
              </a:rPr>
              <a:t>zich</a:t>
            </a:r>
            <a:r>
              <a:rPr lang="en-GB" sz="2400" i="1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400" i="1" dirty="0" err="1">
                <a:solidFill>
                  <a:srgbClr val="242628"/>
                </a:solidFill>
                <a:latin typeface="jaf-bernina-sans"/>
              </a:rPr>
              <a:t>zorgen</a:t>
            </a:r>
            <a:r>
              <a:rPr lang="en-GB" sz="2400" i="1" dirty="0">
                <a:solidFill>
                  <a:srgbClr val="242628"/>
                </a:solidFill>
                <a:latin typeface="jaf-bernina-sans"/>
              </a:rPr>
              <a:t> over de zeer hoge </a:t>
            </a:r>
            <a:r>
              <a:rPr lang="en-GB" sz="2400" i="1" dirty="0" err="1">
                <a:solidFill>
                  <a:srgbClr val="242628"/>
                </a:solidFill>
                <a:latin typeface="jaf-bernina-sans"/>
              </a:rPr>
              <a:t>aandelenkoersen</a:t>
            </a:r>
            <a:r>
              <a:rPr lang="en-GB" sz="2400" i="1" dirty="0">
                <a:solidFill>
                  <a:srgbClr val="242628"/>
                </a:solidFill>
                <a:latin typeface="jaf-bernina-sans"/>
              </a:rPr>
              <a:t>.”</a:t>
            </a:r>
          </a:p>
          <a:p>
            <a:r>
              <a:rPr lang="en-GB" sz="2400" dirty="0">
                <a:solidFill>
                  <a:srgbClr val="242628"/>
                </a:solidFill>
                <a:latin typeface="jaf-bernina-sans"/>
              </a:rPr>
              <a:t>Yale insights: </a:t>
            </a:r>
            <a:r>
              <a:rPr lang="en-GB" sz="2400" dirty="0"/>
              <a:t>±40% van de </a:t>
            </a:r>
            <a:r>
              <a:rPr lang="en-GB" sz="2400" dirty="0" err="1"/>
              <a:t>bevraagde</a:t>
            </a:r>
            <a:r>
              <a:rPr lang="en-GB" sz="2400" dirty="0"/>
              <a:t> CEO’s </a:t>
            </a:r>
            <a:r>
              <a:rPr lang="en-GB" sz="2400" dirty="0" err="1"/>
              <a:t>vindt</a:t>
            </a:r>
            <a:r>
              <a:rPr lang="en-GB" sz="2400" dirty="0"/>
              <a:t> </a:t>
            </a:r>
            <a:r>
              <a:rPr lang="en-GB" sz="2400" dirty="0" err="1"/>
              <a:t>dat</a:t>
            </a:r>
            <a:r>
              <a:rPr lang="en-GB" sz="2400" dirty="0"/>
              <a:t> er </a:t>
            </a:r>
            <a:r>
              <a:rPr lang="en-GB" sz="2400" dirty="0" err="1"/>
              <a:t>overinvestering</a:t>
            </a:r>
            <a:r>
              <a:rPr lang="en-GB" sz="2400" dirty="0"/>
              <a:t> in AI is </a:t>
            </a:r>
            <a:r>
              <a:rPr lang="en-GB" sz="2400" dirty="0" err="1"/>
              <a:t>en</a:t>
            </a:r>
            <a:r>
              <a:rPr lang="en-GB" sz="2400" dirty="0"/>
              <a:t> </a:t>
            </a:r>
            <a:r>
              <a:rPr lang="en-GB" sz="2400" dirty="0" err="1"/>
              <a:t>verwacht</a:t>
            </a:r>
            <a:r>
              <a:rPr lang="en-GB" sz="2400" dirty="0"/>
              <a:t> </a:t>
            </a:r>
            <a:r>
              <a:rPr lang="en-GB" sz="2400" dirty="0" err="1"/>
              <a:t>een</a:t>
            </a:r>
            <a:r>
              <a:rPr lang="en-GB" sz="2400" dirty="0"/>
              <a:t> </a:t>
            </a:r>
            <a:r>
              <a:rPr lang="en-GB" sz="2400" dirty="0" err="1"/>
              <a:t>nabije</a:t>
            </a:r>
            <a:r>
              <a:rPr lang="en-GB" sz="2400" dirty="0"/>
              <a:t> </a:t>
            </a:r>
            <a:r>
              <a:rPr lang="en-GB" sz="2400" dirty="0" err="1"/>
              <a:t>correctie</a:t>
            </a:r>
            <a:r>
              <a:rPr lang="en-GB" sz="2400" dirty="0"/>
              <a:t> in AI-</a:t>
            </a:r>
            <a:r>
              <a:rPr lang="en-GB" sz="2400" dirty="0" err="1"/>
              <a:t>investeringen</a:t>
            </a:r>
            <a:endParaRPr lang="en-GB" sz="2400" dirty="0">
              <a:solidFill>
                <a:srgbClr val="242628"/>
              </a:solidFill>
              <a:latin typeface="jaf-bernina-sans"/>
            </a:endParaRPr>
          </a:p>
          <a:p>
            <a:pPr marL="0" indent="0">
              <a:buNone/>
            </a:pPr>
            <a:br>
              <a:rPr lang="en-GB" sz="2400" dirty="0"/>
            </a:br>
            <a:endParaRPr lang="en-GB" sz="2600" dirty="0">
              <a:solidFill>
                <a:srgbClr val="242628"/>
              </a:solidFill>
              <a:latin typeface="jaf-bernina-sans"/>
              <a:sym typeface="Wingdings" pitchFamily="2" charset="2"/>
            </a:endParaRPr>
          </a:p>
          <a:p>
            <a:pPr>
              <a:buFont typeface="Wingdings" pitchFamily="2" charset="2"/>
              <a:buChar char="à"/>
            </a:pPr>
            <a:endParaRPr lang="en-GB" sz="2000" dirty="0">
              <a:solidFill>
                <a:srgbClr val="242628"/>
              </a:solidFill>
              <a:latin typeface="jaf-bernina-sans"/>
            </a:endParaRPr>
          </a:p>
        </p:txBody>
      </p:sp>
    </p:spTree>
    <p:extLst>
      <p:ext uri="{BB962C8B-B14F-4D97-AF65-F5344CB8AC3E}">
        <p14:creationId xmlns:p14="http://schemas.microsoft.com/office/powerpoint/2010/main" val="3767630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2D215-8C46-F4F2-3A53-5D1310858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92B23-D301-C95A-4925-72D814C09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>
                <a:solidFill>
                  <a:srgbClr val="244337"/>
                </a:solidFill>
                <a:latin typeface="Lato Black" panose="020F0A02020204030203" pitchFamily="34" charset="0"/>
              </a:rPr>
              <a:t>AI-Bubble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B4BDB-1E98-0E47-5384-10E743B0B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4184"/>
            <a:ext cx="10607936" cy="43485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600" b="1" dirty="0" err="1">
                <a:solidFill>
                  <a:srgbClr val="242628"/>
                </a:solidFill>
                <a:latin typeface="jaf-bernina-sans"/>
              </a:rPr>
              <a:t>Grootste</a:t>
            </a:r>
            <a:r>
              <a:rPr lang="en-GB" sz="2600" b="1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600" b="1" dirty="0" err="1">
                <a:solidFill>
                  <a:srgbClr val="242628"/>
                </a:solidFill>
                <a:latin typeface="jaf-bernina-sans"/>
              </a:rPr>
              <a:t>dreiging</a:t>
            </a:r>
            <a:r>
              <a:rPr lang="en-GB" sz="2600" b="1" dirty="0">
                <a:solidFill>
                  <a:srgbClr val="242628"/>
                </a:solidFill>
                <a:latin typeface="jaf-bernina-sans"/>
              </a:rPr>
              <a:t> op </a:t>
            </a:r>
            <a:r>
              <a:rPr lang="en-GB" sz="2600" b="1" dirty="0" err="1">
                <a:solidFill>
                  <a:srgbClr val="242628"/>
                </a:solidFill>
                <a:latin typeface="jaf-bernina-sans"/>
              </a:rPr>
              <a:t>dit</a:t>
            </a:r>
            <a:r>
              <a:rPr lang="en-GB" sz="2600" b="1" dirty="0">
                <a:solidFill>
                  <a:srgbClr val="242628"/>
                </a:solidFill>
                <a:latin typeface="jaf-bernina-sans"/>
              </a:rPr>
              <a:t> moment</a:t>
            </a:r>
          </a:p>
          <a:p>
            <a:r>
              <a:rPr lang="en-GB" sz="2400" dirty="0"/>
              <a:t>AI-boom </a:t>
            </a:r>
            <a:r>
              <a:rPr lang="en-GB" sz="2400" dirty="0" err="1"/>
              <a:t>wordt</a:t>
            </a:r>
            <a:r>
              <a:rPr lang="en-GB" sz="2400" dirty="0"/>
              <a:t> </a:t>
            </a:r>
            <a:r>
              <a:rPr lang="en-GB" sz="2400" dirty="0" err="1"/>
              <a:t>vandaag</a:t>
            </a:r>
            <a:r>
              <a:rPr lang="en-GB" sz="2400" dirty="0"/>
              <a:t> </a:t>
            </a:r>
            <a:r>
              <a:rPr lang="en-GB" sz="2400" dirty="0" err="1"/>
              <a:t>vooral</a:t>
            </a:r>
            <a:r>
              <a:rPr lang="en-GB" sz="2400" dirty="0"/>
              <a:t> </a:t>
            </a:r>
            <a:r>
              <a:rPr lang="en-GB" sz="2400" dirty="0" err="1"/>
              <a:t>gedreven</a:t>
            </a:r>
            <a:r>
              <a:rPr lang="en-GB" sz="2400" dirty="0"/>
              <a:t> door </a:t>
            </a:r>
            <a:r>
              <a:rPr lang="en-GB" sz="2400" b="1" dirty="0" err="1"/>
              <a:t>gigantische</a:t>
            </a:r>
            <a:r>
              <a:rPr lang="en-GB" sz="2400" b="1" dirty="0"/>
              <a:t> AI-capex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sz="2000" dirty="0" err="1"/>
              <a:t>Explosie</a:t>
            </a:r>
            <a:r>
              <a:rPr lang="en-GB" sz="2000" dirty="0"/>
              <a:t> </a:t>
            </a:r>
            <a:r>
              <a:rPr lang="en-GB" sz="2000" dirty="0" err="1"/>
              <a:t>aan</a:t>
            </a:r>
            <a:r>
              <a:rPr lang="en-GB" sz="2000" dirty="0"/>
              <a:t> </a:t>
            </a:r>
            <a:r>
              <a:rPr lang="en-GB" sz="2000" dirty="0" err="1"/>
              <a:t>investeringen</a:t>
            </a:r>
            <a:r>
              <a:rPr lang="en-GB" sz="2000" dirty="0"/>
              <a:t> in </a:t>
            </a:r>
            <a:r>
              <a:rPr lang="en-GB" sz="2000" dirty="0" err="1"/>
              <a:t>datacenters</a:t>
            </a:r>
            <a:r>
              <a:rPr lang="en-GB" sz="2000" dirty="0"/>
              <a:t>, GPU’s, </a:t>
            </a:r>
            <a:r>
              <a:rPr lang="en-GB" sz="2000" dirty="0" err="1"/>
              <a:t>energie-infrastructuur</a:t>
            </a:r>
            <a:endParaRPr lang="en-GB" sz="20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GB" sz="2000" i="1" u="sng" dirty="0"/>
              <a:t>Wat </a:t>
            </a:r>
            <a:r>
              <a:rPr lang="en-GB" sz="2000" i="1" u="sng" dirty="0" err="1"/>
              <a:t>als</a:t>
            </a:r>
            <a:r>
              <a:rPr lang="en-GB" sz="2000" i="1" u="sng" dirty="0"/>
              <a:t> </a:t>
            </a:r>
            <a:r>
              <a:rPr lang="en-GB" sz="2000" i="1" u="sng" dirty="0" err="1"/>
              <a:t>deze</a:t>
            </a:r>
            <a:r>
              <a:rPr lang="en-GB" sz="2000" i="1" u="sng" dirty="0"/>
              <a:t> </a:t>
            </a:r>
            <a:r>
              <a:rPr lang="en-GB" sz="2000" i="1" u="sng" dirty="0" err="1"/>
              <a:t>investeringen</a:t>
            </a:r>
            <a:r>
              <a:rPr lang="en-GB" sz="2000" i="1" u="sng" dirty="0"/>
              <a:t> plots </a:t>
            </a:r>
            <a:r>
              <a:rPr lang="en-GB" sz="2000" i="1" u="sng" dirty="0" err="1"/>
              <a:t>afnemen</a:t>
            </a:r>
            <a:r>
              <a:rPr lang="en-GB" sz="2000" i="1" u="sng" dirty="0"/>
              <a:t>?</a:t>
            </a:r>
          </a:p>
          <a:p>
            <a:pPr marL="457200" lvl="1" indent="0">
              <a:buNone/>
            </a:pPr>
            <a:endParaRPr lang="en-GB" sz="1000" i="1" u="sng" dirty="0"/>
          </a:p>
          <a:p>
            <a:pPr>
              <a:buFont typeface="Wingdings" pitchFamily="2" charset="2"/>
              <a:buChar char="à"/>
            </a:pPr>
            <a:endParaRPr lang="en-GB" sz="2000" dirty="0">
              <a:solidFill>
                <a:srgbClr val="242628"/>
              </a:solidFill>
              <a:latin typeface="jaf-bernina-sans"/>
            </a:endParaRPr>
          </a:p>
        </p:txBody>
      </p:sp>
      <p:pic>
        <p:nvPicPr>
          <p:cNvPr id="5" name="Picture 4" descr="A graph of a number of companies&#10;&#10;AI-generated content may be incorrect.">
            <a:extLst>
              <a:ext uri="{FF2B5EF4-FFF2-40B4-BE49-F238E27FC236}">
                <a16:creationId xmlns:a16="http://schemas.microsoft.com/office/drawing/2014/main" id="{D16BB928-984E-8DFB-80CB-49F10D0805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006" y="3325071"/>
            <a:ext cx="4152453" cy="2792750"/>
          </a:xfrm>
          <a:prstGeom prst="rect">
            <a:avLst/>
          </a:prstGeom>
        </p:spPr>
      </p:pic>
      <p:pic>
        <p:nvPicPr>
          <p:cNvPr id="7" name="Picture 6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84895E3D-CEAF-6203-FD11-4E262C7427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342" y="3342023"/>
            <a:ext cx="3851238" cy="275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942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7BC10-CB8A-E821-F7E4-368DE8A69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3B2C2-67FE-CF90-B311-DEFCF0CD4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>
                <a:solidFill>
                  <a:srgbClr val="244337"/>
                </a:solidFill>
                <a:latin typeface="Lato Black" panose="020F0A02020204030203" pitchFamily="34" charset="0"/>
              </a:rPr>
              <a:t>AI-Bubble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06EF5-0B67-2591-F8AD-BBDA1DED5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2518"/>
            <a:ext cx="10515600" cy="4144187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GB" sz="2400" dirty="0"/>
            </a:br>
            <a:endParaRPr lang="en-GB" sz="2600" dirty="0">
              <a:solidFill>
                <a:srgbClr val="242628"/>
              </a:solidFill>
              <a:latin typeface="jaf-bernina-sans"/>
              <a:sym typeface="Wingdings" pitchFamily="2" charset="2"/>
            </a:endParaRPr>
          </a:p>
          <a:p>
            <a:pPr>
              <a:buFont typeface="Wingdings" pitchFamily="2" charset="2"/>
              <a:buChar char="à"/>
            </a:pPr>
            <a:endParaRPr lang="en-GB" sz="2000" dirty="0">
              <a:solidFill>
                <a:srgbClr val="242628"/>
              </a:solidFill>
              <a:latin typeface="jaf-bernina-sans"/>
            </a:endParaRPr>
          </a:p>
        </p:txBody>
      </p:sp>
      <p:pic>
        <p:nvPicPr>
          <p:cNvPr id="5" name="Picture 4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69E3DDE2-5637-7F2A-C0E2-59B9AC8A1B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2737" y="1850656"/>
            <a:ext cx="4385910" cy="367320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6BBCA32-B715-AB26-48E2-72DF7575D994}"/>
              </a:ext>
            </a:extLst>
          </p:cNvPr>
          <p:cNvSpPr txBox="1">
            <a:spLocks/>
          </p:cNvSpPr>
          <p:nvPr/>
        </p:nvSpPr>
        <p:spPr>
          <a:xfrm>
            <a:off x="838200" y="1772518"/>
            <a:ext cx="5914537" cy="43485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/>
              <a:t>Financiering van </a:t>
            </a:r>
            <a:r>
              <a:rPr lang="en-GB" b="1" dirty="0" err="1"/>
              <a:t>deze</a:t>
            </a:r>
            <a:r>
              <a:rPr lang="en-GB" b="1" dirty="0"/>
              <a:t> AI-capex is </a:t>
            </a:r>
            <a:r>
              <a:rPr lang="en-GB" b="1" dirty="0" err="1"/>
              <a:t>zorgwekkend</a:t>
            </a:r>
            <a:endParaRPr lang="en-GB" b="1" dirty="0"/>
          </a:p>
          <a:p>
            <a:r>
              <a:rPr lang="en-GB" sz="2400" dirty="0"/>
              <a:t>Tech-</a:t>
            </a:r>
            <a:r>
              <a:rPr lang="en-GB" sz="2400" dirty="0" err="1"/>
              <a:t>bedrijven</a:t>
            </a:r>
            <a:r>
              <a:rPr lang="en-GB" sz="2400" dirty="0"/>
              <a:t> </a:t>
            </a:r>
            <a:r>
              <a:rPr lang="en-GB" sz="2400" dirty="0" err="1"/>
              <a:t>bouwen</a:t>
            </a:r>
            <a:r>
              <a:rPr lang="en-GB" sz="2400" dirty="0"/>
              <a:t> </a:t>
            </a:r>
            <a:r>
              <a:rPr lang="en-GB" sz="2400" b="1" dirty="0" err="1"/>
              <a:t>snel</a:t>
            </a:r>
            <a:r>
              <a:rPr lang="en-GB" sz="2400" b="1" dirty="0"/>
              <a:t> </a:t>
            </a:r>
            <a:r>
              <a:rPr lang="en-GB" sz="2400" b="1" dirty="0" err="1"/>
              <a:t>oplopende</a:t>
            </a:r>
            <a:r>
              <a:rPr lang="en-GB" sz="2400" b="1" dirty="0"/>
              <a:t> </a:t>
            </a:r>
            <a:r>
              <a:rPr lang="en-GB" sz="2400" b="1" dirty="0" err="1"/>
              <a:t>schulden</a:t>
            </a:r>
            <a:r>
              <a:rPr lang="en-GB" sz="2400" dirty="0"/>
              <a:t> op </a:t>
            </a:r>
          </a:p>
          <a:p>
            <a:r>
              <a:rPr lang="en-GB" sz="2400" dirty="0" err="1"/>
              <a:t>Toenemende</a:t>
            </a:r>
            <a:r>
              <a:rPr lang="en-GB" sz="2400" dirty="0"/>
              <a:t> </a:t>
            </a:r>
            <a:r>
              <a:rPr lang="en-GB" sz="2400" dirty="0" err="1"/>
              <a:t>rol</a:t>
            </a:r>
            <a:r>
              <a:rPr lang="en-GB" sz="2400" dirty="0"/>
              <a:t> van ‘Shadow banking’</a:t>
            </a:r>
          </a:p>
          <a:p>
            <a:r>
              <a:rPr lang="en-GB" sz="2400" dirty="0" err="1"/>
              <a:t>Sterke</a:t>
            </a:r>
            <a:r>
              <a:rPr lang="en-GB" sz="2400" dirty="0"/>
              <a:t> </a:t>
            </a:r>
            <a:r>
              <a:rPr lang="en-GB" sz="2400" dirty="0" err="1"/>
              <a:t>stijging</a:t>
            </a:r>
            <a:r>
              <a:rPr lang="en-GB" sz="2400" dirty="0"/>
              <a:t> van ‘Vendor financing’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GB" sz="1200" dirty="0"/>
          </a:p>
          <a:p>
            <a:pPr>
              <a:buFont typeface="Wingdings" pitchFamily="2" charset="2"/>
              <a:buChar char="à"/>
            </a:pPr>
            <a:endParaRPr lang="en-GB" sz="2000" dirty="0">
              <a:solidFill>
                <a:srgbClr val="242628"/>
              </a:solidFill>
              <a:latin typeface="jaf-bernina-sans"/>
            </a:endParaRPr>
          </a:p>
        </p:txBody>
      </p:sp>
    </p:spTree>
    <p:extLst>
      <p:ext uri="{BB962C8B-B14F-4D97-AF65-F5344CB8AC3E}">
        <p14:creationId xmlns:p14="http://schemas.microsoft.com/office/powerpoint/2010/main" val="1134240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E3CB4-389E-297D-A607-6D146BBD4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2B170-3DC5-31F8-E15E-7DA8A123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>
                <a:solidFill>
                  <a:srgbClr val="244337"/>
                </a:solidFill>
                <a:latin typeface="Lato Black" panose="020F0A02020204030203" pitchFamily="34" charset="0"/>
              </a:rPr>
              <a:t>AI-Bubble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AC823-9609-CAA8-7BB2-F45DC9FF2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2518"/>
            <a:ext cx="10515600" cy="4144187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GB" sz="2400" dirty="0"/>
            </a:br>
            <a:endParaRPr lang="en-GB" sz="2600" dirty="0">
              <a:solidFill>
                <a:srgbClr val="242628"/>
              </a:solidFill>
              <a:latin typeface="jaf-bernina-sans"/>
              <a:sym typeface="Wingdings" pitchFamily="2" charset="2"/>
            </a:endParaRPr>
          </a:p>
          <a:p>
            <a:pPr>
              <a:buFont typeface="Wingdings" pitchFamily="2" charset="2"/>
              <a:buChar char="à"/>
            </a:pPr>
            <a:endParaRPr lang="en-GB" sz="2000" dirty="0">
              <a:solidFill>
                <a:srgbClr val="242628"/>
              </a:solidFill>
              <a:latin typeface="jaf-bernina-sans"/>
            </a:endParaRPr>
          </a:p>
        </p:txBody>
      </p:sp>
      <p:pic>
        <p:nvPicPr>
          <p:cNvPr id="6" name="Picture 5" descr="A diagram of a company's company flow&#10;&#10;AI-generated content may be incorrect.">
            <a:extLst>
              <a:ext uri="{FF2B5EF4-FFF2-40B4-BE49-F238E27FC236}">
                <a16:creationId xmlns:a16="http://schemas.microsoft.com/office/drawing/2014/main" id="{E264056C-194F-4F33-6654-C192775AA3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9725" y="1557168"/>
            <a:ext cx="6705663" cy="40583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A9D5FD-F59C-7626-B472-4FA289D62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534" y="1557169"/>
            <a:ext cx="3970468" cy="4496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4815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F44ED-3A0D-3ACD-8570-9D0325E1B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90B9E-7B7B-22FC-3AF3-F93C6C76E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>
                <a:solidFill>
                  <a:srgbClr val="244337"/>
                </a:solidFill>
                <a:latin typeface="Lato Black" panose="020F0A02020204030203" pitchFamily="34" charset="0"/>
              </a:rPr>
              <a:t>AI-Bubble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CA193-9485-ABE4-2E5A-AD9F12607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2518"/>
            <a:ext cx="10515600" cy="41441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600" b="1" dirty="0" err="1">
                <a:solidFill>
                  <a:srgbClr val="242628"/>
                </a:solidFill>
                <a:latin typeface="jaf-bernina-sans"/>
              </a:rPr>
              <a:t>Mijn</a:t>
            </a:r>
            <a:r>
              <a:rPr lang="en-GB" sz="2600" b="1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600" b="1" dirty="0" err="1">
                <a:solidFill>
                  <a:srgbClr val="242628"/>
                </a:solidFill>
                <a:latin typeface="jaf-bernina-sans"/>
              </a:rPr>
              <a:t>advies</a:t>
            </a:r>
            <a:endParaRPr lang="en-GB" sz="2600" b="1" dirty="0">
              <a:solidFill>
                <a:srgbClr val="242628"/>
              </a:solidFill>
              <a:latin typeface="jaf-bernina-sans"/>
            </a:endParaRPr>
          </a:p>
          <a:p>
            <a:r>
              <a:rPr lang="en-GB" sz="26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Opletten</a:t>
            </a:r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 met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bijkomende</a:t>
            </a:r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aankopen</a:t>
            </a:r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: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sterke</a:t>
            </a:r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 screening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en</a:t>
            </a:r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 extra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aandacht</a:t>
            </a:r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aan</a:t>
            </a:r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 de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huidige</a:t>
            </a:r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waardering</a:t>
            </a:r>
            <a:endParaRPr lang="en-GB" sz="2600" dirty="0">
              <a:solidFill>
                <a:srgbClr val="242628"/>
              </a:solidFill>
              <a:latin typeface="jaf-bernina-sans"/>
              <a:sym typeface="Wingdings" pitchFamily="2" charset="2"/>
            </a:endParaRPr>
          </a:p>
          <a:p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Screening van de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aandelen</a:t>
            </a:r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 in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onze</a:t>
            </a:r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portefeuille</a:t>
            </a:r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Wat is het Risico om </a:t>
            </a:r>
            <a:r>
              <a:rPr lang="en-GB" sz="20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een</a:t>
            </a:r>
            <a:r>
              <a:rPr lang="en-GB" sz="20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 ‘</a:t>
            </a:r>
            <a:r>
              <a:rPr lang="en-GB" sz="20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slachtoffer</a:t>
            </a:r>
            <a:r>
              <a:rPr lang="en-GB" sz="20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’ </a:t>
            </a:r>
            <a:r>
              <a:rPr lang="en-GB" sz="20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te</a:t>
            </a:r>
            <a:r>
              <a:rPr lang="en-GB" sz="20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 </a:t>
            </a:r>
            <a:r>
              <a:rPr lang="en-GB" sz="20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worden</a:t>
            </a:r>
            <a:r>
              <a:rPr lang="en-GB" sz="20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 van de AI-</a:t>
            </a:r>
            <a:r>
              <a:rPr lang="en-GB" sz="20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revolutie</a:t>
            </a:r>
            <a:r>
              <a:rPr lang="en-GB" sz="20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?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Is de </a:t>
            </a:r>
            <a:r>
              <a:rPr lang="en-GB" sz="20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huidige</a:t>
            </a:r>
            <a:r>
              <a:rPr lang="en-GB" sz="20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 </a:t>
            </a:r>
            <a:r>
              <a:rPr lang="en-GB" sz="20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waardering</a:t>
            </a:r>
            <a:r>
              <a:rPr lang="en-GB" sz="20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 </a:t>
            </a:r>
            <a:r>
              <a:rPr lang="en-GB" sz="20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rechtvaardig</a:t>
            </a:r>
            <a:r>
              <a:rPr lang="en-GB" sz="20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?</a:t>
            </a:r>
            <a:endParaRPr lang="en-GB" sz="2600" dirty="0">
              <a:solidFill>
                <a:srgbClr val="242628"/>
              </a:solidFill>
              <a:latin typeface="jaf-bernina-sans"/>
              <a:sym typeface="Wingdings" pitchFamily="2" charset="2"/>
            </a:endParaRPr>
          </a:p>
          <a:p>
            <a:r>
              <a:rPr lang="en-GB" sz="26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Verkoop</a:t>
            </a:r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aandelen</a:t>
            </a:r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 die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historisch</a:t>
            </a:r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hoog</a:t>
            </a:r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gewaardeerd</a:t>
            </a:r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zijn</a:t>
            </a:r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,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behoud</a:t>
            </a:r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 normal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gewaardeerde</a:t>
            </a:r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aandelen</a:t>
            </a:r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  minder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verlies</a:t>
            </a:r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bij</a:t>
            </a:r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beurscorrectie</a:t>
            </a:r>
            <a:endParaRPr lang="en-GB" sz="2600" dirty="0">
              <a:solidFill>
                <a:srgbClr val="242628"/>
              </a:solidFill>
              <a:latin typeface="jaf-bernina-sans"/>
              <a:sym typeface="Wingdings" pitchFamily="2" charset="2"/>
            </a:endParaRPr>
          </a:p>
          <a:p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Zorg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dat</a:t>
            </a:r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 we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voldoende</a:t>
            </a:r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 cash in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portefeuille</a:t>
            </a:r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hebben</a:t>
            </a:r>
            <a:endParaRPr lang="en-GB" sz="2600" dirty="0">
              <a:solidFill>
                <a:srgbClr val="242628"/>
              </a:solidFill>
              <a:latin typeface="jaf-bernina-sans"/>
              <a:sym typeface="Wingdings" pitchFamily="2" charset="2"/>
            </a:endParaRPr>
          </a:p>
          <a:p>
            <a:pPr marL="457200" lvl="1" indent="0">
              <a:buNone/>
            </a:pPr>
            <a:endParaRPr lang="en-GB" sz="2200" dirty="0">
              <a:solidFill>
                <a:srgbClr val="242628"/>
              </a:solidFill>
              <a:latin typeface="jaf-bernina-sans"/>
              <a:sym typeface="Wingdings" pitchFamily="2" charset="2"/>
            </a:endParaRPr>
          </a:p>
          <a:p>
            <a:pPr>
              <a:buFont typeface="Wingdings" pitchFamily="2" charset="2"/>
              <a:buChar char="à"/>
            </a:pPr>
            <a:endParaRPr lang="en-GB" sz="2000" dirty="0">
              <a:solidFill>
                <a:srgbClr val="242628"/>
              </a:solidFill>
              <a:latin typeface="jaf-bernina-sans"/>
            </a:endParaRPr>
          </a:p>
        </p:txBody>
      </p:sp>
    </p:spTree>
    <p:extLst>
      <p:ext uri="{BB962C8B-B14F-4D97-AF65-F5344CB8AC3E}">
        <p14:creationId xmlns:p14="http://schemas.microsoft.com/office/powerpoint/2010/main" val="337404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C111D-C27A-F70A-6009-F28E6872B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08534-9D87-AAA7-6E50-87023B5E4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>
                <a:solidFill>
                  <a:srgbClr val="244337"/>
                </a:solidFill>
                <a:latin typeface="Lato Black" panose="020F0A02020204030203" pitchFamily="34" charset="0"/>
              </a:rPr>
              <a:t>AI-Bubble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B809C62-F123-519E-CFD0-225268054F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8722" y="1461972"/>
            <a:ext cx="6134556" cy="2343909"/>
          </a:xfrm>
          <a:prstGeom prst="rect">
            <a:avLst/>
          </a:prstGeom>
          <a:noFill/>
          <a:ln>
            <a:solidFill>
              <a:srgbClr val="244337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68A726E1-C972-A3E9-B118-5A72EC9DA7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8722" y="3895087"/>
            <a:ext cx="6134556" cy="2129211"/>
          </a:xfrm>
          <a:prstGeom prst="rect">
            <a:avLst/>
          </a:prstGeom>
          <a:noFill/>
          <a:ln>
            <a:solidFill>
              <a:srgbClr val="244337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E3EE1C-011B-8F32-A485-055A413EBE19}"/>
              </a:ext>
            </a:extLst>
          </p:cNvPr>
          <p:cNvSpPr txBox="1"/>
          <p:nvPr/>
        </p:nvSpPr>
        <p:spPr>
          <a:xfrm>
            <a:off x="1982644" y="2439693"/>
            <a:ext cx="9541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2800" dirty="0"/>
              <a:t>2000</a:t>
            </a:r>
            <a:endParaRPr lang="en-B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61265E-F52C-FF48-1889-581323B89C75}"/>
              </a:ext>
            </a:extLst>
          </p:cNvPr>
          <p:cNvSpPr txBox="1"/>
          <p:nvPr/>
        </p:nvSpPr>
        <p:spPr>
          <a:xfrm>
            <a:off x="1982643" y="4698082"/>
            <a:ext cx="9541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2800" dirty="0"/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14858329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ACA3C-2396-C4FB-31C1-3AF972F1C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33A18-A636-82B3-CE5E-BD0814121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>
                <a:solidFill>
                  <a:srgbClr val="244337"/>
                </a:solidFill>
                <a:latin typeface="Lato Black" panose="020F0A02020204030203" pitchFamily="34" charset="0"/>
              </a:rPr>
              <a:t>AI-Bubble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F1078-A3E1-D033-4750-3BEF6107F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2518"/>
            <a:ext cx="10515600" cy="41441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600" b="1" dirty="0">
                <a:solidFill>
                  <a:srgbClr val="242628"/>
                </a:solidFill>
                <a:latin typeface="jaf-bernina-sans"/>
              </a:rPr>
              <a:t>Assets die </a:t>
            </a:r>
            <a:r>
              <a:rPr lang="en-GB" sz="2600" b="1" dirty="0" err="1">
                <a:solidFill>
                  <a:srgbClr val="242628"/>
                </a:solidFill>
                <a:latin typeface="jaf-bernina-sans"/>
              </a:rPr>
              <a:t>wel</a:t>
            </a:r>
            <a:r>
              <a:rPr lang="en-GB" sz="2600" b="1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600" b="1" dirty="0" err="1">
                <a:solidFill>
                  <a:srgbClr val="242628"/>
                </a:solidFill>
                <a:latin typeface="jaf-bernina-sans"/>
              </a:rPr>
              <a:t>nog</a:t>
            </a:r>
            <a:r>
              <a:rPr lang="en-GB" sz="2600" b="1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600" b="1" dirty="0" err="1">
                <a:solidFill>
                  <a:srgbClr val="242628"/>
                </a:solidFill>
                <a:latin typeface="jaf-bernina-sans"/>
              </a:rPr>
              <a:t>aantrekkelijk</a:t>
            </a:r>
            <a:r>
              <a:rPr lang="en-GB" sz="2600" b="1" dirty="0">
                <a:solidFill>
                  <a:srgbClr val="242628"/>
                </a:solidFill>
                <a:latin typeface="jaf-bernina-sans"/>
              </a:rPr>
              <a:t> </a:t>
            </a:r>
            <a:r>
              <a:rPr lang="en-GB" sz="2600" b="1" dirty="0" err="1">
                <a:solidFill>
                  <a:srgbClr val="242628"/>
                </a:solidFill>
                <a:latin typeface="jaf-bernina-sans"/>
              </a:rPr>
              <a:t>zijn</a:t>
            </a:r>
            <a:endParaRPr lang="en-GB" sz="2600" b="1" dirty="0">
              <a:solidFill>
                <a:srgbClr val="242628"/>
              </a:solidFill>
              <a:latin typeface="jaf-bernina-sans"/>
            </a:endParaRPr>
          </a:p>
          <a:p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Non-US equity</a:t>
            </a:r>
          </a:p>
          <a:p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Emerging markets</a:t>
            </a:r>
          </a:p>
          <a:p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Small &amp; deep-value stocks</a:t>
            </a:r>
          </a:p>
          <a:p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…</a:t>
            </a:r>
          </a:p>
          <a:p>
            <a:endParaRPr lang="en-GB" sz="2600" dirty="0">
              <a:solidFill>
                <a:srgbClr val="242628"/>
              </a:solidFill>
              <a:latin typeface="jaf-bernina-sans"/>
              <a:sym typeface="Wingdings" pitchFamily="2" charset="2"/>
            </a:endParaRPr>
          </a:p>
          <a:p>
            <a:pPr marL="0" indent="0">
              <a:buNone/>
            </a:pPr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 Een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portefeuille</a:t>
            </a:r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zonder</a:t>
            </a:r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grote</a:t>
            </a:r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 AI-exposure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heeft</a:t>
            </a:r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nog</a:t>
            </a:r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 steeds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normale</a:t>
            </a:r>
            <a:r>
              <a:rPr lang="en-GB" sz="2600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 </a:t>
            </a:r>
            <a:r>
              <a:rPr lang="en-GB" sz="2600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rendementsverwachtingen</a:t>
            </a:r>
            <a:endParaRPr lang="en-GB" sz="2600" dirty="0">
              <a:solidFill>
                <a:srgbClr val="242628"/>
              </a:solidFill>
              <a:latin typeface="jaf-bernina-sans"/>
              <a:sym typeface="Wingdings" pitchFamily="2" charset="2"/>
            </a:endParaRPr>
          </a:p>
          <a:p>
            <a:pPr marL="457200" lvl="1" indent="0">
              <a:buNone/>
            </a:pPr>
            <a:endParaRPr lang="en-GB" sz="2200" dirty="0">
              <a:solidFill>
                <a:srgbClr val="242628"/>
              </a:solidFill>
              <a:latin typeface="jaf-bernina-sans"/>
              <a:sym typeface="Wingdings" pitchFamily="2" charset="2"/>
            </a:endParaRPr>
          </a:p>
          <a:p>
            <a:pPr>
              <a:buFont typeface="Wingdings" pitchFamily="2" charset="2"/>
              <a:buChar char="à"/>
            </a:pPr>
            <a:endParaRPr lang="en-GB" sz="2000" dirty="0">
              <a:solidFill>
                <a:srgbClr val="242628"/>
              </a:solidFill>
              <a:latin typeface="jaf-bernina-sans"/>
            </a:endParaRPr>
          </a:p>
        </p:txBody>
      </p:sp>
    </p:spTree>
    <p:extLst>
      <p:ext uri="{BB962C8B-B14F-4D97-AF65-F5344CB8AC3E}">
        <p14:creationId xmlns:p14="http://schemas.microsoft.com/office/powerpoint/2010/main" val="27138951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97DAD-6C56-61AB-09D8-8321C3D2C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62F71-9300-2283-E9DA-61D1F87A7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>
                <a:solidFill>
                  <a:srgbClr val="244337"/>
                </a:solidFill>
                <a:latin typeface="Lato Black" panose="020F0A02020204030203" pitchFamily="34" charset="0"/>
              </a:rPr>
              <a:t>AI-Bubble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4A937-AE7F-2595-808D-46778ECBC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1578"/>
            <a:ext cx="10515600" cy="1007641"/>
          </a:xfrm>
        </p:spPr>
        <p:txBody>
          <a:bodyPr>
            <a:normAutofit/>
          </a:bodyPr>
          <a:lstStyle/>
          <a:p>
            <a:pPr marL="457200" lvl="1" indent="0" algn="ctr">
              <a:buNone/>
            </a:pPr>
            <a:r>
              <a:rPr lang="en-GB" sz="3600" b="1" i="1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La bourse, </a:t>
            </a:r>
            <a:r>
              <a:rPr lang="en-GB" sz="3600" b="1" i="1" dirty="0" err="1">
                <a:solidFill>
                  <a:srgbClr val="242628"/>
                </a:solidFill>
                <a:latin typeface="jaf-bernina-sans"/>
                <a:sym typeface="Wingdings" pitchFamily="2" charset="2"/>
              </a:rPr>
              <a:t>c’est</a:t>
            </a:r>
            <a:r>
              <a:rPr lang="en-GB" sz="3600" b="1" i="1" dirty="0">
                <a:solidFill>
                  <a:srgbClr val="242628"/>
                </a:solidFill>
                <a:latin typeface="jaf-bernina-sans"/>
                <a:sym typeface="Wingdings" pitchFamily="2" charset="2"/>
              </a:rPr>
              <a:t> le temple des regrets</a:t>
            </a:r>
          </a:p>
          <a:p>
            <a:pPr>
              <a:buFont typeface="Wingdings" pitchFamily="2" charset="2"/>
              <a:buChar char="à"/>
            </a:pPr>
            <a:endParaRPr lang="en-GB" sz="3600" i="1" dirty="0">
              <a:solidFill>
                <a:srgbClr val="242628"/>
              </a:solidFill>
              <a:latin typeface="jaf-bernina-sans"/>
            </a:endParaRPr>
          </a:p>
        </p:txBody>
      </p:sp>
    </p:spTree>
    <p:extLst>
      <p:ext uri="{BB962C8B-B14F-4D97-AF65-F5344CB8AC3E}">
        <p14:creationId xmlns:p14="http://schemas.microsoft.com/office/powerpoint/2010/main" val="33095424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B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51DE7B-7163-96DE-9BCE-5F9254592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954C88-EC25-03E1-EC43-45E83B9B7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3613" y="3030473"/>
            <a:ext cx="9684774" cy="797054"/>
          </a:xfrm>
        </p:spPr>
        <p:txBody>
          <a:bodyPr>
            <a:normAutofit/>
          </a:bodyPr>
          <a:lstStyle/>
          <a:p>
            <a:r>
              <a:rPr lang="nl-BE" sz="4800" b="1" cap="all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Lato Black" panose="020F0A02020204030203" pitchFamily="34" charset="0"/>
              </a:rPr>
              <a:t>sectordiscussies</a:t>
            </a:r>
          </a:p>
        </p:txBody>
      </p:sp>
    </p:spTree>
    <p:extLst>
      <p:ext uri="{BB962C8B-B14F-4D97-AF65-F5344CB8AC3E}">
        <p14:creationId xmlns:p14="http://schemas.microsoft.com/office/powerpoint/2010/main" val="17504106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B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04E961-FFD6-CF16-843A-1691A500F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D974F1-A025-E40D-3E94-6C3E943EBC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3613" y="3030473"/>
            <a:ext cx="9684774" cy="797054"/>
          </a:xfrm>
        </p:spPr>
        <p:txBody>
          <a:bodyPr>
            <a:normAutofit/>
          </a:bodyPr>
          <a:lstStyle/>
          <a:p>
            <a:r>
              <a:rPr lang="nl-BE" sz="4800" b="1" cap="all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Lato Black" panose="020F0A02020204030203" pitchFamily="34" charset="0"/>
              </a:rPr>
              <a:t>voorstellen</a:t>
            </a:r>
          </a:p>
        </p:txBody>
      </p:sp>
    </p:spTree>
    <p:extLst>
      <p:ext uri="{BB962C8B-B14F-4D97-AF65-F5344CB8AC3E}">
        <p14:creationId xmlns:p14="http://schemas.microsoft.com/office/powerpoint/2010/main" val="2323985960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645f338-6b19-47dd-a9cd-521166d8a9c7" xsi:nil="true"/>
    <lcf76f155ced4ddcb4097134ff3c332f xmlns="bc1159ad-d26f-4422-9cd3-507dd7bb304b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FD744ABC62A64EB73EBDE161BAFFAF" ma:contentTypeVersion="13" ma:contentTypeDescription="Een nieuw document maken." ma:contentTypeScope="" ma:versionID="4951167e122b31e5ded957a5580b48da">
  <xsd:schema xmlns:xsd="http://www.w3.org/2001/XMLSchema" xmlns:xs="http://www.w3.org/2001/XMLSchema" xmlns:p="http://schemas.microsoft.com/office/2006/metadata/properties" xmlns:ns2="bc1159ad-d26f-4422-9cd3-507dd7bb304b" xmlns:ns3="8645f338-6b19-47dd-a9cd-521166d8a9c7" targetNamespace="http://schemas.microsoft.com/office/2006/metadata/properties" ma:root="true" ma:fieldsID="283887a6431aabf65d426566ab0d1d71" ns2:_="" ns3:_="">
    <xsd:import namespace="bc1159ad-d26f-4422-9cd3-507dd7bb304b"/>
    <xsd:import namespace="8645f338-6b19-47dd-a9cd-521166d8a9c7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1159ad-d26f-4422-9cd3-507dd7bb304b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Afbeeldingtags" ma:readOnly="false" ma:fieldId="{5cf76f15-5ced-4ddc-b409-7134ff3c332f}" ma:taxonomyMulti="true" ma:sspId="da829b53-f82c-4818-ba9e-f50c3edd119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45f338-6b19-47dd-a9cd-521166d8a9c7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fa6b2853-0cf4-4253-bc2b-fe296ed0741f}" ma:internalName="TaxCatchAll" ma:showField="CatchAllData" ma:web="8645f338-6b19-47dd-a9cd-521166d8a9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7040381-67DD-4FBC-ACE0-362DC6FCCAC6}">
  <ds:schemaRefs>
    <ds:schemaRef ds:uri="http://schemas.microsoft.com/office/infopath/2007/PartnerControls"/>
    <ds:schemaRef ds:uri="http://www.w3.org/XML/1998/namespace"/>
    <ds:schemaRef ds:uri="bc1159ad-d26f-4422-9cd3-507dd7bb304b"/>
    <ds:schemaRef ds:uri="http://purl.org/dc/terms/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8645f338-6b19-47dd-a9cd-521166d8a9c7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DBD6C5D-4773-475C-86FF-2D05E05934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c1159ad-d26f-4422-9cd3-507dd7bb304b"/>
    <ds:schemaRef ds:uri="8645f338-6b19-47dd-a9cd-521166d8a9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176AE51-6F4C-460E-A4C6-2DFD6C1DFC3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4235</TotalTime>
  <Words>511</Words>
  <Application>Microsoft Office PowerPoint</Application>
  <PresentationFormat>Widescreen</PresentationFormat>
  <Paragraphs>88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Kantoorthema</vt:lpstr>
      <vt:lpstr>Custom Design</vt:lpstr>
      <vt:lpstr>Algemene vergadering 5</vt:lpstr>
      <vt:lpstr>MACRO</vt:lpstr>
      <vt:lpstr>US Economic Fundamentals</vt:lpstr>
      <vt:lpstr>FED</vt:lpstr>
      <vt:lpstr>PowerPoint Presentation</vt:lpstr>
      <vt:lpstr>AI-Bubble</vt:lpstr>
      <vt:lpstr>AI-Bubble</vt:lpstr>
      <vt:lpstr>AI-Bubble</vt:lpstr>
      <vt:lpstr>AI-Bubble</vt:lpstr>
      <vt:lpstr>AI-Bubble</vt:lpstr>
      <vt:lpstr>AI-Bubble</vt:lpstr>
      <vt:lpstr>AI-Bubble</vt:lpstr>
      <vt:lpstr>AI-Bubble</vt:lpstr>
      <vt:lpstr>AI-Bubble</vt:lpstr>
      <vt:lpstr>AI-Bubble</vt:lpstr>
      <vt:lpstr>AI-Bubble</vt:lpstr>
      <vt:lpstr>AI-Bubble</vt:lpstr>
      <vt:lpstr>sectordiscussies</vt:lpstr>
      <vt:lpstr>voorstellen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Vek investment club</dc:title>
  <dc:creator>Investment Club | VEK</dc:creator>
  <cp:lastModifiedBy>Pepijn Baert</cp:lastModifiedBy>
  <cp:revision>10</cp:revision>
  <cp:lastPrinted>2024-07-16T07:40:55Z</cp:lastPrinted>
  <dcterms:created xsi:type="dcterms:W3CDTF">2024-07-09T18:43:59Z</dcterms:created>
  <dcterms:modified xsi:type="dcterms:W3CDTF">2025-11-27T19:38:04Z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0x01010004FD744ABC62A64EB73EBDE161BAFFAF</vt:lpwstr>
  </property>
  <property fmtid="{D5CDD505-2E9C-101B-9397-08002B2CF9AE}" pid="3" name="MediaServiceImageTags">
    <vt:lpwstr/>
  </property>
</Properties>
</file>