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2" r:id="rId4"/>
    <p:sldId id="273" r:id="rId5"/>
    <p:sldId id="263" r:id="rId6"/>
    <p:sldId id="274" r:id="rId7"/>
    <p:sldId id="275" r:id="rId8"/>
    <p:sldId id="259" r:id="rId9"/>
    <p:sldId id="271" r:id="rId10"/>
    <p:sldId id="269" r:id="rId11"/>
    <p:sldId id="272" r:id="rId12"/>
    <p:sldId id="260" r:id="rId13"/>
    <p:sldId id="279" r:id="rId14"/>
    <p:sldId id="270" r:id="rId15"/>
    <p:sldId id="264" r:id="rId16"/>
    <p:sldId id="276" r:id="rId17"/>
    <p:sldId id="277" r:id="rId18"/>
    <p:sldId id="265" r:id="rId19"/>
    <p:sldId id="266" r:id="rId20"/>
    <p:sldId id="267" r:id="rId21"/>
    <p:sldId id="261" r:id="rId22"/>
    <p:sldId id="280" r:id="rId23"/>
    <p:sldId id="268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5AB04-7D33-D289-269C-14699E3DE18A}" v="11" dt="2023-11-12T18:06:24.548"/>
    <p1510:client id="{7B33C153-8ABA-4BD9-AAAB-CD1A15006EE3}" v="3" dt="2023-11-20T20:12:34.928"/>
    <p1510:client id="{8F9439BB-DCD4-0624-2DCC-DFD88EEB0FC5}" v="23" dt="2023-11-21T16:28:21.510"/>
    <p1510:client id="{E43ADF41-A7E4-B085-DFB6-636852811CF5}" v="4" dt="2023-11-12T19:40:58.781"/>
    <p1510:client id="{F7AD9E9B-D8A9-34AD-0F2C-58C0CA3E72EB}" v="11" dt="2023-11-14T09:56:50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5" autoAdjust="0"/>
    <p:restoredTop sz="94660"/>
  </p:normalViewPr>
  <p:slideViewPr>
    <p:cSldViewPr snapToGrid="0">
      <p:cViewPr varScale="1">
        <p:scale>
          <a:sx n="69" d="100"/>
          <a:sy n="69" d="100"/>
        </p:scale>
        <p:origin x="1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17d8828fe9193ed427db800feda649c02ffac6905f69ab1b85760e772b7340b3::" providerId="AD" clId="Web-{2FD5AB04-7D33-D289-269C-14699E3DE18A}"/>
    <pc:docChg chg="modSld">
      <pc:chgData name="Guest User" userId="S::urn:spo:anon#17d8828fe9193ed427db800feda649c02ffac6905f69ab1b85760e772b7340b3::" providerId="AD" clId="Web-{2FD5AB04-7D33-D289-269C-14699E3DE18A}" dt="2023-11-12T18:06:24.345" v="8" actId="20577"/>
      <pc:docMkLst>
        <pc:docMk/>
      </pc:docMkLst>
      <pc:sldChg chg="modSp">
        <pc:chgData name="Guest User" userId="S::urn:spo:anon#17d8828fe9193ed427db800feda649c02ffac6905f69ab1b85760e772b7340b3::" providerId="AD" clId="Web-{2FD5AB04-7D33-D289-269C-14699E3DE18A}" dt="2023-11-12T18:05:19.655" v="4" actId="1076"/>
        <pc:sldMkLst>
          <pc:docMk/>
          <pc:sldMk cId="3261707928" sldId="256"/>
        </pc:sldMkLst>
        <pc:picChg chg="mod">
          <ac:chgData name="Guest User" userId="S::urn:spo:anon#17d8828fe9193ed427db800feda649c02ffac6905f69ab1b85760e772b7340b3::" providerId="AD" clId="Web-{2FD5AB04-7D33-D289-269C-14699E3DE18A}" dt="2023-11-12T18:05:19.655" v="4" actId="1076"/>
          <ac:picMkLst>
            <pc:docMk/>
            <pc:sldMk cId="3261707928" sldId="256"/>
            <ac:picMk id="1026" creationId="{E8C5C71F-866A-AB07-52AE-9AAF060F30FA}"/>
          </ac:picMkLst>
        </pc:picChg>
      </pc:sldChg>
      <pc:sldChg chg="modSp">
        <pc:chgData name="Guest User" userId="S::urn:spo:anon#17d8828fe9193ed427db800feda649c02ffac6905f69ab1b85760e772b7340b3::" providerId="AD" clId="Web-{2FD5AB04-7D33-D289-269C-14699E3DE18A}" dt="2023-11-12T18:06:24.345" v="8" actId="20577"/>
        <pc:sldMkLst>
          <pc:docMk/>
          <pc:sldMk cId="1378842296" sldId="264"/>
        </pc:sldMkLst>
        <pc:spChg chg="mod">
          <ac:chgData name="Guest User" userId="S::urn:spo:anon#17d8828fe9193ed427db800feda649c02ffac6905f69ab1b85760e772b7340b3::" providerId="AD" clId="Web-{2FD5AB04-7D33-D289-269C-14699E3DE18A}" dt="2023-11-12T18:06:18.501" v="5" actId="20577"/>
          <ac:spMkLst>
            <pc:docMk/>
            <pc:sldMk cId="1378842296" sldId="264"/>
            <ac:spMk id="2" creationId="{C851C179-CD3C-DD94-8FEC-39A9F1783FC5}"/>
          </ac:spMkLst>
        </pc:spChg>
        <pc:spChg chg="mod">
          <ac:chgData name="Guest User" userId="S::urn:spo:anon#17d8828fe9193ed427db800feda649c02ffac6905f69ab1b85760e772b7340b3::" providerId="AD" clId="Web-{2FD5AB04-7D33-D289-269C-14699E3DE18A}" dt="2023-11-12T18:06:24.345" v="8" actId="20577"/>
          <ac:spMkLst>
            <pc:docMk/>
            <pc:sldMk cId="1378842296" sldId="264"/>
            <ac:spMk id="12" creationId="{830610C4-A3A7-BC49-ED65-964092DC9A4C}"/>
          </ac:spMkLst>
        </pc:spChg>
      </pc:sldChg>
      <pc:sldChg chg="modSp">
        <pc:chgData name="Guest User" userId="S::urn:spo:anon#17d8828fe9193ed427db800feda649c02ffac6905f69ab1b85760e772b7340b3::" providerId="AD" clId="Web-{2FD5AB04-7D33-D289-269C-14699E3DE18A}" dt="2023-11-12T18:04:27.966" v="0" actId="1076"/>
        <pc:sldMkLst>
          <pc:docMk/>
          <pc:sldMk cId="2596503151" sldId="267"/>
        </pc:sldMkLst>
        <pc:picChg chg="mod">
          <ac:chgData name="Guest User" userId="S::urn:spo:anon#17d8828fe9193ed427db800feda649c02ffac6905f69ab1b85760e772b7340b3::" providerId="AD" clId="Web-{2FD5AB04-7D33-D289-269C-14699E3DE18A}" dt="2023-11-12T18:04:27.966" v="0" actId="1076"/>
          <ac:picMkLst>
            <pc:docMk/>
            <pc:sldMk cId="2596503151" sldId="267"/>
            <ac:picMk id="12290" creationId="{208192E8-5FF9-BEB5-8912-FBAD65CF355B}"/>
          </ac:picMkLst>
        </pc:picChg>
      </pc:sldChg>
    </pc:docChg>
  </pc:docChgLst>
  <pc:docChgLst>
    <pc:chgData name="Guest User" userId="S::urn:spo:anon#17d8828fe9193ed427db800feda649c02ffac6905f69ab1b85760e772b7340b3::" providerId="AD" clId="Web-{F7AD9E9B-D8A9-34AD-0F2C-58C0CA3E72EB}"/>
    <pc:docChg chg="modSld">
      <pc:chgData name="Guest User" userId="S::urn:spo:anon#17d8828fe9193ed427db800feda649c02ffac6905f69ab1b85760e772b7340b3::" providerId="AD" clId="Web-{F7AD9E9B-D8A9-34AD-0F2C-58C0CA3E72EB}" dt="2023-11-14T09:56:48.190" v="4" actId="20577"/>
      <pc:docMkLst>
        <pc:docMk/>
      </pc:docMkLst>
      <pc:sldChg chg="modSp">
        <pc:chgData name="Guest User" userId="S::urn:spo:anon#17d8828fe9193ed427db800feda649c02ffac6905f69ab1b85760e772b7340b3::" providerId="AD" clId="Web-{F7AD9E9B-D8A9-34AD-0F2C-58C0CA3E72EB}" dt="2023-11-14T09:56:48.190" v="4" actId="20577"/>
        <pc:sldMkLst>
          <pc:docMk/>
          <pc:sldMk cId="3925068056" sldId="270"/>
        </pc:sldMkLst>
        <pc:spChg chg="mod">
          <ac:chgData name="Guest User" userId="S::urn:spo:anon#17d8828fe9193ed427db800feda649c02ffac6905f69ab1b85760e772b7340b3::" providerId="AD" clId="Web-{F7AD9E9B-D8A9-34AD-0F2C-58C0CA3E72EB}" dt="2023-11-14T09:56:48.190" v="4" actId="20577"/>
          <ac:spMkLst>
            <pc:docMk/>
            <pc:sldMk cId="3925068056" sldId="270"/>
            <ac:spMk id="10" creationId="{92EA6F54-A435-D3ED-37DB-9798E16C64A7}"/>
          </ac:spMkLst>
        </pc:spChg>
      </pc:sldChg>
    </pc:docChg>
  </pc:docChgLst>
  <pc:docChgLst>
    <pc:chgData name="Guest User" userId="S::urn:spo:anon#17d8828fe9193ed427db800feda649c02ffac6905f69ab1b85760e772b7340b3::" providerId="AD" clId="Web-{E43ADF41-A7E4-B085-DFB6-636852811CF5}"/>
    <pc:docChg chg="modSld">
      <pc:chgData name="Guest User" userId="S::urn:spo:anon#17d8828fe9193ed427db800feda649c02ffac6905f69ab1b85760e772b7340b3::" providerId="AD" clId="Web-{E43ADF41-A7E4-B085-DFB6-636852811CF5}" dt="2023-11-12T19:40:58.781" v="5" actId="20577"/>
      <pc:docMkLst>
        <pc:docMk/>
      </pc:docMkLst>
      <pc:sldChg chg="modSp">
        <pc:chgData name="Guest User" userId="S::urn:spo:anon#17d8828fe9193ed427db800feda649c02ffac6905f69ab1b85760e772b7340b3::" providerId="AD" clId="Web-{E43ADF41-A7E4-B085-DFB6-636852811CF5}" dt="2023-11-12T19:40:58.781" v="5" actId="20577"/>
        <pc:sldMkLst>
          <pc:docMk/>
          <pc:sldMk cId="633693051" sldId="269"/>
        </pc:sldMkLst>
        <pc:spChg chg="mod">
          <ac:chgData name="Guest User" userId="S::urn:spo:anon#17d8828fe9193ed427db800feda649c02ffac6905f69ab1b85760e772b7340b3::" providerId="AD" clId="Web-{E43ADF41-A7E4-B085-DFB6-636852811CF5}" dt="2023-11-12T19:40:58.781" v="5" actId="20577"/>
          <ac:spMkLst>
            <pc:docMk/>
            <pc:sldMk cId="633693051" sldId="269"/>
            <ac:spMk id="3" creationId="{E9896637-309D-48D6-F049-9AF5DA1668C8}"/>
          </ac:spMkLst>
        </pc:spChg>
      </pc:sldChg>
    </pc:docChg>
  </pc:docChgLst>
  <pc:docChgLst>
    <pc:chgData name="Guest User" userId="S::urn:spo:anon#17d8828fe9193ed427db800feda649c02ffac6905f69ab1b85760e772b7340b3::" providerId="AD" clId="Web-{7B33C153-8ABA-4BD9-AAAB-CD1A15006EE3}"/>
    <pc:docChg chg="addSld modSld">
      <pc:chgData name="Guest User" userId="S::urn:spo:anon#17d8828fe9193ed427db800feda649c02ffac6905f69ab1b85760e772b7340b3::" providerId="AD" clId="Web-{7B33C153-8ABA-4BD9-AAAB-CD1A15006EE3}" dt="2023-11-20T20:12:34.928" v="2" actId="20577"/>
      <pc:docMkLst>
        <pc:docMk/>
      </pc:docMkLst>
      <pc:sldChg chg="modSp new">
        <pc:chgData name="Guest User" userId="S::urn:spo:anon#17d8828fe9193ed427db800feda649c02ffac6905f69ab1b85760e772b7340b3::" providerId="AD" clId="Web-{7B33C153-8ABA-4BD9-AAAB-CD1A15006EE3}" dt="2023-11-20T20:12:34.928" v="2" actId="20577"/>
        <pc:sldMkLst>
          <pc:docMk/>
          <pc:sldMk cId="1801666714" sldId="280"/>
        </pc:sldMkLst>
        <pc:spChg chg="mod">
          <ac:chgData name="Guest User" userId="S::urn:spo:anon#17d8828fe9193ed427db800feda649c02ffac6905f69ab1b85760e772b7340b3::" providerId="AD" clId="Web-{7B33C153-8ABA-4BD9-AAAB-CD1A15006EE3}" dt="2023-11-20T20:12:34.928" v="2" actId="20577"/>
          <ac:spMkLst>
            <pc:docMk/>
            <pc:sldMk cId="1801666714" sldId="280"/>
            <ac:spMk id="2" creationId="{209E80E2-BC1B-DF3D-B66B-F20851B1F183}"/>
          </ac:spMkLst>
        </pc:spChg>
      </pc:sldChg>
    </pc:docChg>
  </pc:docChgLst>
  <pc:docChgLst>
    <pc:chgData name="Gastgebruiker" userId="S::urn:spo:anon#d1f876d43c5455c14c6bfe956a7fe1fa7c81ca2454484769ba16c49fb6826510::" providerId="AD" clId="Web-{8F9439BB-DCD4-0624-2DCC-DFD88EEB0FC5}"/>
    <pc:docChg chg="modSld">
      <pc:chgData name="Gastgebruiker" userId="S::urn:spo:anon#d1f876d43c5455c14c6bfe956a7fe1fa7c81ca2454484769ba16c49fb6826510::" providerId="AD" clId="Web-{8F9439BB-DCD4-0624-2DCC-DFD88EEB0FC5}" dt="2023-11-21T16:28:21.510" v="17" actId="1076"/>
      <pc:docMkLst>
        <pc:docMk/>
      </pc:docMkLst>
      <pc:sldChg chg="modSp">
        <pc:chgData name="Gastgebruiker" userId="S::urn:spo:anon#d1f876d43c5455c14c6bfe956a7fe1fa7c81ca2454484769ba16c49fb6826510::" providerId="AD" clId="Web-{8F9439BB-DCD4-0624-2DCC-DFD88EEB0FC5}" dt="2023-11-21T16:28:04.447" v="16" actId="20577"/>
        <pc:sldMkLst>
          <pc:docMk/>
          <pc:sldMk cId="1600551766" sldId="257"/>
        </pc:sldMkLst>
        <pc:spChg chg="mod">
          <ac:chgData name="Gastgebruiker" userId="S::urn:spo:anon#d1f876d43c5455c14c6bfe956a7fe1fa7c81ca2454484769ba16c49fb6826510::" providerId="AD" clId="Web-{8F9439BB-DCD4-0624-2DCC-DFD88EEB0FC5}" dt="2023-11-21T16:28:04.447" v="16" actId="20577"/>
          <ac:spMkLst>
            <pc:docMk/>
            <pc:sldMk cId="1600551766" sldId="257"/>
            <ac:spMk id="4" creationId="{C9F1E602-D604-44CD-0587-A0E1FB7CDAE2}"/>
          </ac:spMkLst>
        </pc:spChg>
      </pc:sldChg>
      <pc:sldChg chg="modSp">
        <pc:chgData name="Gastgebruiker" userId="S::urn:spo:anon#d1f876d43c5455c14c6bfe956a7fe1fa7c81ca2454484769ba16c49fb6826510::" providerId="AD" clId="Web-{8F9439BB-DCD4-0624-2DCC-DFD88EEB0FC5}" dt="2023-11-21T16:28:21.510" v="17" actId="1076"/>
        <pc:sldMkLst>
          <pc:docMk/>
          <pc:sldMk cId="245035860" sldId="262"/>
        </pc:sldMkLst>
        <pc:picChg chg="mod">
          <ac:chgData name="Gastgebruiker" userId="S::urn:spo:anon#d1f876d43c5455c14c6bfe956a7fe1fa7c81ca2454484769ba16c49fb6826510::" providerId="AD" clId="Web-{8F9439BB-DCD4-0624-2DCC-DFD88EEB0FC5}" dt="2023-11-21T16:28:21.510" v="17" actId="1076"/>
          <ac:picMkLst>
            <pc:docMk/>
            <pc:sldMk cId="245035860" sldId="262"/>
            <ac:picMk id="8" creationId="{FD81AE01-9C2C-1644-6497-5DD5E1F4B708}"/>
          </ac:picMkLst>
        </pc:picChg>
      </pc:sldChg>
      <pc:sldChg chg="modSp">
        <pc:chgData name="Gastgebruiker" userId="S::urn:spo:anon#d1f876d43c5455c14c6bfe956a7fe1fa7c81ca2454484769ba16c49fb6826510::" providerId="AD" clId="Web-{8F9439BB-DCD4-0624-2DCC-DFD88EEB0FC5}" dt="2023-11-21T16:26:35.350" v="11" actId="1076"/>
        <pc:sldMkLst>
          <pc:docMk/>
          <pc:sldMk cId="1210178531" sldId="268"/>
        </pc:sldMkLst>
        <pc:spChg chg="mod">
          <ac:chgData name="Gastgebruiker" userId="S::urn:spo:anon#d1f876d43c5455c14c6bfe956a7fe1fa7c81ca2454484769ba16c49fb6826510::" providerId="AD" clId="Web-{8F9439BB-DCD4-0624-2DCC-DFD88EEB0FC5}" dt="2023-11-21T16:26:18.834" v="4" actId="20577"/>
          <ac:spMkLst>
            <pc:docMk/>
            <pc:sldMk cId="1210178531" sldId="268"/>
            <ac:spMk id="4" creationId="{B06D0456-7F3B-0CBD-D8A0-B283F5611778}"/>
          </ac:spMkLst>
        </pc:spChg>
        <pc:picChg chg="mod">
          <ac:chgData name="Gastgebruiker" userId="S::urn:spo:anon#d1f876d43c5455c14c6bfe956a7fe1fa7c81ca2454484769ba16c49fb6826510::" providerId="AD" clId="Web-{8F9439BB-DCD4-0624-2DCC-DFD88EEB0FC5}" dt="2023-11-21T16:26:35.350" v="11" actId="1076"/>
          <ac:picMkLst>
            <pc:docMk/>
            <pc:sldMk cId="1210178531" sldId="268"/>
            <ac:picMk id="13314" creationId="{0E87A4C2-F848-0BFF-5D4B-414F648A6205}"/>
          </ac:picMkLst>
        </pc:picChg>
        <pc:picChg chg="mod">
          <ac:chgData name="Gastgebruiker" userId="S::urn:spo:anon#d1f876d43c5455c14c6bfe956a7fe1fa7c81ca2454484769ba16c49fb6826510::" providerId="AD" clId="Web-{8F9439BB-DCD4-0624-2DCC-DFD88EEB0FC5}" dt="2023-11-21T16:26:32.757" v="10" actId="1076"/>
          <ac:picMkLst>
            <pc:docMk/>
            <pc:sldMk cId="1210178531" sldId="268"/>
            <ac:picMk id="13316" creationId="{FBD78BA6-56CE-3343-9599-A390B5572E4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4F322-EF81-4A8B-AF00-2A56DFF8C926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9395-ECFF-4DE1-9851-AE2418162EB4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7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4F322-EF81-4A8B-AF00-2A56DFF8C926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9395-ECFF-4DE1-9851-AE2418162EB4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146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4F322-EF81-4A8B-AF00-2A56DFF8C926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9395-ECFF-4DE1-9851-AE2418162EB4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87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4F322-EF81-4A8B-AF00-2A56DFF8C926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9395-ECFF-4DE1-9851-AE2418162EB4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077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4F322-EF81-4A8B-AF00-2A56DFF8C926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9395-ECFF-4DE1-9851-AE2418162EB4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22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4F322-EF81-4A8B-AF00-2A56DFF8C926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9395-ECFF-4DE1-9851-AE2418162EB4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344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4F322-EF81-4A8B-AF00-2A56DFF8C926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9395-ECFF-4DE1-9851-AE2418162EB4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3495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4F322-EF81-4A8B-AF00-2A56DFF8C926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9395-ECFF-4DE1-9851-AE2418162EB4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6050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4F322-EF81-4A8B-AF00-2A56DFF8C926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9395-ECFF-4DE1-9851-AE2418162EB4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4F322-EF81-4A8B-AF00-2A56DFF8C926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9395-ECFF-4DE1-9851-AE2418162EB4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135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4F322-EF81-4A8B-AF00-2A56DFF8C926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9395-ECFF-4DE1-9851-AE2418162EB4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440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4F322-EF81-4A8B-AF00-2A56DFF8C926}" type="datetimeFigureOut">
              <a:rPr lang="fr-FR" smtClean="0"/>
              <a:t>21/11/2023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9395-ECFF-4DE1-9851-AE2418162EB4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89370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F31F-AFEB-4AE4-B162-D7DDE9B130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EB2E5-8A1A-F200-B8A8-01EE4BA95F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Job Categories | UCB Careers">
            <a:extLst>
              <a:ext uri="{FF2B5EF4-FFF2-40B4-BE49-F238E27FC236}">
                <a16:creationId xmlns:a16="http://schemas.microsoft.com/office/drawing/2014/main" id="{E8C5C71F-866A-AB07-52AE-9AAF060F3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78" y="432250"/>
            <a:ext cx="11962978" cy="5981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70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CDD5B-E271-293E-BC1D-1ED0B8E91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771" y="210615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Union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Chimique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Belge</a:t>
            </a:r>
            <a:endParaRPr lang="fr-F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48655-2879-670F-9178-E761F565D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916" y="6068900"/>
            <a:ext cx="5709721" cy="2430864"/>
          </a:xfrm>
        </p:spPr>
        <p:txBody>
          <a:bodyPr anchor="t">
            <a:normAutofit/>
          </a:bodyPr>
          <a:lstStyle/>
          <a:p>
            <a:endParaRPr lang="fr-FR" sz="2000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F1E602-D604-44CD-0587-A0E1FB7CDAE2}"/>
              </a:ext>
            </a:extLst>
          </p:cNvPr>
          <p:cNvSpPr txBox="1"/>
          <p:nvPr/>
        </p:nvSpPr>
        <p:spPr>
          <a:xfrm>
            <a:off x="436099" y="1588477"/>
            <a:ext cx="8893781" cy="489364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Belgisch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biofarmabedrijf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Spin-off van Solvay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sinds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1982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Actief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40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landen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Neurologie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immunologie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/>
                <a:cs typeface="Arial"/>
              </a:rPr>
              <a:t>Overnemen</a:t>
            </a:r>
            <a:r>
              <a:rPr lang="en-US" sz="2400" dirty="0">
                <a:latin typeface="Arial"/>
                <a:cs typeface="Arial"/>
              </a:rPr>
              <a:t> biotech </a:t>
            </a:r>
            <a:r>
              <a:rPr lang="en-US" sz="2400" dirty="0" err="1">
                <a:latin typeface="Arial"/>
                <a:cs typeface="Arial"/>
              </a:rPr>
              <a:t>bedrijven</a:t>
            </a:r>
            <a:r>
              <a:rPr lang="en-US" sz="2400" dirty="0">
                <a:latin typeface="Arial"/>
                <a:cs typeface="Arial"/>
              </a:rPr>
              <a:t> : Celtech, Schwarz Pharma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/>
                <a:cs typeface="Arial"/>
              </a:rPr>
              <a:t>Voorspelling</a:t>
            </a:r>
            <a:r>
              <a:rPr lang="en-US" sz="2400" dirty="0">
                <a:latin typeface="Arial"/>
                <a:cs typeface="Arial"/>
              </a:rPr>
              <a:t> 2025: 6 </a:t>
            </a:r>
            <a:r>
              <a:rPr lang="en-US" sz="2400" dirty="0" err="1">
                <a:latin typeface="Arial"/>
                <a:cs typeface="Arial"/>
              </a:rPr>
              <a:t>miljard</a:t>
            </a:r>
            <a:r>
              <a:rPr lang="en-US" sz="2400" dirty="0">
                <a:latin typeface="Arial"/>
                <a:cs typeface="Arial"/>
              </a:rPr>
              <a:t> euro </a:t>
            </a:r>
            <a:r>
              <a:rPr lang="en-US" sz="2400" dirty="0" err="1">
                <a:latin typeface="Arial"/>
                <a:cs typeface="Arial"/>
              </a:rPr>
              <a:t>opbrengst</a:t>
            </a:r>
            <a:endParaRPr lang="en-US" sz="2400" dirty="0"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3,4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miljoen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patiënten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30% revenue in R&amp;D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Zyrtec (1995)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4098" name="Picture 2" descr="Les Belges les plus riches du secteur pharma - Actualité - le Journal du  Médecin.com">
            <a:extLst>
              <a:ext uri="{FF2B5EF4-FFF2-40B4-BE49-F238E27FC236}">
                <a16:creationId xmlns:a16="http://schemas.microsoft.com/office/drawing/2014/main" id="{E9B6DD24-B410-DEA3-5C90-4E1A1BC0B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2887" y="1447234"/>
            <a:ext cx="20955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Zyrtec 10 mg - 40 comprimés">
            <a:extLst>
              <a:ext uri="{FF2B5EF4-FFF2-40B4-BE49-F238E27FC236}">
                <a16:creationId xmlns:a16="http://schemas.microsoft.com/office/drawing/2014/main" id="{F7A92D8D-06B0-7E2A-DF05-B01DFA5CD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725" y="4127187"/>
            <a:ext cx="2309217" cy="230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55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20CC-3CD6-634F-AD11-E69A0554A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730"/>
            <a:ext cx="10515600" cy="1325563"/>
          </a:xfrm>
        </p:spPr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Neurologie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6" descr="compendium.ch">
            <a:extLst>
              <a:ext uri="{FF2B5EF4-FFF2-40B4-BE49-F238E27FC236}">
                <a16:creationId xmlns:a16="http://schemas.microsoft.com/office/drawing/2014/main" id="{C1B116DE-7C77-B4E9-F291-2688ED3138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79" y="828404"/>
            <a:ext cx="2219811" cy="153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F5A44-10AD-7609-F5BE-E1EB35E7F5DC}"/>
              </a:ext>
            </a:extLst>
          </p:cNvPr>
          <p:cNvSpPr txBox="1"/>
          <p:nvPr/>
        </p:nvSpPr>
        <p:spPr>
          <a:xfrm>
            <a:off x="2763029" y="489737"/>
            <a:ext cx="20771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Vimpat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Behandeling</a:t>
            </a:r>
            <a:r>
              <a:rPr lang="en-US" dirty="0"/>
              <a:t> </a:t>
            </a:r>
            <a:r>
              <a:rPr lang="en-US" dirty="0" err="1"/>
              <a:t>epilepsie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Patent in USA </a:t>
            </a:r>
            <a:r>
              <a:rPr lang="en-US" dirty="0" err="1"/>
              <a:t>en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Europa</a:t>
            </a:r>
            <a:r>
              <a:rPr lang="fr-FR" dirty="0"/>
              <a:t> </a:t>
            </a:r>
            <a:r>
              <a:rPr lang="fr-FR" dirty="0" err="1"/>
              <a:t>vervallen</a:t>
            </a:r>
            <a:r>
              <a:rPr lang="fr-FR" dirty="0"/>
              <a:t> </a:t>
            </a:r>
            <a:r>
              <a:rPr lang="fr-FR" dirty="0" err="1"/>
              <a:t>sinds</a:t>
            </a:r>
            <a:r>
              <a:rPr lang="fr-FR" dirty="0"/>
              <a:t> 2023</a:t>
            </a:r>
            <a:br>
              <a:rPr lang="en-US" dirty="0"/>
            </a:br>
            <a:r>
              <a:rPr lang="en-US" dirty="0"/>
              <a:t>-&gt; </a:t>
            </a:r>
            <a:r>
              <a:rPr lang="en-US" dirty="0" err="1"/>
              <a:t>omzetdaling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Patent </a:t>
            </a:r>
            <a:r>
              <a:rPr lang="en-US" dirty="0" err="1"/>
              <a:t>vervalt</a:t>
            </a:r>
            <a:r>
              <a:rPr lang="en-US" dirty="0"/>
              <a:t> in 2024 in Japan</a:t>
            </a:r>
            <a:endParaRPr lang="fr-FR" dirty="0"/>
          </a:p>
        </p:txBody>
      </p:sp>
      <p:pic>
        <p:nvPicPr>
          <p:cNvPr id="8196" name="Picture 4" descr="Briviact | Le Quotidien du Pharmacien">
            <a:extLst>
              <a:ext uri="{FF2B5EF4-FFF2-40B4-BE49-F238E27FC236}">
                <a16:creationId xmlns:a16="http://schemas.microsoft.com/office/drawing/2014/main" id="{2E07EE22-D128-69C4-0A72-0C35E1740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713" y="5233956"/>
            <a:ext cx="2284397" cy="150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92008D-22C8-D2AA-B15B-C445C22DEB01}"/>
              </a:ext>
            </a:extLst>
          </p:cNvPr>
          <p:cNvSpPr txBox="1"/>
          <p:nvPr/>
        </p:nvSpPr>
        <p:spPr>
          <a:xfrm>
            <a:off x="2336022" y="5290932"/>
            <a:ext cx="23576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Briviact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Behandeling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epilepsie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2026 </a:t>
            </a:r>
            <a:r>
              <a:rPr lang="en-US" dirty="0" err="1"/>
              <a:t>vervalt</a:t>
            </a:r>
            <a:r>
              <a:rPr lang="en-US" dirty="0"/>
              <a:t> patent </a:t>
            </a:r>
            <a:br>
              <a:rPr lang="en-US" dirty="0"/>
            </a:br>
            <a:r>
              <a:rPr lang="en-US" dirty="0"/>
              <a:t>VS </a:t>
            </a:r>
            <a:r>
              <a:rPr lang="en-US" dirty="0" err="1"/>
              <a:t>en</a:t>
            </a:r>
            <a:r>
              <a:rPr lang="en-US" dirty="0"/>
              <a:t> Europa</a:t>
            </a:r>
            <a:endParaRPr lang="fr-FR" dirty="0"/>
          </a:p>
        </p:txBody>
      </p:sp>
      <p:pic>
        <p:nvPicPr>
          <p:cNvPr id="8" name="Picture 4" descr="KEPPRA 750MG COMP PELL 100X 750MG | Apotheek T'Kindt">
            <a:extLst>
              <a:ext uri="{FF2B5EF4-FFF2-40B4-BE49-F238E27FC236}">
                <a16:creationId xmlns:a16="http://schemas.microsoft.com/office/drawing/2014/main" id="{FD81AE01-9C2C-1644-6497-5DD5E1F4B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2" y="3800694"/>
            <a:ext cx="2101632" cy="210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F64190-DCAB-86DA-07A4-636F8739B20A}"/>
              </a:ext>
            </a:extLst>
          </p:cNvPr>
          <p:cNvSpPr txBox="1"/>
          <p:nvPr/>
        </p:nvSpPr>
        <p:spPr>
          <a:xfrm>
            <a:off x="2351239" y="3717298"/>
            <a:ext cx="18176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Keppra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Behandeling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Epilepsie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Patent overall </a:t>
            </a:r>
            <a:br>
              <a:rPr lang="en-US" dirty="0"/>
            </a:br>
            <a:r>
              <a:rPr lang="en-US" dirty="0" err="1"/>
              <a:t>vervallen</a:t>
            </a:r>
            <a:endParaRPr lang="fr-FR" dirty="0"/>
          </a:p>
        </p:txBody>
      </p:sp>
      <p:pic>
        <p:nvPicPr>
          <p:cNvPr id="8198" name="Picture 6" descr="Amazon Pharmacy: Nayzilam (Brand for Midazolam, Nasal Spray)">
            <a:extLst>
              <a:ext uri="{FF2B5EF4-FFF2-40B4-BE49-F238E27FC236}">
                <a16:creationId xmlns:a16="http://schemas.microsoft.com/office/drawing/2014/main" id="{2E61475C-B6AE-08EF-7897-C9DBFBDBD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9028" y="1617780"/>
            <a:ext cx="23145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158334-7B8B-8531-9B6A-AE8CF72472E8}"/>
              </a:ext>
            </a:extLst>
          </p:cNvPr>
          <p:cNvSpPr txBox="1"/>
          <p:nvPr/>
        </p:nvSpPr>
        <p:spPr>
          <a:xfrm>
            <a:off x="4830044" y="3999030"/>
            <a:ext cx="2531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Nayzilam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Behandeling</a:t>
            </a:r>
            <a:r>
              <a:rPr lang="en-US" dirty="0"/>
              <a:t> </a:t>
            </a:r>
            <a:r>
              <a:rPr lang="en-US" dirty="0" err="1"/>
              <a:t>epilepsie</a:t>
            </a:r>
            <a:endParaRPr lang="fr-FR" dirty="0"/>
          </a:p>
        </p:txBody>
      </p:sp>
      <p:pic>
        <p:nvPicPr>
          <p:cNvPr id="8200" name="Picture 8" descr="Fintepla Oral: Uses, Side Effects, Interactions, Pictures, Warnings &amp;  Dosing - WebMD">
            <a:extLst>
              <a:ext uri="{FF2B5EF4-FFF2-40B4-BE49-F238E27FC236}">
                <a16:creationId xmlns:a16="http://schemas.microsoft.com/office/drawing/2014/main" id="{49A1D26E-87AE-035C-181E-3DC25A45C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491" y="335198"/>
            <a:ext cx="2607025" cy="195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EAE2D3-2102-3F79-6666-A2D886C8868B}"/>
              </a:ext>
            </a:extLst>
          </p:cNvPr>
          <p:cNvSpPr txBox="1"/>
          <p:nvPr/>
        </p:nvSpPr>
        <p:spPr>
          <a:xfrm>
            <a:off x="8599491" y="2306222"/>
            <a:ext cx="28780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Fintepla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Sinds</a:t>
            </a:r>
            <a:r>
              <a:rPr lang="en-US" dirty="0"/>
              <a:t> 2022 van UCB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Behandeling</a:t>
            </a:r>
            <a:r>
              <a:rPr lang="en-US" dirty="0"/>
              <a:t> </a:t>
            </a:r>
            <a:r>
              <a:rPr lang="en-US" dirty="0" err="1"/>
              <a:t>kinderepilepsie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Dravet </a:t>
            </a:r>
            <a:r>
              <a:rPr lang="en-US" dirty="0" err="1"/>
              <a:t>syndroom</a:t>
            </a:r>
            <a:r>
              <a:rPr lang="en-US" dirty="0"/>
              <a:t> (</a:t>
            </a:r>
            <a:r>
              <a:rPr lang="en-US" dirty="0" err="1"/>
              <a:t>ernstige</a:t>
            </a:r>
            <a:r>
              <a:rPr lang="en-US" dirty="0"/>
              <a:t> </a:t>
            </a:r>
            <a:r>
              <a:rPr lang="en-US" dirty="0" err="1"/>
              <a:t>vorm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VS </a:t>
            </a:r>
            <a:r>
              <a:rPr lang="en-US" dirty="0" err="1"/>
              <a:t>en</a:t>
            </a:r>
            <a:r>
              <a:rPr lang="en-US" dirty="0"/>
              <a:t> Japan</a:t>
            </a:r>
            <a:endParaRPr lang="fr-FR" dirty="0"/>
          </a:p>
        </p:txBody>
      </p:sp>
      <p:pic>
        <p:nvPicPr>
          <p:cNvPr id="8202" name="Picture 10" descr="Neupro Plasture Transdermic 8mg/24h, 28 plasturi, UCB | Dr.Max Farmacie">
            <a:extLst>
              <a:ext uri="{FF2B5EF4-FFF2-40B4-BE49-F238E27FC236}">
                <a16:creationId xmlns:a16="http://schemas.microsoft.com/office/drawing/2014/main" id="{ED91F9C0-A9F2-EC95-8DB2-35FDB2722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778" y="4784384"/>
            <a:ext cx="2103536" cy="195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4871A5-DAB6-630B-F090-6705B15DCB47}"/>
              </a:ext>
            </a:extLst>
          </p:cNvPr>
          <p:cNvSpPr txBox="1"/>
          <p:nvPr/>
        </p:nvSpPr>
        <p:spPr>
          <a:xfrm>
            <a:off x="9152419" y="4957009"/>
            <a:ext cx="30809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Neupro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Behandeling</a:t>
            </a:r>
            <a:r>
              <a:rPr lang="en-US" dirty="0"/>
              <a:t> Parkinson</a:t>
            </a:r>
            <a:br>
              <a:rPr lang="en-US" dirty="0"/>
            </a:br>
            <a:r>
              <a:rPr lang="en-US" dirty="0" err="1"/>
              <a:t>en</a:t>
            </a:r>
            <a:br>
              <a:rPr lang="en-US" dirty="0"/>
            </a:br>
            <a:r>
              <a:rPr lang="en-US" dirty="0" err="1"/>
              <a:t>Rusteloze</a:t>
            </a:r>
            <a:r>
              <a:rPr lang="en-US" dirty="0"/>
              <a:t> </a:t>
            </a:r>
            <a:r>
              <a:rPr lang="en-US" dirty="0" err="1"/>
              <a:t>benen-syndroom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35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621D-0ECC-13E8-0734-2403C7F5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Zeldzame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ziektes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386" name="Picture 2" descr="Rystiggo (rozanolixizumab-noli)280 mg/2 mL injection price in India.">
            <a:extLst>
              <a:ext uri="{FF2B5EF4-FFF2-40B4-BE49-F238E27FC236}">
                <a16:creationId xmlns:a16="http://schemas.microsoft.com/office/drawing/2014/main" id="{BC53FB19-FA7D-5AC4-1A3E-51720289B5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550" y="1328233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ZILBRYSQ® (zilucoplan) Official HCP Website">
            <a:extLst>
              <a:ext uri="{FF2B5EF4-FFF2-40B4-BE49-F238E27FC236}">
                <a16:creationId xmlns:a16="http://schemas.microsoft.com/office/drawing/2014/main" id="{3463B1F7-1A89-73F8-F85C-EFEEBCB00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550" y="3988027"/>
            <a:ext cx="23526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935087-05DE-B5CC-5293-CEBA3A12EFD9}"/>
              </a:ext>
            </a:extLst>
          </p:cNvPr>
          <p:cNvSpPr txBox="1"/>
          <p:nvPr/>
        </p:nvSpPr>
        <p:spPr>
          <a:xfrm>
            <a:off x="838200" y="2175164"/>
            <a:ext cx="501368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Behandeling</a:t>
            </a:r>
            <a:r>
              <a:rPr lang="en-US" dirty="0"/>
              <a:t> generalized Myasthenia gravis</a:t>
            </a:r>
            <a:r>
              <a:rPr lang="fr-FR" dirty="0"/>
              <a:t> </a:t>
            </a:r>
            <a:r>
              <a:rPr lang="fr-FR" dirty="0" err="1"/>
              <a:t>gMG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Beiden</a:t>
            </a:r>
            <a:r>
              <a:rPr lang="fr-FR" dirty="0"/>
              <a:t> </a:t>
            </a:r>
            <a:r>
              <a:rPr lang="fr-FR" dirty="0" err="1"/>
              <a:t>onlangs</a:t>
            </a:r>
            <a:r>
              <a:rPr lang="fr-FR" dirty="0"/>
              <a:t> </a:t>
            </a:r>
            <a:r>
              <a:rPr lang="fr-FR" dirty="0" err="1"/>
              <a:t>door</a:t>
            </a:r>
            <a:r>
              <a:rPr lang="fr-FR" dirty="0"/>
              <a:t> FDA en Japan </a:t>
            </a:r>
            <a:r>
              <a:rPr lang="fr-FR" dirty="0" err="1"/>
              <a:t>goedgekeurd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Binnenkort</a:t>
            </a:r>
            <a:r>
              <a:rPr lang="fr-FR" dirty="0"/>
              <a:t> </a:t>
            </a:r>
            <a:r>
              <a:rPr lang="fr-FR" dirty="0" err="1"/>
              <a:t>ook</a:t>
            </a:r>
            <a:r>
              <a:rPr lang="fr-FR" dirty="0"/>
              <a:t> </a:t>
            </a:r>
            <a:r>
              <a:rPr lang="fr-FR" dirty="0" err="1"/>
              <a:t>Europese</a:t>
            </a:r>
            <a:r>
              <a:rPr lang="fr-FR" dirty="0"/>
              <a:t> </a:t>
            </a:r>
            <a:r>
              <a:rPr lang="fr-FR" dirty="0" err="1"/>
              <a:t>goedkeuring</a:t>
            </a:r>
            <a:r>
              <a:rPr lang="fr-F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Concurrent: </a:t>
            </a:r>
            <a:r>
              <a:rPr lang="fr-FR" dirty="0" err="1"/>
              <a:t>Vyvgart</a:t>
            </a:r>
            <a:r>
              <a:rPr lang="fr-FR" dirty="0"/>
              <a:t> (</a:t>
            </a:r>
            <a:r>
              <a:rPr lang="fr-FR" dirty="0" err="1"/>
              <a:t>Argenx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-&gt; </a:t>
            </a:r>
            <a:r>
              <a:rPr lang="fr-FR" dirty="0" err="1"/>
              <a:t>beste</a:t>
            </a:r>
            <a:r>
              <a:rPr lang="fr-FR" dirty="0"/>
              <a:t> </a:t>
            </a:r>
            <a:r>
              <a:rPr lang="fr-FR" dirty="0" err="1"/>
              <a:t>werking</a:t>
            </a:r>
            <a:br>
              <a:rPr lang="fr-FR" dirty="0"/>
            </a:br>
            <a:r>
              <a:rPr lang="fr-FR" dirty="0"/>
              <a:t>-&gt; </a:t>
            </a:r>
            <a:r>
              <a:rPr lang="fr-FR" dirty="0" err="1"/>
              <a:t>zeer</a:t>
            </a:r>
            <a:r>
              <a:rPr lang="fr-FR" dirty="0"/>
              <a:t> </a:t>
            </a:r>
            <a:r>
              <a:rPr lang="fr-FR" dirty="0" err="1"/>
              <a:t>duur</a:t>
            </a:r>
            <a:r>
              <a:rPr lang="fr-FR" dirty="0"/>
              <a:t> 225.000 $/</a:t>
            </a:r>
            <a:r>
              <a:rPr lang="fr-FR" dirty="0" err="1"/>
              <a:t>patiënt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-&gt; UCB </a:t>
            </a:r>
            <a:r>
              <a:rPr lang="fr-FR" dirty="0" err="1"/>
              <a:t>zorgt</a:t>
            </a:r>
            <a:r>
              <a:rPr lang="fr-FR" dirty="0"/>
              <a:t> </a:t>
            </a:r>
            <a:r>
              <a:rPr lang="fr-FR" dirty="0" err="1"/>
              <a:t>voor</a:t>
            </a:r>
            <a:r>
              <a:rPr lang="fr-FR" dirty="0"/>
              <a:t> </a:t>
            </a:r>
            <a:r>
              <a:rPr lang="fr-FR" dirty="0" err="1"/>
              <a:t>goedkopere</a:t>
            </a:r>
            <a:r>
              <a:rPr lang="fr-FR" dirty="0"/>
              <a:t> </a:t>
            </a:r>
            <a:r>
              <a:rPr lang="fr-FR" dirty="0" err="1"/>
              <a:t>alternatief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922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E137-7AAE-564E-4610-8661CC8F3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Immunologie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18" name="Picture 2" descr="Ostéoporose sévère : EVENITY® (romosozumab) reçoit le feu vert du CHMP">
            <a:extLst>
              <a:ext uri="{FF2B5EF4-FFF2-40B4-BE49-F238E27FC236}">
                <a16:creationId xmlns:a16="http://schemas.microsoft.com/office/drawing/2014/main" id="{765822BC-02E9-55B7-E538-7EDFB4FE27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14" y="1690688"/>
            <a:ext cx="3103688" cy="206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CCD2FE-1BC4-1DE8-FD4C-2BAF8F455488}"/>
              </a:ext>
            </a:extLst>
          </p:cNvPr>
          <p:cNvSpPr txBox="1"/>
          <p:nvPr/>
        </p:nvSpPr>
        <p:spPr>
          <a:xfrm>
            <a:off x="3802743" y="1690688"/>
            <a:ext cx="2862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Evenity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Behandeling</a:t>
            </a:r>
            <a:r>
              <a:rPr lang="en-US" dirty="0"/>
              <a:t> </a:t>
            </a:r>
            <a:r>
              <a:rPr lang="en-US" dirty="0" err="1"/>
              <a:t>osteoporose</a:t>
            </a:r>
            <a:endParaRPr lang="fr-FR" dirty="0"/>
          </a:p>
        </p:txBody>
      </p:sp>
      <p:pic>
        <p:nvPicPr>
          <p:cNvPr id="9220" name="Picture 4" descr="compendium.ch">
            <a:extLst>
              <a:ext uri="{FF2B5EF4-FFF2-40B4-BE49-F238E27FC236}">
                <a16:creationId xmlns:a16="http://schemas.microsoft.com/office/drawing/2014/main" id="{37F0001D-5059-3100-9187-3D140C7ED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65600"/>
            <a:ext cx="1780041" cy="238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380048-557F-6F5A-ED30-467DD045F4E9}"/>
              </a:ext>
            </a:extLst>
          </p:cNvPr>
          <p:cNvSpPr txBox="1"/>
          <p:nvPr/>
        </p:nvSpPr>
        <p:spPr>
          <a:xfrm>
            <a:off x="2635942" y="4066452"/>
            <a:ext cx="51961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Cimzia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Vermindert</a:t>
            </a:r>
            <a:r>
              <a:rPr lang="en-US" dirty="0"/>
              <a:t> </a:t>
            </a:r>
            <a:r>
              <a:rPr lang="en-US" dirty="0" err="1"/>
              <a:t>werking</a:t>
            </a:r>
            <a:r>
              <a:rPr lang="en-US" dirty="0"/>
              <a:t> </a:t>
            </a:r>
            <a:r>
              <a:rPr lang="en-US" dirty="0" err="1"/>
              <a:t>immuunsysteem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Reumamiddel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Ontstekingsremmer</a:t>
            </a:r>
            <a:r>
              <a:rPr lang="en-US" dirty="0"/>
              <a:t> </a:t>
            </a:r>
            <a:r>
              <a:rPr lang="en-US" dirty="0" err="1"/>
              <a:t>reumatoïde</a:t>
            </a:r>
            <a:r>
              <a:rPr lang="en-US" dirty="0"/>
              <a:t> </a:t>
            </a:r>
            <a:r>
              <a:rPr lang="en-US" dirty="0" err="1"/>
              <a:t>artritis</a:t>
            </a:r>
            <a:r>
              <a:rPr lang="en-US" dirty="0"/>
              <a:t> &amp; </a:t>
            </a:r>
            <a:r>
              <a:rPr lang="en-US" dirty="0" err="1"/>
              <a:t>artritis</a:t>
            </a:r>
            <a:r>
              <a:rPr lang="en-US" dirty="0"/>
              <a:t> </a:t>
            </a:r>
            <a:r>
              <a:rPr lang="en-US" dirty="0" err="1"/>
              <a:t>psoriatica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</a:t>
            </a:r>
            <a:r>
              <a:rPr lang="en-US" dirty="0" err="1"/>
              <a:t>miljard</a:t>
            </a:r>
            <a:r>
              <a:rPr lang="en-US" dirty="0"/>
              <a:t> $ /</a:t>
            </a:r>
            <a:r>
              <a:rPr lang="en-US" dirty="0" err="1"/>
              <a:t>jaar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geen</a:t>
            </a:r>
            <a:r>
              <a:rPr lang="en-US" dirty="0"/>
              <a:t> biosimilar op </a:t>
            </a:r>
            <a:r>
              <a:rPr lang="en-US" dirty="0" err="1"/>
              <a:t>markt</a:t>
            </a:r>
            <a:r>
              <a:rPr lang="en-US" dirty="0"/>
              <a:t> tot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2024 </a:t>
            </a:r>
            <a:r>
              <a:rPr lang="en-US" dirty="0" err="1"/>
              <a:t>vervalt</a:t>
            </a:r>
            <a:r>
              <a:rPr lang="en-US" dirty="0"/>
              <a:t> patent in Europa </a:t>
            </a:r>
            <a:r>
              <a:rPr lang="en-US" dirty="0" err="1"/>
              <a:t>en</a:t>
            </a:r>
            <a:r>
              <a:rPr lang="en-US" dirty="0"/>
              <a:t> VS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2026 </a:t>
            </a:r>
            <a:r>
              <a:rPr lang="en-US" dirty="0" err="1"/>
              <a:t>vervalt</a:t>
            </a:r>
            <a:r>
              <a:rPr lang="en-US" dirty="0"/>
              <a:t> patent in Japan</a:t>
            </a:r>
            <a:endParaRPr lang="fr-FR" dirty="0"/>
          </a:p>
          <a:p>
            <a:endParaRPr lang="fr-FR" dirty="0"/>
          </a:p>
        </p:txBody>
      </p:sp>
      <p:pic>
        <p:nvPicPr>
          <p:cNvPr id="9222" name="Picture 6" descr="compendium.ch">
            <a:extLst>
              <a:ext uri="{FF2B5EF4-FFF2-40B4-BE49-F238E27FC236}">
                <a16:creationId xmlns:a16="http://schemas.microsoft.com/office/drawing/2014/main" id="{CF8DC5E5-739D-B2EE-FF15-842C270E7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188" y="1610801"/>
            <a:ext cx="1915975" cy="216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95EE48-B760-FD72-46C7-2269644B15B4}"/>
              </a:ext>
            </a:extLst>
          </p:cNvPr>
          <p:cNvSpPr txBox="1"/>
          <p:nvPr/>
        </p:nvSpPr>
        <p:spPr>
          <a:xfrm>
            <a:off x="9227127" y="1875354"/>
            <a:ext cx="90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Bimzlex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24C6D-F9E8-8DC7-C391-8737259F4120}"/>
              </a:ext>
            </a:extLst>
          </p:cNvPr>
          <p:cNvSpPr txBox="1"/>
          <p:nvPr/>
        </p:nvSpPr>
        <p:spPr>
          <a:xfrm>
            <a:off x="8113485" y="4301706"/>
            <a:ext cx="375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/>
              <a:t>Behandeld</a:t>
            </a:r>
            <a:r>
              <a:rPr lang="en-US" u="sng" dirty="0"/>
              <a:t> </a:t>
            </a:r>
            <a:r>
              <a:rPr lang="en-US" u="sng" dirty="0" err="1"/>
              <a:t>volgende</a:t>
            </a:r>
            <a:r>
              <a:rPr lang="en-US" u="sng" dirty="0"/>
              <a:t> </a:t>
            </a:r>
            <a:r>
              <a:rPr lang="en-US" u="sng" dirty="0" err="1"/>
              <a:t>aandoeningen</a:t>
            </a:r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Pijn</a:t>
            </a:r>
            <a:r>
              <a:rPr lang="en-US" dirty="0"/>
              <a:t>/</a:t>
            </a:r>
            <a:r>
              <a:rPr lang="en-US" dirty="0" err="1"/>
              <a:t>ontsteking</a:t>
            </a:r>
            <a:r>
              <a:rPr lang="en-US" dirty="0"/>
              <a:t> </a:t>
            </a:r>
            <a:r>
              <a:rPr lang="en-US" dirty="0" err="1"/>
              <a:t>gewrichten</a:t>
            </a:r>
            <a:br>
              <a:rPr lang="en-US" dirty="0"/>
            </a:br>
            <a:r>
              <a:rPr lang="en-US" dirty="0" err="1"/>
              <a:t>spondyloartritis</a:t>
            </a:r>
            <a:r>
              <a:rPr lang="en-US" dirty="0"/>
              <a:t>, </a:t>
            </a:r>
            <a:r>
              <a:rPr lang="en-US" dirty="0" err="1"/>
              <a:t>reumatoïde</a:t>
            </a:r>
            <a:r>
              <a:rPr lang="en-US" dirty="0"/>
              <a:t> </a:t>
            </a:r>
            <a:r>
              <a:rPr lang="en-US" dirty="0" err="1"/>
              <a:t>artritis</a:t>
            </a:r>
            <a:r>
              <a:rPr lang="en-US" dirty="0"/>
              <a:t>, </a:t>
            </a:r>
            <a:r>
              <a:rPr lang="en-US" dirty="0" err="1"/>
              <a:t>artristis</a:t>
            </a:r>
            <a:r>
              <a:rPr lang="en-US" dirty="0"/>
              <a:t> </a:t>
            </a:r>
            <a:r>
              <a:rPr lang="en-US" dirty="0" err="1"/>
              <a:t>psoriatica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Rode </a:t>
            </a:r>
            <a:r>
              <a:rPr lang="en-US" dirty="0" err="1"/>
              <a:t>schilferige</a:t>
            </a:r>
            <a:r>
              <a:rPr lang="en-US" dirty="0"/>
              <a:t> </a:t>
            </a:r>
            <a:r>
              <a:rPr lang="en-US" dirty="0" err="1"/>
              <a:t>plekken</a:t>
            </a:r>
            <a:r>
              <a:rPr lang="en-US" dirty="0"/>
              <a:t> op </a:t>
            </a:r>
            <a:r>
              <a:rPr lang="en-US" dirty="0" err="1"/>
              <a:t>huid</a:t>
            </a:r>
            <a:br>
              <a:rPr lang="en-US" dirty="0"/>
            </a:br>
            <a:r>
              <a:rPr lang="en-US" dirty="0" err="1"/>
              <a:t>artritis</a:t>
            </a:r>
            <a:r>
              <a:rPr lang="en-US" dirty="0"/>
              <a:t> </a:t>
            </a:r>
            <a:r>
              <a:rPr lang="en-US" dirty="0" err="1"/>
              <a:t>psoriatica</a:t>
            </a:r>
            <a:r>
              <a:rPr lang="en-US" dirty="0"/>
              <a:t>, plaque-psoriasis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Ziekte</a:t>
            </a:r>
            <a:r>
              <a:rPr lang="en-US" dirty="0"/>
              <a:t> van Crohn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85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230A-8D9A-95FE-0F58-1D03F40BF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FDA9F681-B17C-E6D1-58C6-1FA59C62C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64" y="783772"/>
            <a:ext cx="10335872" cy="5574122"/>
          </a:xfrm>
        </p:spPr>
      </p:pic>
    </p:spTree>
    <p:extLst>
      <p:ext uri="{BB962C8B-B14F-4D97-AF65-F5344CB8AC3E}">
        <p14:creationId xmlns:p14="http://schemas.microsoft.com/office/powerpoint/2010/main" val="2335512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FE64-F934-85D3-5BAB-1CC92DA2E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E33B318F-6D32-0ED6-D9B8-50AE9D3DA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583" y="562057"/>
            <a:ext cx="9098834" cy="5930818"/>
          </a:xfrm>
        </p:spPr>
      </p:pic>
    </p:spTree>
    <p:extLst>
      <p:ext uri="{BB962C8B-B14F-4D97-AF65-F5344CB8AC3E}">
        <p14:creationId xmlns:p14="http://schemas.microsoft.com/office/powerpoint/2010/main" val="366810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BED7-8AE4-F25C-09C7-92FE9A80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Bimzelx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EU Approves Bimekizumab for PsA and AxSpA">
            <a:extLst>
              <a:ext uri="{FF2B5EF4-FFF2-40B4-BE49-F238E27FC236}">
                <a16:creationId xmlns:a16="http://schemas.microsoft.com/office/drawing/2014/main" id="{21684B9F-774B-8A9D-1145-9D9CFB588E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0" y="1690688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844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1538-84BE-B81B-C99B-80A9C18B4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Bimzelx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62" name="Picture 2" descr="Bimekizumab Positive Results Confirmed in Second Phase 3 Psoriasis ...">
            <a:extLst>
              <a:ext uri="{FF2B5EF4-FFF2-40B4-BE49-F238E27FC236}">
                <a16:creationId xmlns:a16="http://schemas.microsoft.com/office/drawing/2014/main" id="{A0100984-2DA3-11EE-A2FE-3388FACD43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798" y="2782667"/>
            <a:ext cx="7786403" cy="332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789537-10F9-80E7-D861-E69163C5D6A0}"/>
              </a:ext>
            </a:extLst>
          </p:cNvPr>
          <p:cNvSpPr txBox="1"/>
          <p:nvPr/>
        </p:nvSpPr>
        <p:spPr>
          <a:xfrm>
            <a:off x="378922" y="1913512"/>
            <a:ext cx="114341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Bimekizumab</a:t>
            </a:r>
            <a:r>
              <a:rPr lang="en-US" dirty="0"/>
              <a:t> (</a:t>
            </a:r>
            <a:r>
              <a:rPr lang="en-US" dirty="0" err="1"/>
              <a:t>antilichaam</a:t>
            </a:r>
            <a:r>
              <a:rPr lang="en-US" dirty="0"/>
              <a:t>) </a:t>
            </a:r>
            <a:r>
              <a:rPr lang="en-US" dirty="0" err="1"/>
              <a:t>hecht</a:t>
            </a:r>
            <a:r>
              <a:rPr lang="en-US" dirty="0"/>
              <a:t> </a:t>
            </a:r>
            <a:r>
              <a:rPr lang="en-US" dirty="0" err="1"/>
              <a:t>zich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interleukinen</a:t>
            </a:r>
            <a:r>
              <a:rPr lang="en-US" dirty="0"/>
              <a:t> (</a:t>
            </a:r>
            <a:r>
              <a:rPr lang="en-US" dirty="0" err="1"/>
              <a:t>boodschappermoleculen</a:t>
            </a:r>
            <a:r>
              <a:rPr lang="en-US" dirty="0"/>
              <a:t>) -&gt; </a:t>
            </a:r>
            <a:r>
              <a:rPr lang="en-US" dirty="0" err="1"/>
              <a:t>voorkomt</a:t>
            </a:r>
            <a:r>
              <a:rPr lang="en-US" dirty="0"/>
              <a:t> </a:t>
            </a:r>
            <a:r>
              <a:rPr lang="en-US" dirty="0" err="1"/>
              <a:t>interactie</a:t>
            </a:r>
            <a:r>
              <a:rPr lang="en-US" dirty="0"/>
              <a:t> met receptor </a:t>
            </a:r>
          </a:p>
          <a:p>
            <a:r>
              <a:rPr lang="en-US" dirty="0"/>
              <a:t>Minder </a:t>
            </a:r>
            <a:r>
              <a:rPr lang="en-US" dirty="0" err="1"/>
              <a:t>interleukinen</a:t>
            </a:r>
            <a:r>
              <a:rPr lang="en-US" dirty="0"/>
              <a:t> = minder </a:t>
            </a:r>
            <a:r>
              <a:rPr lang="en-US" dirty="0" err="1"/>
              <a:t>ontwikkeling</a:t>
            </a:r>
            <a:r>
              <a:rPr lang="en-US" dirty="0"/>
              <a:t> </a:t>
            </a:r>
            <a:r>
              <a:rPr lang="en-US" dirty="0" err="1"/>
              <a:t>ontstekingsziekten</a:t>
            </a:r>
            <a:r>
              <a:rPr lang="en-US" dirty="0"/>
              <a:t> van </a:t>
            </a:r>
            <a:r>
              <a:rPr lang="en-US" dirty="0" err="1"/>
              <a:t>immuunsysteem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6384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49F89-FC03-1F45-7AB2-2946C4F27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Bimzelx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6637-309D-48D6-F049-9AF5DA166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10" y="1208448"/>
            <a:ext cx="10515600" cy="515078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err="1"/>
              <a:t>Behandelt</a:t>
            </a:r>
            <a:r>
              <a:rPr lang="en-US" sz="2400" dirty="0"/>
              <a:t>:</a:t>
            </a:r>
            <a:endParaRPr lang="en-US" sz="2400">
              <a:cs typeface="Calibri"/>
            </a:endParaRPr>
          </a:p>
          <a:p>
            <a:r>
              <a:rPr lang="en-US" sz="2400" dirty="0"/>
              <a:t>plaque-psoriasis</a:t>
            </a:r>
            <a:br>
              <a:rPr lang="en-US" sz="2400" dirty="0"/>
            </a:br>
            <a:r>
              <a:rPr lang="en-US" sz="2400" err="1"/>
              <a:t>Bijna</a:t>
            </a:r>
            <a:r>
              <a:rPr lang="en-US" sz="2400" dirty="0"/>
              <a:t> gave </a:t>
            </a:r>
            <a:r>
              <a:rPr lang="en-US" sz="2400" err="1"/>
              <a:t>huid</a:t>
            </a:r>
            <a:r>
              <a:rPr lang="en-US" sz="2400" dirty="0"/>
              <a:t> </a:t>
            </a:r>
            <a:r>
              <a:rPr lang="en-US" sz="2400" err="1"/>
              <a:t>na</a:t>
            </a:r>
            <a:r>
              <a:rPr lang="en-US" sz="2400" dirty="0"/>
              <a:t> 16 </a:t>
            </a:r>
            <a:r>
              <a:rPr lang="en-US" sz="2400" err="1"/>
              <a:t>weken</a:t>
            </a:r>
            <a:br>
              <a:rPr lang="en-US" sz="2400" dirty="0"/>
            </a:br>
            <a:r>
              <a:rPr lang="en-US" sz="2400" dirty="0"/>
              <a:t>-&gt; 85-91% </a:t>
            </a:r>
            <a:r>
              <a:rPr lang="en-US" sz="2400" err="1"/>
              <a:t>patiënten</a:t>
            </a:r>
            <a:r>
              <a:rPr lang="en-US" sz="2400" dirty="0"/>
              <a:t> (</a:t>
            </a:r>
            <a:r>
              <a:rPr lang="en-US" sz="2400" err="1"/>
              <a:t>Bimzalx</a:t>
            </a:r>
            <a:r>
              <a:rPr lang="en-US" sz="2400" dirty="0"/>
              <a:t>)</a:t>
            </a:r>
            <a:br>
              <a:rPr lang="en-US" sz="2400" dirty="0"/>
            </a:br>
            <a:r>
              <a:rPr lang="en-US" sz="2400" dirty="0"/>
              <a:t>-&gt; </a:t>
            </a:r>
            <a:r>
              <a:rPr lang="en-US" sz="2400" err="1"/>
              <a:t>andere</a:t>
            </a:r>
            <a:r>
              <a:rPr lang="en-US" sz="2400" dirty="0"/>
              <a:t> </a:t>
            </a:r>
            <a:r>
              <a:rPr lang="en-US" sz="2400" err="1"/>
              <a:t>geneesmiddelen</a:t>
            </a:r>
            <a:r>
              <a:rPr lang="en-US" sz="2400" dirty="0"/>
              <a:t> max 74% (</a:t>
            </a:r>
            <a:r>
              <a:rPr lang="en-US" sz="2400" err="1"/>
              <a:t>Cosentyl</a:t>
            </a:r>
            <a:r>
              <a:rPr lang="en-US" sz="2400" dirty="0"/>
              <a:t>, Novartis)</a:t>
            </a:r>
            <a:endParaRPr lang="en-US" sz="2400">
              <a:cs typeface="Calibri"/>
            </a:endParaRPr>
          </a:p>
          <a:p>
            <a:r>
              <a:rPr lang="en-US" sz="2400" err="1"/>
              <a:t>artritisch</a:t>
            </a:r>
            <a:r>
              <a:rPr lang="en-US" sz="2400" dirty="0"/>
              <a:t> </a:t>
            </a:r>
            <a:r>
              <a:rPr lang="en-US" sz="2400" err="1"/>
              <a:t>psoriatica</a:t>
            </a:r>
            <a:br>
              <a:rPr lang="en-US" sz="2400" dirty="0"/>
            </a:br>
            <a:r>
              <a:rPr lang="en-US" sz="2400" dirty="0"/>
              <a:t>-&gt; 44% </a:t>
            </a:r>
            <a:r>
              <a:rPr lang="en-US" sz="2400" err="1"/>
              <a:t>patiënten</a:t>
            </a:r>
            <a:r>
              <a:rPr lang="en-US" sz="2400" dirty="0"/>
              <a:t> </a:t>
            </a:r>
            <a:r>
              <a:rPr lang="en-US" sz="2400" err="1"/>
              <a:t>na</a:t>
            </a:r>
            <a:r>
              <a:rPr lang="en-US" sz="2400" dirty="0"/>
              <a:t> 16 </a:t>
            </a:r>
            <a:r>
              <a:rPr lang="en-US" sz="2400" err="1"/>
              <a:t>weken</a:t>
            </a:r>
            <a:r>
              <a:rPr lang="en-US" sz="2400" dirty="0"/>
              <a:t> </a:t>
            </a:r>
            <a:r>
              <a:rPr lang="en-US" sz="2400" err="1"/>
              <a:t>krijgen</a:t>
            </a:r>
            <a:r>
              <a:rPr lang="en-US" sz="2400" dirty="0"/>
              <a:t> </a:t>
            </a:r>
            <a:r>
              <a:rPr lang="en-US" sz="2400" err="1"/>
              <a:t>verbetering</a:t>
            </a:r>
            <a:r>
              <a:rPr lang="en-US" sz="2400" dirty="0"/>
              <a:t> van </a:t>
            </a:r>
            <a:r>
              <a:rPr lang="en-US" sz="2400" err="1"/>
              <a:t>minstens</a:t>
            </a:r>
            <a:r>
              <a:rPr lang="en-US" sz="2400" dirty="0"/>
              <a:t> 50%</a:t>
            </a:r>
            <a:br>
              <a:rPr lang="en-US" sz="2400" dirty="0"/>
            </a:br>
            <a:r>
              <a:rPr lang="en-US" sz="2400" err="1"/>
              <a:t>gewrichtspijn</a:t>
            </a:r>
            <a:r>
              <a:rPr lang="en-US" sz="2400" dirty="0"/>
              <a:t> &amp; </a:t>
            </a:r>
            <a:r>
              <a:rPr lang="en-US" sz="2400" err="1"/>
              <a:t>zwelling</a:t>
            </a:r>
            <a:endParaRPr lang="en-US" sz="2400">
              <a:cs typeface="Calibri"/>
            </a:endParaRPr>
          </a:p>
          <a:p>
            <a:r>
              <a:rPr lang="en-US" sz="2400" err="1"/>
              <a:t>axiale</a:t>
            </a:r>
            <a:r>
              <a:rPr lang="en-US" sz="2400" dirty="0"/>
              <a:t> </a:t>
            </a:r>
            <a:r>
              <a:rPr lang="en-US" sz="2400" err="1"/>
              <a:t>spondyloartritis</a:t>
            </a:r>
            <a:br>
              <a:rPr lang="en-US" sz="2400" dirty="0"/>
            </a:br>
            <a:r>
              <a:rPr lang="en-US" sz="2400" dirty="0"/>
              <a:t>-&gt; 48% </a:t>
            </a:r>
            <a:r>
              <a:rPr lang="en-US" sz="2400" err="1"/>
              <a:t>patiënten</a:t>
            </a:r>
            <a:r>
              <a:rPr lang="en-US" sz="2400" dirty="0"/>
              <a:t> 40-45% </a:t>
            </a:r>
            <a:r>
              <a:rPr lang="en-US" sz="2400" err="1"/>
              <a:t>verbetering</a:t>
            </a:r>
            <a:r>
              <a:rPr lang="en-US" sz="2400" dirty="0"/>
              <a:t> </a:t>
            </a:r>
            <a:r>
              <a:rPr lang="en-US" sz="2400" err="1"/>
              <a:t>pijn</a:t>
            </a:r>
            <a:r>
              <a:rPr lang="en-US" sz="2400" dirty="0"/>
              <a:t> &amp; </a:t>
            </a:r>
            <a:r>
              <a:rPr lang="en-US" sz="2400" err="1"/>
              <a:t>ontsteking</a:t>
            </a:r>
            <a:endParaRPr lang="en-US" sz="2400">
              <a:cs typeface="Calibri"/>
            </a:endParaRPr>
          </a:p>
          <a:p>
            <a:r>
              <a:rPr lang="en-US" sz="2400" dirty="0"/>
              <a:t>hidradenitis  suppurativa</a:t>
            </a:r>
            <a:br>
              <a:rPr lang="en-US" sz="2400" dirty="0"/>
            </a:br>
            <a:r>
              <a:rPr lang="en-US" sz="2400" dirty="0"/>
              <a:t>-&gt; </a:t>
            </a:r>
            <a:r>
              <a:rPr lang="en-US" sz="2400" err="1"/>
              <a:t>weinig</a:t>
            </a:r>
            <a:r>
              <a:rPr lang="en-US" sz="2400" dirty="0"/>
              <a:t> </a:t>
            </a:r>
            <a:r>
              <a:rPr lang="en-US" sz="2400" err="1"/>
              <a:t>geneesmiddelen</a:t>
            </a:r>
            <a:r>
              <a:rPr lang="en-US" sz="2400" dirty="0"/>
              <a:t> op de </a:t>
            </a:r>
            <a:r>
              <a:rPr lang="en-US" sz="2400" err="1"/>
              <a:t>markt</a:t>
            </a:r>
            <a:br>
              <a:rPr lang="en-US" sz="2400" dirty="0"/>
            </a:br>
            <a:r>
              <a:rPr lang="en-US" sz="2400" dirty="0"/>
              <a:t>-&gt; </a:t>
            </a:r>
            <a:r>
              <a:rPr lang="en-US" sz="2400" err="1"/>
              <a:t>Bimzelx</a:t>
            </a:r>
            <a:r>
              <a:rPr lang="en-US" sz="2400" dirty="0"/>
              <a:t> </a:t>
            </a:r>
            <a:r>
              <a:rPr lang="en-US" sz="2400" err="1"/>
              <a:t>resultaten</a:t>
            </a:r>
            <a:r>
              <a:rPr lang="en-US" sz="2400" dirty="0"/>
              <a:t> </a:t>
            </a:r>
            <a:r>
              <a:rPr lang="en-US" sz="2400" err="1"/>
              <a:t>superieur</a:t>
            </a:r>
            <a:r>
              <a:rPr lang="en-US" sz="2400" dirty="0"/>
              <a:t> op </a:t>
            </a:r>
            <a:r>
              <a:rPr lang="en-US" sz="2400" err="1"/>
              <a:t>lange</a:t>
            </a:r>
            <a:r>
              <a:rPr lang="en-US" sz="2400" dirty="0"/>
              <a:t> </a:t>
            </a:r>
            <a:r>
              <a:rPr lang="en-US" sz="2400" err="1"/>
              <a:t>termijn</a:t>
            </a:r>
            <a:br>
              <a:rPr lang="en-US" sz="2400" dirty="0"/>
            </a:br>
            <a:r>
              <a:rPr lang="en-US" sz="2400" dirty="0"/>
              <a:t>-&gt; 75% </a:t>
            </a:r>
            <a:r>
              <a:rPr lang="en-US" sz="2400" err="1"/>
              <a:t>patiënten</a:t>
            </a:r>
            <a:r>
              <a:rPr lang="en-US" sz="2400" dirty="0"/>
              <a:t> </a:t>
            </a:r>
            <a:r>
              <a:rPr lang="en-US" sz="2400" err="1"/>
              <a:t>na</a:t>
            </a:r>
            <a:r>
              <a:rPr lang="en-US" sz="2400" dirty="0"/>
              <a:t> 48 </a:t>
            </a:r>
            <a:r>
              <a:rPr lang="en-US" sz="2400" err="1"/>
              <a:t>weken</a:t>
            </a:r>
            <a:r>
              <a:rPr lang="en-US" sz="2400" dirty="0"/>
              <a:t> </a:t>
            </a:r>
            <a:r>
              <a:rPr lang="en-US" sz="2400" err="1"/>
              <a:t>minstens</a:t>
            </a:r>
            <a:r>
              <a:rPr lang="en-US" sz="2400" dirty="0"/>
              <a:t> 50% </a:t>
            </a:r>
            <a:r>
              <a:rPr lang="en-US" sz="2400" err="1"/>
              <a:t>afname</a:t>
            </a:r>
            <a:r>
              <a:rPr lang="en-US" sz="2400" dirty="0"/>
              <a:t> </a:t>
            </a:r>
            <a:r>
              <a:rPr lang="en-US" sz="2400" err="1"/>
              <a:t>bultjes</a:t>
            </a:r>
            <a:br>
              <a:rPr lang="en-US" sz="2400" dirty="0"/>
            </a:br>
            <a:r>
              <a:rPr lang="en-US" sz="2400" dirty="0"/>
              <a:t>-&gt; 50% </a:t>
            </a:r>
            <a:r>
              <a:rPr lang="en-US" sz="2400" err="1"/>
              <a:t>patiënten</a:t>
            </a:r>
            <a:r>
              <a:rPr lang="en-US" sz="2400" dirty="0"/>
              <a:t> </a:t>
            </a:r>
            <a:r>
              <a:rPr lang="en-US" sz="2400" err="1"/>
              <a:t>na</a:t>
            </a:r>
            <a:r>
              <a:rPr lang="en-US" sz="2400" dirty="0"/>
              <a:t> 48 </a:t>
            </a:r>
            <a:r>
              <a:rPr lang="en-US" sz="2400" err="1"/>
              <a:t>weken</a:t>
            </a:r>
            <a:r>
              <a:rPr lang="en-US" sz="2400" dirty="0"/>
              <a:t> </a:t>
            </a:r>
            <a:r>
              <a:rPr lang="en-US" sz="2400" err="1"/>
              <a:t>minstens</a:t>
            </a:r>
            <a:r>
              <a:rPr lang="en-US" sz="2400" dirty="0"/>
              <a:t> 75% </a:t>
            </a:r>
            <a:r>
              <a:rPr lang="en-US" sz="2400" err="1"/>
              <a:t>afname</a:t>
            </a:r>
            <a:r>
              <a:rPr lang="en-US" sz="2400" dirty="0"/>
              <a:t> </a:t>
            </a:r>
            <a:r>
              <a:rPr lang="en-US" sz="2400" err="1"/>
              <a:t>bultjes</a:t>
            </a:r>
            <a:br>
              <a:rPr lang="en-US" sz="3100" dirty="0"/>
            </a:b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3693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7802-AB22-8477-0953-FB7AA767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KBC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analisten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1D257-F9C6-C23E-5D3D-2E4B33E78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Plaque-psoriasis </a:t>
            </a:r>
            <a:r>
              <a:rPr lang="en-US" dirty="0" err="1"/>
              <a:t>enorme</a:t>
            </a:r>
            <a:r>
              <a:rPr lang="en-US" dirty="0"/>
              <a:t> </a:t>
            </a:r>
            <a:r>
              <a:rPr lang="en-US" dirty="0" err="1"/>
              <a:t>markt</a:t>
            </a:r>
            <a:br>
              <a:rPr lang="en-US" dirty="0"/>
            </a:br>
            <a:r>
              <a:rPr lang="en-US" dirty="0"/>
              <a:t>-&gt; 2021: </a:t>
            </a:r>
            <a:r>
              <a:rPr lang="en-US" dirty="0" err="1"/>
              <a:t>omzet</a:t>
            </a:r>
            <a:r>
              <a:rPr lang="en-US" dirty="0"/>
              <a:t> 23,8 </a:t>
            </a:r>
            <a:r>
              <a:rPr lang="en-US" dirty="0" err="1"/>
              <a:t>miljard</a:t>
            </a:r>
            <a:r>
              <a:rPr lang="en-US" dirty="0"/>
              <a:t> $</a:t>
            </a:r>
            <a:br>
              <a:rPr lang="en-US" dirty="0"/>
            </a:br>
            <a:r>
              <a:rPr lang="en-US" dirty="0"/>
              <a:t>-&gt; </a:t>
            </a:r>
            <a:r>
              <a:rPr lang="en-US" dirty="0" err="1"/>
              <a:t>piekomzet</a:t>
            </a:r>
            <a:r>
              <a:rPr lang="en-US" dirty="0"/>
              <a:t> van </a:t>
            </a:r>
            <a:r>
              <a:rPr lang="en-US" dirty="0" err="1"/>
              <a:t>Bimzelx</a:t>
            </a:r>
            <a:r>
              <a:rPr lang="en-US" dirty="0"/>
              <a:t> = 1,3 </a:t>
            </a:r>
            <a:r>
              <a:rPr lang="en-US" dirty="0" err="1"/>
              <a:t>miljard</a:t>
            </a:r>
            <a:r>
              <a:rPr lang="en-US" dirty="0"/>
              <a:t> euro</a:t>
            </a:r>
          </a:p>
          <a:p>
            <a:r>
              <a:rPr lang="en-US" dirty="0" err="1"/>
              <a:t>Hidradentis</a:t>
            </a:r>
            <a:r>
              <a:rPr lang="en-US" dirty="0"/>
              <a:t> suppurativa: </a:t>
            </a:r>
            <a:br>
              <a:rPr lang="en-US" dirty="0"/>
            </a:br>
            <a:r>
              <a:rPr lang="en-US" dirty="0" err="1"/>
              <a:t>totale</a:t>
            </a:r>
            <a:r>
              <a:rPr lang="en-US" dirty="0"/>
              <a:t> </a:t>
            </a:r>
            <a:r>
              <a:rPr lang="en-US" dirty="0" err="1"/>
              <a:t>verkoop</a:t>
            </a:r>
            <a:r>
              <a:rPr lang="en-US" dirty="0"/>
              <a:t> 900 </a:t>
            </a:r>
            <a:r>
              <a:rPr lang="en-US" dirty="0" err="1"/>
              <a:t>miljoen</a:t>
            </a:r>
            <a:r>
              <a:rPr lang="en-US" dirty="0"/>
              <a:t> dollar</a:t>
            </a:r>
            <a:br>
              <a:rPr lang="en-US" dirty="0"/>
            </a:br>
            <a:r>
              <a:rPr lang="en-US" dirty="0" err="1"/>
              <a:t>jaarlijks</a:t>
            </a:r>
            <a:r>
              <a:rPr lang="en-US" dirty="0"/>
              <a:t> 7% </a:t>
            </a:r>
            <a:r>
              <a:rPr lang="en-US" dirty="0" err="1"/>
              <a:t>groei</a:t>
            </a:r>
            <a:br>
              <a:rPr lang="en-US" dirty="0"/>
            </a:br>
            <a:r>
              <a:rPr lang="en-US" dirty="0" err="1"/>
              <a:t>potentiële</a:t>
            </a:r>
            <a:r>
              <a:rPr lang="en-US" dirty="0"/>
              <a:t> </a:t>
            </a:r>
            <a:r>
              <a:rPr lang="en-US" dirty="0" err="1"/>
              <a:t>marktomvang</a:t>
            </a:r>
            <a:r>
              <a:rPr lang="en-US" dirty="0"/>
              <a:t>: 2,8 </a:t>
            </a:r>
            <a:r>
              <a:rPr lang="en-US" dirty="0" err="1"/>
              <a:t>miljard</a:t>
            </a:r>
            <a:r>
              <a:rPr lang="en-US" dirty="0"/>
              <a:t> $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=&gt; 3,2 </a:t>
            </a:r>
            <a:r>
              <a:rPr lang="en-US" dirty="0" err="1"/>
              <a:t>miljard</a:t>
            </a:r>
            <a:r>
              <a:rPr lang="en-US" dirty="0"/>
              <a:t> euro </a:t>
            </a:r>
            <a:r>
              <a:rPr lang="en-US" dirty="0" err="1"/>
              <a:t>inkomsten</a:t>
            </a:r>
            <a:br>
              <a:rPr lang="en-US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9575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0453-784D-1E3D-EF8F-BA916A81D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32429" y="223494"/>
            <a:ext cx="10515600" cy="1325563"/>
          </a:xfrm>
        </p:spPr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Bimzelx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BAF9D-77ED-0F80-8076-DEC492993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549057"/>
            <a:ext cx="7449457" cy="4351338"/>
          </a:xfrm>
        </p:spPr>
        <p:txBody>
          <a:bodyPr/>
          <a:lstStyle/>
          <a:p>
            <a:r>
              <a:rPr lang="en-US" dirty="0"/>
              <a:t>18 </a:t>
            </a:r>
            <a:r>
              <a:rPr lang="en-US" dirty="0" err="1"/>
              <a:t>oktober</a:t>
            </a:r>
            <a:r>
              <a:rPr lang="en-US" dirty="0"/>
              <a:t> 2023: </a:t>
            </a:r>
            <a:r>
              <a:rPr lang="en-US" dirty="0" err="1"/>
              <a:t>goedkeuring</a:t>
            </a:r>
            <a:r>
              <a:rPr lang="en-US" dirty="0"/>
              <a:t> FDA </a:t>
            </a:r>
            <a:r>
              <a:rPr lang="en-US" dirty="0" err="1"/>
              <a:t>voor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plaque-psoriasis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fr-FR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992851E-CFE0-6DB6-8803-FBC2C0F32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862" y="-2199060"/>
            <a:ext cx="7714906" cy="883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66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4F50-146A-9F99-13CE-16C90172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" name="Content Placeholder 8" descr="A screenshot of a medical report&#10;&#10;Description automatically generated">
            <a:extLst>
              <a:ext uri="{FF2B5EF4-FFF2-40B4-BE49-F238E27FC236}">
                <a16:creationId xmlns:a16="http://schemas.microsoft.com/office/drawing/2014/main" id="{C6210F8E-451E-FC12-A78A-E7A25A9E2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88" y="1553537"/>
            <a:ext cx="4800854" cy="3198475"/>
          </a:xfrm>
        </p:spPr>
      </p:pic>
      <p:pic>
        <p:nvPicPr>
          <p:cNvPr id="11" name="Picture 10" descr="A white table with black text&#10;&#10;Description automatically generated">
            <a:extLst>
              <a:ext uri="{FF2B5EF4-FFF2-40B4-BE49-F238E27FC236}">
                <a16:creationId xmlns:a16="http://schemas.microsoft.com/office/drawing/2014/main" id="{67C9B681-15D2-D339-2BAE-0D3E48346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642" y="1553538"/>
            <a:ext cx="6633029" cy="319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78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CDF9-322E-6AC5-05D2-AC1C6943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" name="Content Placeholder 8" descr="A graph with numbers and arrows&#10;&#10;Description automatically generated">
            <a:extLst>
              <a:ext uri="{FF2B5EF4-FFF2-40B4-BE49-F238E27FC236}">
                <a16:creationId xmlns:a16="http://schemas.microsoft.com/office/drawing/2014/main" id="{522831DB-8B78-3D0E-4E6B-3A0D4BD3C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521" y="365125"/>
            <a:ext cx="9322162" cy="414881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EA6F54-A435-D3ED-37DB-9798E16C64A7}"/>
              </a:ext>
            </a:extLst>
          </p:cNvPr>
          <p:cNvSpPr txBox="1"/>
          <p:nvPr/>
        </p:nvSpPr>
        <p:spPr>
          <a:xfrm>
            <a:off x="292264" y="4738549"/>
            <a:ext cx="11796627" cy="203132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Zyrtec (anti-</a:t>
            </a:r>
            <a:r>
              <a:rPr lang="en-US" dirty="0" err="1"/>
              <a:t>allergeen</a:t>
            </a:r>
            <a:r>
              <a:rPr lang="en-US" dirty="0"/>
              <a:t>)</a:t>
            </a:r>
          </a:p>
          <a:p>
            <a:r>
              <a:rPr lang="en-US" dirty="0"/>
              <a:t>4) </a:t>
            </a:r>
            <a:r>
              <a:rPr lang="en-US" dirty="0" err="1"/>
              <a:t>Overname</a:t>
            </a:r>
            <a:r>
              <a:rPr lang="en-US" dirty="0"/>
              <a:t> </a:t>
            </a:r>
            <a:r>
              <a:rPr lang="en-US" dirty="0" err="1"/>
              <a:t>biotechbedrijf</a:t>
            </a:r>
            <a:r>
              <a:rPr lang="en-US" dirty="0"/>
              <a:t> Celltech (Cimzia) </a:t>
            </a:r>
          </a:p>
          <a:p>
            <a:r>
              <a:rPr lang="en-US" dirty="0"/>
              <a:t>5) </a:t>
            </a:r>
            <a:r>
              <a:rPr lang="en-US" dirty="0" err="1"/>
              <a:t>Verval</a:t>
            </a:r>
            <a:r>
              <a:rPr lang="en-US" dirty="0"/>
              <a:t> Keppra &amp; Zyrtec patent  + </a:t>
            </a:r>
            <a:r>
              <a:rPr lang="en-US" dirty="0" err="1"/>
              <a:t>overname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bedrijven</a:t>
            </a:r>
            <a:r>
              <a:rPr lang="en-US" dirty="0"/>
              <a:t> + </a:t>
            </a:r>
            <a:r>
              <a:rPr lang="en-US" dirty="0" err="1"/>
              <a:t>financiële</a:t>
            </a:r>
            <a:r>
              <a:rPr lang="en-US" dirty="0"/>
              <a:t> crisis</a:t>
            </a:r>
          </a:p>
          <a:p>
            <a:r>
              <a:rPr lang="en-US" dirty="0"/>
              <a:t>6/7/8) </a:t>
            </a:r>
            <a:r>
              <a:rPr lang="en-US" dirty="0" err="1"/>
              <a:t>Goedkeuring</a:t>
            </a:r>
            <a:r>
              <a:rPr lang="en-US" dirty="0"/>
              <a:t> Cimzia, Vimpat, </a:t>
            </a:r>
            <a:r>
              <a:rPr lang="en-US" dirty="0" err="1"/>
              <a:t>Neupro</a:t>
            </a:r>
            <a:endParaRPr lang="en-US" dirty="0"/>
          </a:p>
          <a:p>
            <a:r>
              <a:rPr lang="en-US" dirty="0"/>
              <a:t>9/10/11) </a:t>
            </a:r>
            <a:r>
              <a:rPr lang="en-US" dirty="0" err="1"/>
              <a:t>Opkopen</a:t>
            </a:r>
            <a:r>
              <a:rPr lang="en-US" dirty="0"/>
              <a:t> </a:t>
            </a:r>
            <a:r>
              <a:rPr lang="en-US" dirty="0" err="1"/>
              <a:t>farma</a:t>
            </a:r>
            <a:r>
              <a:rPr lang="en-US" dirty="0"/>
              <a:t>-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gentherapiebedrijven</a:t>
            </a:r>
            <a:r>
              <a:rPr lang="en-US" dirty="0"/>
              <a:t> + partnership met </a:t>
            </a:r>
            <a:r>
              <a:rPr lang="en-US" dirty="0" err="1"/>
              <a:t>bedrijven</a:t>
            </a:r>
            <a:r>
              <a:rPr lang="en-US" dirty="0"/>
              <a:t> (Novartis, Genentech,…)</a:t>
            </a:r>
          </a:p>
          <a:p>
            <a:r>
              <a:rPr lang="en-US" dirty="0"/>
              <a:t>12) </a:t>
            </a:r>
            <a:r>
              <a:rPr lang="en-US" dirty="0" err="1"/>
              <a:t>Uitstelling</a:t>
            </a:r>
            <a:r>
              <a:rPr lang="en-US" dirty="0"/>
              <a:t> </a:t>
            </a:r>
            <a:r>
              <a:rPr lang="en-US" dirty="0" err="1"/>
              <a:t>goedkeuring</a:t>
            </a:r>
            <a:r>
              <a:rPr lang="en-US" dirty="0"/>
              <a:t> </a:t>
            </a:r>
            <a:r>
              <a:rPr lang="en-US" dirty="0" err="1"/>
              <a:t>Bimzelx</a:t>
            </a:r>
            <a:r>
              <a:rPr lang="en-US" dirty="0"/>
              <a:t> door FDA + </a:t>
            </a:r>
            <a:r>
              <a:rPr lang="en-US" dirty="0" err="1"/>
              <a:t>potentiële</a:t>
            </a:r>
            <a:r>
              <a:rPr lang="en-US" dirty="0"/>
              <a:t> </a:t>
            </a:r>
            <a:r>
              <a:rPr lang="en-US" dirty="0" err="1"/>
              <a:t>zelfmoordgedachten</a:t>
            </a:r>
            <a:r>
              <a:rPr lang="en-US" dirty="0"/>
              <a:t> in </a:t>
            </a:r>
            <a:r>
              <a:rPr lang="en-US" dirty="0" err="1"/>
              <a:t>bijsluiter</a:t>
            </a:r>
            <a:r>
              <a:rPr lang="en-US" dirty="0"/>
              <a:t> + </a:t>
            </a:r>
            <a:r>
              <a:rPr lang="en-US" dirty="0" err="1"/>
              <a:t>voorspelling</a:t>
            </a:r>
            <a:r>
              <a:rPr lang="en-US" dirty="0"/>
              <a:t> </a:t>
            </a:r>
            <a:r>
              <a:rPr lang="en-US" dirty="0" err="1"/>
              <a:t>lage</a:t>
            </a:r>
            <a:r>
              <a:rPr lang="en-US" dirty="0"/>
              <a:t> </a:t>
            </a:r>
            <a:r>
              <a:rPr lang="en-US" dirty="0" err="1"/>
              <a:t>piekverkopen</a:t>
            </a:r>
            <a:br>
              <a:rPr lang="en-US" dirty="0"/>
            </a:br>
            <a:r>
              <a:rPr lang="en-US" dirty="0"/>
              <a:t>    -&gt; MAAR: psoriasis </a:t>
            </a:r>
            <a:r>
              <a:rPr lang="en-US" dirty="0" err="1"/>
              <a:t>zelf</a:t>
            </a:r>
            <a:r>
              <a:rPr lang="en-US" dirty="0"/>
              <a:t> </a:t>
            </a:r>
            <a:r>
              <a:rPr lang="en-US" dirty="0" err="1"/>
              <a:t>geeft</a:t>
            </a:r>
            <a:r>
              <a:rPr lang="en-US" dirty="0"/>
              <a:t> </a:t>
            </a:r>
            <a:r>
              <a:rPr lang="en-US" dirty="0" err="1"/>
              <a:t>verhoogd</a:t>
            </a:r>
            <a:r>
              <a:rPr lang="en-US" dirty="0"/>
              <a:t> </a:t>
            </a:r>
            <a:r>
              <a:rPr lang="en-US" dirty="0" err="1"/>
              <a:t>risico</a:t>
            </a:r>
            <a:r>
              <a:rPr lang="en-US" dirty="0"/>
              <a:t> op </a:t>
            </a:r>
            <a:r>
              <a:rPr lang="en-US" dirty="0" err="1"/>
              <a:t>depressie</a:t>
            </a:r>
            <a:r>
              <a:rPr lang="en-US" dirty="0"/>
              <a:t> + </a:t>
            </a:r>
            <a:r>
              <a:rPr lang="en-US" dirty="0" err="1"/>
              <a:t>volgens</a:t>
            </a:r>
            <a:r>
              <a:rPr lang="en-US" dirty="0"/>
              <a:t> UCB </a:t>
            </a:r>
            <a:r>
              <a:rPr lang="en-US" dirty="0" err="1"/>
              <a:t>zullen</a:t>
            </a:r>
            <a:r>
              <a:rPr lang="en-US" dirty="0"/>
              <a:t> </a:t>
            </a:r>
            <a:r>
              <a:rPr lang="en-US" dirty="0" err="1"/>
              <a:t>concurrenten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moeten</a:t>
            </a:r>
            <a:r>
              <a:rPr lang="en-US" dirty="0"/>
              <a:t> </a:t>
            </a:r>
            <a:r>
              <a:rPr lang="en-US" dirty="0" err="1"/>
              <a:t>doen</a:t>
            </a:r>
            <a:endParaRPr lang="fr-FR" dirty="0" err="1"/>
          </a:p>
        </p:txBody>
      </p:sp>
    </p:spTree>
    <p:extLst>
      <p:ext uri="{BB962C8B-B14F-4D97-AF65-F5344CB8AC3E}">
        <p14:creationId xmlns:p14="http://schemas.microsoft.com/office/powerpoint/2010/main" val="3925068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C179-CD3C-DD94-8FEC-39A9F1783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083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rial"/>
                <a:cs typeface="Arial"/>
              </a:rPr>
              <a:t>2022</a:t>
            </a:r>
            <a:endParaRPr lang="fr-FR" dirty="0">
              <a:latin typeface="Arial"/>
              <a:cs typeface="Arial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30610C4-A3A7-BC49-ED65-964092DC9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924" y="186106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5,52 </a:t>
            </a:r>
            <a:r>
              <a:rPr lang="en-US" dirty="0" err="1"/>
              <a:t>miljard</a:t>
            </a:r>
            <a:r>
              <a:rPr lang="en-US" dirty="0"/>
              <a:t> euro </a:t>
            </a:r>
            <a:r>
              <a:rPr lang="en-US" dirty="0" err="1"/>
              <a:t>opbrengst</a:t>
            </a:r>
            <a:r>
              <a:rPr lang="en-US" dirty="0"/>
              <a:t> (-4%)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Hogere</a:t>
            </a:r>
            <a:r>
              <a:rPr lang="fr-FR" dirty="0"/>
              <a:t> </a:t>
            </a:r>
            <a:r>
              <a:rPr lang="fr-FR" dirty="0" err="1"/>
              <a:t>uitgaven</a:t>
            </a:r>
            <a:r>
              <a:rPr lang="fr-FR" dirty="0"/>
              <a:t> </a:t>
            </a:r>
            <a:r>
              <a:rPr lang="fr-FR" dirty="0" err="1"/>
              <a:t>aan</a:t>
            </a:r>
            <a:r>
              <a:rPr lang="fr-FR" dirty="0"/>
              <a:t> R&amp;D, S&amp;M, G&amp;A</a:t>
            </a:r>
            <a:br>
              <a:rPr lang="fr-FR" dirty="0"/>
            </a:br>
            <a:r>
              <a:rPr lang="fr-FR" dirty="0"/>
              <a:t>-&gt; </a:t>
            </a:r>
            <a:r>
              <a:rPr lang="fr-FR" dirty="0" err="1"/>
              <a:t>door</a:t>
            </a:r>
            <a:r>
              <a:rPr lang="fr-FR" dirty="0"/>
              <a:t> </a:t>
            </a:r>
            <a:r>
              <a:rPr lang="fr-FR" dirty="0" err="1"/>
              <a:t>aankomende</a:t>
            </a:r>
            <a:r>
              <a:rPr lang="fr-FR" dirty="0"/>
              <a:t> </a:t>
            </a:r>
            <a:r>
              <a:rPr lang="fr-FR" dirty="0" err="1"/>
              <a:t>productlaceringen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8842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DBD44-50A5-F9DD-82B6-4FA0CD67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476B0-E755-259D-0FC4-848E9772E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Minder R&amp;D </a:t>
            </a:r>
            <a:r>
              <a:rPr lang="en-US" dirty="0" err="1"/>
              <a:t>en</a:t>
            </a:r>
            <a:r>
              <a:rPr lang="en-US" dirty="0"/>
              <a:t> G&amp;A </a:t>
            </a:r>
            <a:r>
              <a:rPr lang="en-US" dirty="0" err="1"/>
              <a:t>uitgaven</a:t>
            </a:r>
            <a:endParaRPr lang="en-US" dirty="0"/>
          </a:p>
          <a:p>
            <a:r>
              <a:rPr lang="en-US" dirty="0"/>
              <a:t>Kleine </a:t>
            </a:r>
            <a:r>
              <a:rPr lang="en-US" dirty="0" err="1"/>
              <a:t>stijging</a:t>
            </a:r>
            <a:r>
              <a:rPr lang="en-US" dirty="0"/>
              <a:t> S&amp;M </a:t>
            </a:r>
            <a:r>
              <a:rPr lang="en-US" dirty="0" err="1"/>
              <a:t>kosten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productlancering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=&gt; EBITDA-marge </a:t>
            </a:r>
            <a:r>
              <a:rPr lang="en-US" dirty="0" err="1"/>
              <a:t>naar</a:t>
            </a:r>
            <a:r>
              <a:rPr lang="en-US" dirty="0"/>
              <a:t> 31%</a:t>
            </a:r>
            <a:endParaRPr lang="fr-FR" dirty="0"/>
          </a:p>
        </p:txBody>
      </p:sp>
      <p:pic>
        <p:nvPicPr>
          <p:cNvPr id="4" name="Content Placeholder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657522A-72F1-241E-CFDA-C95A54B61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89" y="3193142"/>
            <a:ext cx="6771554" cy="35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10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C5F4-82D6-8E96-DC7E-9DBF1056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Toekomst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1570E-777F-8160-E255-B00D8A7CD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Cimzia: 2 </a:t>
            </a:r>
            <a:r>
              <a:rPr lang="en-US" dirty="0" err="1"/>
              <a:t>miljard</a:t>
            </a:r>
            <a:r>
              <a:rPr lang="en-US" dirty="0"/>
              <a:t> tot </a:t>
            </a:r>
            <a:r>
              <a:rPr lang="en-US" dirty="0" err="1"/>
              <a:t>minstens</a:t>
            </a:r>
            <a:r>
              <a:rPr lang="en-US" dirty="0"/>
              <a:t>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Fintepla</a:t>
            </a:r>
            <a:r>
              <a:rPr lang="en-US" dirty="0"/>
              <a:t> + </a:t>
            </a:r>
            <a:r>
              <a:rPr lang="en-US" dirty="0" err="1"/>
              <a:t>briviact</a:t>
            </a:r>
            <a:r>
              <a:rPr lang="en-US" dirty="0"/>
              <a:t>: 1,4 </a:t>
            </a:r>
            <a:r>
              <a:rPr lang="en-US" dirty="0" err="1"/>
              <a:t>miljard</a:t>
            </a:r>
            <a:r>
              <a:rPr lang="en-US" dirty="0"/>
              <a:t> 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Established brands: 400 </a:t>
            </a:r>
            <a:r>
              <a:rPr lang="en-US" dirty="0" err="1"/>
              <a:t>miljoen</a:t>
            </a:r>
            <a:r>
              <a:rPr lang="en-US" dirty="0"/>
              <a:t> $ / </a:t>
            </a:r>
            <a:r>
              <a:rPr lang="en-US" dirty="0" err="1"/>
              <a:t>jaar</a:t>
            </a:r>
            <a:r>
              <a:rPr lang="en-US" dirty="0"/>
              <a:t> tot 2028</a:t>
            </a:r>
            <a:br>
              <a:rPr lang="en-US" dirty="0"/>
            </a:br>
            <a:r>
              <a:rPr lang="en-US" dirty="0"/>
              <a:t>-&gt; </a:t>
            </a:r>
            <a:r>
              <a:rPr lang="en-US" dirty="0" err="1"/>
              <a:t>jaarlijkse</a:t>
            </a:r>
            <a:r>
              <a:rPr lang="en-US" dirty="0"/>
              <a:t> 4% </a:t>
            </a:r>
            <a:r>
              <a:rPr lang="en-US" dirty="0" err="1"/>
              <a:t>prijsstijging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Vimpat, Keppra, </a:t>
            </a:r>
            <a:r>
              <a:rPr lang="en-US" dirty="0" err="1"/>
              <a:t>Neupro</a:t>
            </a:r>
            <a:r>
              <a:rPr lang="en-US" dirty="0"/>
              <a:t>: 10% </a:t>
            </a:r>
            <a:r>
              <a:rPr lang="en-US" dirty="0" err="1"/>
              <a:t>bijdrage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-&gt; patient compliance</a:t>
            </a:r>
          </a:p>
          <a:p>
            <a:pPr marL="0" indent="0">
              <a:buNone/>
            </a:pPr>
            <a:r>
              <a:rPr lang="en-US" dirty="0"/>
              <a:t>=&gt; Established brands : 540 </a:t>
            </a:r>
            <a:r>
              <a:rPr lang="en-US" dirty="0" err="1"/>
              <a:t>miljoen</a:t>
            </a:r>
            <a:r>
              <a:rPr lang="en-US" dirty="0"/>
              <a:t> $  met </a:t>
            </a:r>
            <a:r>
              <a:rPr lang="en-US" dirty="0" err="1"/>
              <a:t>veiligheidsmarge</a:t>
            </a:r>
            <a:r>
              <a:rPr lang="en-US" dirty="0"/>
              <a:t> van 10%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98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F1C4A-164E-9694-F945-A799902E4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SWOT-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19CD1-CAA7-9DFE-C967-D1E2B8A01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66352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AE64D-6504-F81C-D0A1-17567450CD12}"/>
              </a:ext>
            </a:extLst>
          </p:cNvPr>
          <p:cNvSpPr txBox="1"/>
          <p:nvPr/>
        </p:nvSpPr>
        <p:spPr>
          <a:xfrm>
            <a:off x="613521" y="1792174"/>
            <a:ext cx="408316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u="sng" dirty="0" err="1"/>
              <a:t>Pluspunten</a:t>
            </a:r>
            <a:endParaRPr lang="en-U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Hoge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investeringen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R&amp;D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Hoogopgeleid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personeel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Internationaal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(40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landen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 2026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biosimilar Cimzia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Prijzen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+4% 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jaar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zonder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probleem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8AB933-10BF-E43C-23D2-35DAB57C54A7}"/>
              </a:ext>
            </a:extLst>
          </p:cNvPr>
          <p:cNvSpPr txBox="1"/>
          <p:nvPr/>
        </p:nvSpPr>
        <p:spPr>
          <a:xfrm>
            <a:off x="613521" y="4427579"/>
            <a:ext cx="473825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 err="1">
                <a:latin typeface="Arial" panose="020B0604020202020204" pitchFamily="34" charset="0"/>
                <a:cs typeface="Arial" panose="020B0604020202020204" pitchFamily="34" charset="0"/>
              </a:rPr>
              <a:t>Minpunten</a:t>
            </a:r>
            <a:endParaRPr lang="en-U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Afhankelijk</a:t>
            </a:r>
            <a:r>
              <a:rPr lang="fr-FR" dirty="0"/>
              <a:t> </a:t>
            </a:r>
            <a:r>
              <a:rPr lang="fr-FR" dirty="0" err="1"/>
              <a:t>Bimzlex</a:t>
            </a:r>
            <a:r>
              <a:rPr lang="fr-FR" dirty="0"/>
              <a:t> </a:t>
            </a:r>
            <a:r>
              <a:rPr lang="fr-FR" dirty="0" err="1"/>
              <a:t>binnen</a:t>
            </a:r>
            <a:r>
              <a:rPr lang="fr-FR" dirty="0"/>
              <a:t> 5 </a:t>
            </a:r>
            <a:r>
              <a:rPr lang="fr-FR" dirty="0" err="1"/>
              <a:t>jaren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Bijsluiter</a:t>
            </a:r>
            <a:r>
              <a:rPr lang="fr-FR" dirty="0"/>
              <a:t> </a:t>
            </a:r>
            <a:r>
              <a:rPr lang="fr-FR" dirty="0" err="1"/>
              <a:t>Bimzelx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2580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B562-4E89-22D9-0ED9-375D947C3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400" y="352879"/>
            <a:ext cx="10515600" cy="1325563"/>
          </a:xfrm>
        </p:spPr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Kerncijfers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42C9E557-871D-051D-66A1-7D2F44DC214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802080"/>
              </p:ext>
            </p:extLst>
          </p:nvPr>
        </p:nvGraphicFramePr>
        <p:xfrm>
          <a:off x="510041" y="101275"/>
          <a:ext cx="4700587" cy="665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67102" imgH="5857923" progId="Excel.Sheet.12">
                  <p:embed/>
                </p:oleObj>
              </mc:Choice>
              <mc:Fallback>
                <p:oleObj name="Worksheet" r:id="rId2" imgW="3667102" imgH="585792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0041" y="101275"/>
                        <a:ext cx="4700587" cy="66554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267D115-E31F-E164-D81B-723252DAEB21}"/>
              </a:ext>
            </a:extLst>
          </p:cNvPr>
          <p:cNvSpPr txBox="1"/>
          <p:nvPr/>
        </p:nvSpPr>
        <p:spPr>
          <a:xfrm>
            <a:off x="5558971" y="2452914"/>
            <a:ext cx="3786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Aangepaste</a:t>
            </a:r>
            <a:r>
              <a:rPr lang="en-US" dirty="0"/>
              <a:t> EBITDA : 1,26 </a:t>
            </a:r>
            <a:r>
              <a:rPr lang="en-US" dirty="0" err="1"/>
              <a:t>miljard</a:t>
            </a:r>
            <a:r>
              <a:rPr lang="en-US" dirty="0"/>
              <a:t> euro</a:t>
            </a:r>
          </a:p>
          <a:p>
            <a:r>
              <a:rPr lang="en-US" dirty="0"/>
              <a:t>-&gt; marge 22,8%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8180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4E686-BE54-9252-33D7-0540CAB2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43" y="500062"/>
            <a:ext cx="10515600" cy="1325563"/>
          </a:xfrm>
        </p:spPr>
        <p:txBody>
          <a:bodyPr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208192E8-5FF9-BEB5-8912-FBAD65CF35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333" y="804178"/>
            <a:ext cx="9093829" cy="3878029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48AD5D-FC5D-9DFE-FF29-21FD11DBF792}"/>
              </a:ext>
            </a:extLst>
          </p:cNvPr>
          <p:cNvSpPr txBox="1"/>
          <p:nvPr/>
        </p:nvSpPr>
        <p:spPr>
          <a:xfrm>
            <a:off x="1262743" y="5007429"/>
            <a:ext cx="96665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b="0" i="0" dirty="0">
                <a:effectLst/>
                <a:latin typeface="Calibri" panose="020F0502020204030204" pitchFamily="34" charset="0"/>
              </a:rPr>
              <a:t>Het management van UCB in 2025 minstens €6 miljard omzet te genereren met een EBITDA-marge van minstens 30% wat zich vertaalt in een EBITDA van €1,8 miljard voor 2025. Vermenigvuldigen we dit cijfer met een multiple van 10 (wat in lijn ligt met de LTM EBITDA </a:t>
            </a:r>
            <a:r>
              <a:rPr lang="nl-NL" sz="1800" b="0" i="0" dirty="0" err="1">
                <a:effectLst/>
                <a:latin typeface="Calibri" panose="020F0502020204030204" pitchFamily="34" charset="0"/>
              </a:rPr>
              <a:t>multiples</a:t>
            </a:r>
            <a:r>
              <a:rPr lang="nl-NL" sz="1800" b="0" i="0" dirty="0">
                <a:effectLst/>
                <a:latin typeface="Calibri" panose="020F0502020204030204" pitchFamily="34" charset="0"/>
              </a:rPr>
              <a:t> van sectorgenoten) dan vinden we ondernemingswaarde van €18 miljard voor UCB tegen het eind van 2025. Dit zou zich vertalen in een koers van €81 per aandeel (+21% opwaarts potentieel vanaf de huidige koers).  </a:t>
            </a:r>
          </a:p>
        </p:txBody>
      </p:sp>
    </p:spTree>
    <p:extLst>
      <p:ext uri="{BB962C8B-B14F-4D97-AF65-F5344CB8AC3E}">
        <p14:creationId xmlns:p14="http://schemas.microsoft.com/office/powerpoint/2010/main" val="2596503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D806-B84B-A700-5656-D1A8CD87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Management</a:t>
            </a:r>
            <a:endParaRPr lang="fr-FR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7A61315-AF67-DB06-BF26-FBE098DD6A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53373" y="1690688"/>
            <a:ext cx="868205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93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80E2-BC1B-DF3D-B66B-F20851B1F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BBCFE-F7B5-7F4B-9563-7CB5D7018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666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91FE-5A16-22A5-3ED7-C9CF8DB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31255" y="36512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Shareholder Structure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D0456-7F3B-0CBD-D8A0-B283F5611778}"/>
              </a:ext>
            </a:extLst>
          </p:cNvPr>
          <p:cNvSpPr txBox="1"/>
          <p:nvPr/>
        </p:nvSpPr>
        <p:spPr>
          <a:xfrm>
            <a:off x="333829" y="1781911"/>
            <a:ext cx="7183826" cy="60016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dirty="0"/>
              <a:t>Financiere de </a:t>
            </a:r>
            <a:r>
              <a:rPr lang="en-US" sz="2400" err="1"/>
              <a:t>Tubize</a:t>
            </a:r>
            <a:r>
              <a:rPr lang="en-US" sz="2400" dirty="0"/>
              <a:t> (36%)</a:t>
            </a:r>
            <a:endParaRPr lang="en-US" sz="24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err="1"/>
              <a:t>Monoholding</a:t>
            </a:r>
            <a:endParaRPr lang="en-US" sz="240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Familie Emmanuel Janssen </a:t>
            </a:r>
            <a:r>
              <a:rPr lang="en-US" sz="2400" err="1"/>
              <a:t>zijn</a:t>
            </a:r>
            <a:r>
              <a:rPr lang="en-US" sz="2400" dirty="0"/>
              <a:t> </a:t>
            </a:r>
            <a:r>
              <a:rPr lang="en-US" sz="2400" err="1"/>
              <a:t>aandeelhouders</a:t>
            </a:r>
            <a:br>
              <a:rPr lang="en-US" sz="2400" dirty="0"/>
            </a:br>
            <a:r>
              <a:rPr lang="en-US" sz="2400" dirty="0"/>
              <a:t>-&gt; </a:t>
            </a:r>
            <a:r>
              <a:rPr lang="en-US" sz="2400" err="1"/>
              <a:t>niet</a:t>
            </a:r>
            <a:r>
              <a:rPr lang="en-US" sz="2400" dirty="0"/>
              <a:t> </a:t>
            </a:r>
            <a:r>
              <a:rPr lang="en-US" sz="2400" err="1"/>
              <a:t>zomaar</a:t>
            </a:r>
            <a:r>
              <a:rPr lang="en-US" sz="2400" dirty="0"/>
              <a:t> </a:t>
            </a:r>
            <a:r>
              <a:rPr lang="en-US" sz="2400" err="1"/>
              <a:t>aandelen</a:t>
            </a:r>
            <a:r>
              <a:rPr lang="en-US" sz="2400" dirty="0"/>
              <a:t> </a:t>
            </a:r>
            <a:r>
              <a:rPr lang="en-US" sz="2400" err="1"/>
              <a:t>verkopen</a:t>
            </a:r>
            <a:endParaRPr lang="en-US" sz="240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43% free float</a:t>
            </a:r>
            <a:endParaRPr lang="en-US" sz="24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cs typeface="Calibri"/>
            </a:endParaRPr>
          </a:p>
          <a:p>
            <a:r>
              <a:rPr lang="en-US" sz="2400" dirty="0"/>
              <a:t>Holdings </a:t>
            </a:r>
            <a:r>
              <a:rPr lang="en-US" sz="2400" err="1"/>
              <a:t>noteren</a:t>
            </a:r>
            <a:r>
              <a:rPr lang="en-US" sz="2400" dirty="0"/>
              <a:t> met </a:t>
            </a:r>
            <a:r>
              <a:rPr lang="en-US" sz="2400" err="1"/>
              <a:t>een</a:t>
            </a:r>
            <a:r>
              <a:rPr lang="en-US" sz="2400" dirty="0"/>
              <a:t> </a:t>
            </a:r>
            <a:r>
              <a:rPr lang="en-US" sz="2400" err="1"/>
              <a:t>korting</a:t>
            </a:r>
            <a:r>
              <a:rPr lang="en-US" sz="2400" dirty="0"/>
              <a:t> tov </a:t>
            </a:r>
            <a:r>
              <a:rPr lang="en-US" sz="2400" err="1"/>
              <a:t>werkelijke</a:t>
            </a:r>
            <a:r>
              <a:rPr lang="en-US" sz="2400" dirty="0"/>
              <a:t> </a:t>
            </a:r>
            <a:r>
              <a:rPr lang="en-US" sz="2400" err="1"/>
              <a:t>waarde</a:t>
            </a:r>
            <a:endParaRPr lang="en-US" sz="2400">
              <a:cs typeface="Calibri"/>
            </a:endParaRPr>
          </a:p>
          <a:p>
            <a:r>
              <a:rPr lang="en-US" sz="2400" dirty="0"/>
              <a:t>Korting </a:t>
            </a:r>
            <a:r>
              <a:rPr lang="en-US" sz="2400" err="1"/>
              <a:t>Tubize</a:t>
            </a:r>
            <a:r>
              <a:rPr lang="en-US" sz="2400" dirty="0"/>
              <a:t> = 43%</a:t>
            </a:r>
            <a:endParaRPr lang="en-US" sz="2400" dirty="0">
              <a:cs typeface="Calibri"/>
            </a:endParaRPr>
          </a:p>
          <a:p>
            <a:r>
              <a:rPr lang="en-US" sz="2400" dirty="0"/>
              <a:t>-&gt; Vaak </a:t>
            </a:r>
            <a:r>
              <a:rPr lang="en-US" sz="2400" err="1"/>
              <a:t>schommeling</a:t>
            </a:r>
            <a:r>
              <a:rPr lang="en-US" sz="2400" dirty="0"/>
              <a:t> </a:t>
            </a:r>
            <a:r>
              <a:rPr lang="en-US" sz="2400" err="1"/>
              <a:t>tussen</a:t>
            </a:r>
            <a:r>
              <a:rPr lang="en-US" sz="2400" dirty="0"/>
              <a:t> 30-50%</a:t>
            </a:r>
            <a:endParaRPr lang="en-US" sz="2400" dirty="0">
              <a:cs typeface="Calibri"/>
            </a:endParaRPr>
          </a:p>
          <a:p>
            <a:r>
              <a:rPr lang="en-US" sz="2400" dirty="0"/>
              <a:t>-&gt; </a:t>
            </a:r>
            <a:r>
              <a:rPr lang="en-US" sz="2400" err="1"/>
              <a:t>Interessant</a:t>
            </a:r>
            <a:r>
              <a:rPr lang="en-US" sz="2400" dirty="0"/>
              <a:t> om UCB via </a:t>
            </a:r>
            <a:r>
              <a:rPr lang="en-US" sz="2400" err="1"/>
              <a:t>Tubize</a:t>
            </a:r>
            <a:r>
              <a:rPr lang="en-US" sz="2400" dirty="0"/>
              <a:t> </a:t>
            </a:r>
            <a:r>
              <a:rPr lang="en-US" sz="2400" err="1"/>
              <a:t>te</a:t>
            </a:r>
            <a:r>
              <a:rPr lang="en-US" sz="2400" dirty="0"/>
              <a:t> </a:t>
            </a:r>
            <a:r>
              <a:rPr lang="en-US" sz="2400" err="1"/>
              <a:t>kopen</a:t>
            </a:r>
            <a:r>
              <a:rPr lang="en-US" sz="2400" dirty="0"/>
              <a:t> </a:t>
            </a:r>
            <a:endParaRPr lang="en-US" sz="24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Begin 2023: </a:t>
            </a:r>
            <a:r>
              <a:rPr lang="en-US" sz="2400" err="1"/>
              <a:t>veel</a:t>
            </a:r>
            <a:r>
              <a:rPr lang="en-US" sz="2400" dirty="0"/>
              <a:t> extra </a:t>
            </a:r>
            <a:r>
              <a:rPr lang="en-US" sz="2400" err="1"/>
              <a:t>aandelen</a:t>
            </a:r>
            <a:r>
              <a:rPr lang="en-US" sz="2400" dirty="0"/>
              <a:t> UCB </a:t>
            </a:r>
            <a:r>
              <a:rPr lang="en-US" sz="2400" err="1"/>
              <a:t>gekocht</a:t>
            </a:r>
            <a:br>
              <a:rPr lang="en-US" sz="2400" dirty="0"/>
            </a:br>
            <a:r>
              <a:rPr lang="en-US" sz="2400" dirty="0"/>
              <a:t>-&gt; </a:t>
            </a:r>
            <a:r>
              <a:rPr lang="en-US" sz="2400" err="1"/>
              <a:t>vindt</a:t>
            </a:r>
            <a:r>
              <a:rPr lang="en-US" sz="2400" dirty="0"/>
              <a:t> UCB </a:t>
            </a:r>
            <a:r>
              <a:rPr lang="en-US" sz="2400" err="1"/>
              <a:t>koopwaardig</a:t>
            </a:r>
            <a:endParaRPr lang="en-US" sz="240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316" name="Picture 4" descr="Geen beschrijving beschikbaar.">
            <a:extLst>
              <a:ext uri="{FF2B5EF4-FFF2-40B4-BE49-F238E27FC236}">
                <a16:creationId xmlns:a16="http://schemas.microsoft.com/office/drawing/2014/main" id="{FBD78BA6-56CE-3343-9599-A390B5572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2106953"/>
            <a:ext cx="7668305" cy="4308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A pie chart with different colored circles&#10;&#10;Description automatically generated">
            <a:extLst>
              <a:ext uri="{FF2B5EF4-FFF2-40B4-BE49-F238E27FC236}">
                <a16:creationId xmlns:a16="http://schemas.microsoft.com/office/drawing/2014/main" id="{0E87A4C2-F848-0BFF-5D4B-414F648A62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889" y="927099"/>
            <a:ext cx="2673516" cy="326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178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E840-49CD-952B-404A-C8E7EE569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8A720-4B01-3012-4F05-1C96BFCE2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Price UCB : 65,78 euro</a:t>
            </a:r>
          </a:p>
          <a:p>
            <a:r>
              <a:rPr lang="en-US" dirty="0"/>
              <a:t>Price </a:t>
            </a:r>
            <a:r>
              <a:rPr lang="en-US" dirty="0" err="1"/>
              <a:t>Financiere</a:t>
            </a:r>
            <a:r>
              <a:rPr lang="en-US" dirty="0"/>
              <a:t> de </a:t>
            </a:r>
            <a:r>
              <a:rPr lang="en-US" dirty="0" err="1"/>
              <a:t>Tubize</a:t>
            </a:r>
            <a:r>
              <a:rPr lang="en-US" dirty="0"/>
              <a:t>: 60,90 euro</a:t>
            </a:r>
          </a:p>
          <a:p>
            <a:r>
              <a:rPr lang="en-US" dirty="0"/>
              <a:t>Target price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9929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D744ABC62A64EB73EBDE161BAFFAF" ma:contentTypeVersion="13" ma:contentTypeDescription="Een nieuw document maken." ma:contentTypeScope="" ma:versionID="4951167e122b31e5ded957a5580b48da">
  <xsd:schema xmlns:xsd="http://www.w3.org/2001/XMLSchema" xmlns:xs="http://www.w3.org/2001/XMLSchema" xmlns:p="http://schemas.microsoft.com/office/2006/metadata/properties" xmlns:ns2="bc1159ad-d26f-4422-9cd3-507dd7bb304b" xmlns:ns3="8645f338-6b19-47dd-a9cd-521166d8a9c7" targetNamespace="http://schemas.microsoft.com/office/2006/metadata/properties" ma:root="true" ma:fieldsID="283887a6431aabf65d426566ab0d1d71" ns2:_="" ns3:_="">
    <xsd:import namespace="bc1159ad-d26f-4422-9cd3-507dd7bb304b"/>
    <xsd:import namespace="8645f338-6b19-47dd-a9cd-521166d8a9c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159ad-d26f-4422-9cd3-507dd7bb30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Afbeeldingtags" ma:readOnly="false" ma:fieldId="{5cf76f15-5ced-4ddc-b409-7134ff3c332f}" ma:taxonomyMulti="true" ma:sspId="da829b53-f82c-4818-ba9e-f50c3edd1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5f338-6b19-47dd-a9cd-521166d8a9c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a6b2853-0cf4-4253-bc2b-fe296ed0741f}" ma:internalName="TaxCatchAll" ma:showField="CatchAllData" ma:web="8645f338-6b19-47dd-a9cd-521166d8a9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bc1159ad-d26f-4422-9cd3-507dd7bb304b" xsi:nil="true"/>
    <lcf76f155ced4ddcb4097134ff3c332f xmlns="bc1159ad-d26f-4422-9cd3-507dd7bb304b">
      <Terms xmlns="http://schemas.microsoft.com/office/infopath/2007/PartnerControls"/>
    </lcf76f155ced4ddcb4097134ff3c332f>
    <TaxCatchAll xmlns="8645f338-6b19-47dd-a9cd-521166d8a9c7" xsi:nil="true"/>
  </documentManagement>
</p:properties>
</file>

<file path=customXml/itemProps1.xml><?xml version="1.0" encoding="utf-8"?>
<ds:datastoreItem xmlns:ds="http://schemas.openxmlformats.org/officeDocument/2006/customXml" ds:itemID="{6D14583D-A117-466B-AF43-ED73955DE705}"/>
</file>

<file path=customXml/itemProps2.xml><?xml version="1.0" encoding="utf-8"?>
<ds:datastoreItem xmlns:ds="http://schemas.openxmlformats.org/officeDocument/2006/customXml" ds:itemID="{3B546B05-542E-418C-8C87-F82CBED1536A}"/>
</file>

<file path=customXml/itemProps3.xml><?xml version="1.0" encoding="utf-8"?>
<ds:datastoreItem xmlns:ds="http://schemas.openxmlformats.org/officeDocument/2006/customXml" ds:itemID="{F2A33A85-93F4-4B73-89C5-3BEC3DBD9DE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824</Words>
  <Application>Microsoft Office PowerPoint</Application>
  <PresentationFormat>Breedbeeld</PresentationFormat>
  <Paragraphs>124</Paragraphs>
  <Slides>24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24</vt:i4>
      </vt:variant>
    </vt:vector>
  </HeadingPairs>
  <TitlesOfParts>
    <vt:vector size="25" baseType="lpstr">
      <vt:lpstr>Office Theme</vt:lpstr>
      <vt:lpstr>PowerPoint-presentatie</vt:lpstr>
      <vt:lpstr>Union Chimique Belge</vt:lpstr>
      <vt:lpstr>Neurologie</vt:lpstr>
      <vt:lpstr>Zeldzame ziektes</vt:lpstr>
      <vt:lpstr>Immunologie</vt:lpstr>
      <vt:lpstr>PowerPoint-presentatie</vt:lpstr>
      <vt:lpstr>PowerPoint-presentatie</vt:lpstr>
      <vt:lpstr>Bimzelx</vt:lpstr>
      <vt:lpstr>Bimzelx</vt:lpstr>
      <vt:lpstr>Bimzelx</vt:lpstr>
      <vt:lpstr>KBC analisten</vt:lpstr>
      <vt:lpstr>Bimzelx</vt:lpstr>
      <vt:lpstr>PowerPoint-presentatie</vt:lpstr>
      <vt:lpstr>PowerPoint-presentatie</vt:lpstr>
      <vt:lpstr>2022</vt:lpstr>
      <vt:lpstr>2023</vt:lpstr>
      <vt:lpstr>Toekomst</vt:lpstr>
      <vt:lpstr>SWOT-analyse</vt:lpstr>
      <vt:lpstr>Kerncijfers</vt:lpstr>
      <vt:lpstr>PowerPoint-presentatie</vt:lpstr>
      <vt:lpstr>Management</vt:lpstr>
      <vt:lpstr>PowerPoint-presentatie</vt:lpstr>
      <vt:lpstr>Shareholder Structure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Céline Paul</dc:creator>
  <cp:lastModifiedBy>Céline Paul</cp:lastModifiedBy>
  <cp:revision>28</cp:revision>
  <dcterms:created xsi:type="dcterms:W3CDTF">2023-11-12T08:54:42Z</dcterms:created>
  <dcterms:modified xsi:type="dcterms:W3CDTF">2023-11-21T16:28:33Z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0x01010004FD744ABC62A64EB73EBDE161BAFFAF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