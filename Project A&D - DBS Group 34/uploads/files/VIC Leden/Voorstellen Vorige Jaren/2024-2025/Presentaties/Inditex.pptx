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2" r:id="rId4"/>
    <p:sldId id="273" r:id="rId5"/>
    <p:sldId id="274" r:id="rId6"/>
    <p:sldId id="275" r:id="rId7"/>
    <p:sldId id="276" r:id="rId8"/>
    <p:sldId id="282" r:id="rId9"/>
    <p:sldId id="285" r:id="rId10"/>
    <p:sldId id="281" r:id="rId11"/>
    <p:sldId id="284" r:id="rId12"/>
    <p:sldId id="278" r:id="rId13"/>
    <p:sldId id="283" r:id="rId14"/>
    <p:sldId id="279" r:id="rId15"/>
    <p:sldId id="280" r:id="rId1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0A538-54B8-AE01-0213-96C945CB6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EB13CA5-B2FF-D4B8-60E7-940BD47EE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27CF46-BB02-A1B4-50CB-98AFAF6E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1585003-9175-6FFF-4AD9-27A57DB2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62C348-5054-A9FE-166F-D73270FE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666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7CF13-A95C-75DA-34C0-02033BB7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F3A23B-6923-E4F0-4683-4CA00C10F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90A926-81B8-5A52-77B8-78679CB4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FD9891A-6A5B-5648-95B4-E0BFDB31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5E5A370-9A32-BC31-35F9-74A5F272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3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46C0C-90DF-FE85-E116-5F171092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FD21926-A3DC-D7E0-2074-5597DD9DF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BAED841-2403-5448-B938-3DCDEB67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5DC9B41-B760-EC8E-FBD5-480DDD0B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1B32ED7-D2D3-E41C-807A-CE12569C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962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51788-337E-4A85-DAE2-62269CC1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7C612B-650C-EBC2-5B7B-C96A47894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24AA41-BC8B-17F4-9A43-ED0EA71BE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BF2742-3A4A-5BE0-96F5-9718B3C9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664A05E-3F24-0EF6-6B34-84D474EF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65B59D7-F77E-DDE2-C207-3D692E53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279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65E5B-E32D-7097-70D9-FEDDAD9A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694733-B45F-E87D-EEAD-2686D5C6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9273627-9F93-7423-9FD0-DB2C8BD08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AA1A4A0-DE17-740C-26B2-F363D3EDB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6CDC460-516E-35EC-826A-93E1B6FA0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322D093-D2B9-ED19-08A3-73255C0F3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DFCF63B-0F7B-E453-B8A7-08AAFEAB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654608E-73C2-B8D9-E5A6-D54A8CB2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32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60B53-C2C0-9EBD-04C1-9492D056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E15D6B-E10B-4E30-550A-F58F1F26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6E80678-40E7-F453-1CA5-87E6E07A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48D15B9-85D4-8AFC-EE5F-FBA7B3EA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63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6AC2074-7DDB-D643-1137-4E347654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7DF0BFA-FD9D-985B-77D1-1036404C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C127810-BAB3-6365-9A19-8E9F2D73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328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2E1F2-FBDC-0FD4-0AB3-65B9AA2FB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38F9E0-CE48-4506-EB99-74865D061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8079515-094B-5FD2-0285-9F6918C54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D4AE8DB-A3AE-DE7D-197A-3E2BAB4C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DA20549-3740-4666-376B-06394117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58F2857-8F2F-05F9-E93D-E1A80B4A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164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272D7E-93EC-B443-95FE-2F3F5B40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F988BA2-67E7-9B18-FC22-2C1026B2D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53D0C13-6465-22DE-60F2-8835AC54E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A1EE66F-AE21-6EA7-09C3-BFCBFABC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86154AC-B991-CE47-C539-94E6060A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6601D88-B2F0-ECC3-DCC1-23F2D9F5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7454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1F862-8DBD-8A19-2AAE-8F38B6A7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47A84BF-EAB4-EA4D-9A1B-E9BAECE96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DB8E90B-887B-077D-BBC2-5461042D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D7BF65-16E2-34CF-16F3-71D5EF8F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577B8DB-92BD-102E-A59B-0081CC38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1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071A2F6-BD06-3A0A-8862-699C5AD9F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F665A8A-D861-9877-46B8-566D4081A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0858B57-100D-18DF-B09A-8575535C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CD5F0B8-0219-032D-5357-CE0ECC4A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4166B1-C2B0-6CA3-BBAC-8BE6769E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572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B90ED8C-289D-DF36-B13F-D73A965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B4E8EA6-9633-6F07-8BB4-8EC863091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1003961-F176-76A6-1755-B6DAA1368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71260-700A-4C4E-B835-AE7A7E08C6C9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CE249D3-8626-3062-947F-7EC8E1B5B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678259-9B1C-2AB8-E70B-6C3478E5F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C439A-7005-433B-8314-3CEAE3524D4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089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46186-2F51-F913-89EB-DAFDAC58E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6D276B5-ED93-BF6C-507D-1932EF486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995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0" y="1771823"/>
            <a:ext cx="9684774" cy="1655762"/>
          </a:xfrm>
        </p:spPr>
        <p:txBody>
          <a:bodyPr>
            <a:normAutofit/>
          </a:bodyPr>
          <a:lstStyle/>
          <a:p>
            <a:r>
              <a:rPr lang="nl-BE" sz="8800" b="1" cap="all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Inditex</a:t>
            </a:r>
            <a:endParaRPr lang="nl-BE" sz="8800" b="1" cap="all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644" y="3426984"/>
            <a:ext cx="10491020" cy="122327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nl-BE" sz="40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Fausto</a:t>
            </a:r>
            <a:r>
              <a:rPr lang="nl-BE" sz="40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 Bauwens, Maarten </a:t>
            </a:r>
            <a:r>
              <a:rPr lang="nl-BE" sz="40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Danneels</a:t>
            </a:r>
            <a:r>
              <a:rPr lang="nl-BE" sz="40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, </a:t>
            </a:r>
            <a:r>
              <a:rPr lang="nl-BE" sz="40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Suyin</a:t>
            </a:r>
            <a:r>
              <a:rPr lang="nl-BE" sz="40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 François</a:t>
            </a:r>
            <a:endParaRPr lang="nl-NL" sz="4000" err="1">
              <a:solidFill>
                <a:schemeClr val="bg1"/>
              </a:solidFill>
              <a:latin typeface="Aptos" panose="02110004020202020204"/>
              <a:ea typeface="Lato"/>
              <a:cs typeface="Lato"/>
            </a:endParaRPr>
          </a:p>
          <a:p>
            <a:r>
              <a:rPr lang="nl-BE" sz="40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 2024-2025</a:t>
            </a:r>
            <a:endParaRPr lang="nl-NL" sz="400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2A52AA4-997D-B3B6-6027-2F4643D3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1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 anchor="ctr">
            <a:normAutofit/>
          </a:bodyPr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Zara, </a:t>
            </a:r>
            <a:r>
              <a:rPr lang="en-US" err="1"/>
              <a:t>Berschka</a:t>
            </a:r>
            <a:r>
              <a:rPr lang="en-US"/>
              <a:t>, </a:t>
            </a:r>
            <a:r>
              <a:rPr lang="en-US" err="1"/>
              <a:t>Pull&amp;Bear</a:t>
            </a:r>
            <a:r>
              <a:rPr lang="en-US"/>
              <a:t>, Stradivarius, Massimo Dutti, </a:t>
            </a:r>
            <a:r>
              <a:rPr lang="en-US" err="1"/>
              <a:t>Oysho</a:t>
            </a:r>
            <a:endParaRPr lang="en-US"/>
          </a:p>
          <a:p>
            <a:r>
              <a:rPr lang="nl-NL"/>
              <a:t>Kleding en cosmetica</a:t>
            </a:r>
            <a:endParaRPr lang="en-US"/>
          </a:p>
          <a:p>
            <a:r>
              <a:rPr lang="nl-NL" err="1"/>
              <a:t>Spaansbeursgenoteerde</a:t>
            </a:r>
            <a:r>
              <a:rPr lang="nl-NL"/>
              <a:t> modegigant en is gevestigd in het Spaanse stadje </a:t>
            </a:r>
            <a:r>
              <a:rPr lang="nl-NL" err="1"/>
              <a:t>Arteixo</a:t>
            </a:r>
            <a:endParaRPr lang="nl-NL" u="sng" err="1"/>
          </a:p>
          <a:p>
            <a:endParaRPr lang="en-US"/>
          </a:p>
        </p:txBody>
      </p:sp>
      <p:pic>
        <p:nvPicPr>
          <p:cNvPr id="4" name="Afbeelding 3" descr="Inditex GFA unlocks conflict in Romania | IndustriALL">
            <a:extLst>
              <a:ext uri="{FF2B5EF4-FFF2-40B4-BE49-F238E27FC236}">
                <a16:creationId xmlns:a16="http://schemas.microsoft.com/office/drawing/2014/main" id="{84146309-1630-58CE-AE0B-2388DB1F2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55523"/>
            <a:ext cx="5181600" cy="31485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1963: CEO: </a:t>
            </a:r>
            <a:r>
              <a:rPr lang="nl-NL" err="1"/>
              <a:t>Amancio</a:t>
            </a:r>
            <a:r>
              <a:rPr lang="nl-NL"/>
              <a:t> </a:t>
            </a:r>
            <a:r>
              <a:rPr lang="nl-NL" err="1"/>
              <a:t>Ortega</a:t>
            </a:r>
            <a:endParaRPr lang="en-US" err="1"/>
          </a:p>
          <a:p>
            <a:r>
              <a:rPr lang="en-US"/>
              <a:t>1975: </a:t>
            </a:r>
            <a:r>
              <a:rPr lang="en-US" err="1"/>
              <a:t>eerste</a:t>
            </a:r>
            <a:r>
              <a:rPr lang="en-US"/>
              <a:t> Zara </a:t>
            </a:r>
            <a:r>
              <a:rPr lang="en-US" err="1"/>
              <a:t>winkel</a:t>
            </a:r>
            <a:r>
              <a:rPr lang="en-US"/>
              <a:t> </a:t>
            </a:r>
            <a:r>
              <a:rPr lang="en-US" err="1"/>
              <a:t>Spanje</a:t>
            </a:r>
          </a:p>
          <a:p>
            <a:r>
              <a:rPr lang="en-US"/>
              <a:t>1991-99: </a:t>
            </a:r>
            <a:r>
              <a:rPr lang="en-US" err="1"/>
              <a:t>Pull&amp;Bear</a:t>
            </a:r>
            <a:r>
              <a:rPr lang="en-US"/>
              <a:t>, Massimo Dutti, </a:t>
            </a:r>
            <a:r>
              <a:rPr lang="en-US" err="1"/>
              <a:t>Bershka</a:t>
            </a:r>
            <a:r>
              <a:rPr lang="en-US"/>
              <a:t> and Stradivarius </a:t>
            </a:r>
            <a:r>
              <a:rPr lang="en-US" err="1"/>
              <a:t>joinen</a:t>
            </a:r>
            <a:r>
              <a:rPr lang="en-US"/>
              <a:t> de Inditex Group</a:t>
            </a:r>
          </a:p>
          <a:p>
            <a:r>
              <a:rPr lang="en-US"/>
              <a:t>2021-22: </a:t>
            </a:r>
            <a:r>
              <a:rPr lang="en-US" err="1"/>
              <a:t>nieuwe</a:t>
            </a:r>
            <a:r>
              <a:rPr lang="en-US"/>
              <a:t> CEO: Óscar García Maceiras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CEO: </a:t>
            </a:r>
            <a:r>
              <a:rPr lang="nl-NL" err="1"/>
              <a:t>Óscar</a:t>
            </a:r>
            <a:r>
              <a:rPr lang="nl-NL"/>
              <a:t> </a:t>
            </a:r>
            <a:r>
              <a:rPr lang="nl-NL" err="1"/>
              <a:t>García</a:t>
            </a:r>
            <a:r>
              <a:rPr lang="nl-NL"/>
              <a:t> </a:t>
            </a:r>
            <a:r>
              <a:rPr lang="nl-NL" err="1"/>
              <a:t>Maceiras</a:t>
            </a:r>
            <a:r>
              <a:rPr lang="nl-NL"/>
              <a:t> (80,314)</a:t>
            </a:r>
          </a:p>
          <a:p>
            <a:r>
              <a:rPr lang="nl-NL" err="1"/>
              <a:t>Amancio</a:t>
            </a:r>
            <a:r>
              <a:rPr lang="nl-NL"/>
              <a:t> </a:t>
            </a:r>
            <a:r>
              <a:rPr lang="nl-NL" err="1"/>
              <a:t>Ortega</a:t>
            </a:r>
            <a:r>
              <a:rPr lang="nl-NL"/>
              <a:t> (1,848,000,315)</a:t>
            </a:r>
          </a:p>
          <a:p>
            <a:pPr marL="0" indent="0">
              <a:buNone/>
            </a:pPr>
            <a:r>
              <a:rPr lang="en-BE"/>
              <a:t>-&gt; 60% aandelen in eigen handen</a:t>
            </a:r>
          </a:p>
          <a:p>
            <a:r>
              <a:rPr lang="nl-NL"/>
              <a:t>Marta </a:t>
            </a:r>
            <a:r>
              <a:rPr lang="nl-NL" err="1"/>
              <a:t>Ortega</a:t>
            </a:r>
            <a:r>
              <a:rPr lang="nl-NL"/>
              <a:t> Pérez (42,511)</a:t>
            </a:r>
          </a:p>
          <a:p>
            <a:r>
              <a:rPr lang="nl-NL"/>
              <a:t>Aandelen met stemrecht </a:t>
            </a:r>
          </a:p>
          <a:p>
            <a:pPr marL="0" indent="0">
              <a:buNone/>
            </a:pPr>
            <a:endParaRPr lang="nl-NL"/>
          </a:p>
        </p:txBody>
      </p:sp>
      <p:pic>
        <p:nvPicPr>
          <p:cNvPr id="4" name="Afbeelding 3" descr="Afbeelding met Menselijk gezicht, persoon, kleding, glimlach&#10;&#10;Door AI gegenereerde inhoud is mogelijk onjuist.">
            <a:extLst>
              <a:ext uri="{FF2B5EF4-FFF2-40B4-BE49-F238E27FC236}">
                <a16:creationId xmlns:a16="http://schemas.microsoft.com/office/drawing/2014/main" id="{C372F105-4507-F8C0-30E8-04A5909EF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624" y="2881931"/>
            <a:ext cx="2480734" cy="2966701"/>
          </a:xfrm>
          <a:prstGeom prst="rect">
            <a:avLst/>
          </a:prstGeom>
        </p:spPr>
      </p:pic>
      <p:pic>
        <p:nvPicPr>
          <p:cNvPr id="5" name="Afbeelding 4" descr="Afbeelding met persoon, kleding, Menselijk gezicht, muur&#10;&#10;Door AI gegenereerde inhoud is mogelijk onjuist.">
            <a:extLst>
              <a:ext uri="{FF2B5EF4-FFF2-40B4-BE49-F238E27FC236}">
                <a16:creationId xmlns:a16="http://schemas.microsoft.com/office/drawing/2014/main" id="{D352C5F8-D21B-2C5F-E017-B1AAA6AEB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557" y="2879951"/>
            <a:ext cx="2487387" cy="2959555"/>
          </a:xfrm>
          <a:prstGeom prst="rect">
            <a:avLst/>
          </a:prstGeom>
        </p:spPr>
      </p:pic>
      <p:pic>
        <p:nvPicPr>
          <p:cNvPr id="6" name="Afbeelding 5" descr="Afbeelding met persoon, Menselijk gezicht, kleding, person&#10;&#10;Door AI gegenereerde inhoud is mogelijk onjuist.">
            <a:extLst>
              <a:ext uri="{FF2B5EF4-FFF2-40B4-BE49-F238E27FC236}">
                <a16:creationId xmlns:a16="http://schemas.microsoft.com/office/drawing/2014/main" id="{B03F0A6A-B52F-1C91-B71A-C7723A7A4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0" y="680"/>
            <a:ext cx="2383972" cy="286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4" name="Afbeelding 3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07BAC741-5A2F-D574-1BEE-0F648D48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61" y="1616531"/>
            <a:ext cx="10295164" cy="420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277D4901-7B5B-EA27-C960-90F812550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344" y="358724"/>
            <a:ext cx="9068195" cy="5706506"/>
          </a:xfrm>
        </p:spPr>
      </p:pic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5A62B-BADF-D0AC-E572-A2E132B1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r>
              <a:rPr lang="nl-NL"/>
              <a:t> </a:t>
            </a:r>
          </a:p>
        </p:txBody>
      </p:sp>
      <p:pic>
        <p:nvPicPr>
          <p:cNvPr id="6" name="Afbeelding 5" descr="Afbeelding met tekst, schermopname, Lettertype, Graphics&#10;&#10;Door AI gegenereerde inhoud is mogelijk onjuist.">
            <a:extLst>
              <a:ext uri="{FF2B5EF4-FFF2-40B4-BE49-F238E27FC236}">
                <a16:creationId xmlns:a16="http://schemas.microsoft.com/office/drawing/2014/main" id="{6A2A682F-65F4-D25B-9D99-0FF9C1478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99" b="-469"/>
          <a:stretch/>
        </p:blipFill>
        <p:spPr>
          <a:xfrm>
            <a:off x="2028566" y="3738259"/>
            <a:ext cx="8639439" cy="2717853"/>
          </a:xfrm>
          <a:prstGeom prst="rect">
            <a:avLst/>
          </a:prstGeom>
        </p:spPr>
      </p:pic>
      <p:pic>
        <p:nvPicPr>
          <p:cNvPr id="9" name="Afbeelding 8" descr="Afbeelding met tekst, Lettertype, schermopname, Graphics&#10;&#10;Door AI gegenereerde inhoud is mogelijk onjuist.">
            <a:extLst>
              <a:ext uri="{FF2B5EF4-FFF2-40B4-BE49-F238E27FC236}">
                <a16:creationId xmlns:a16="http://schemas.microsoft.com/office/drawing/2014/main" id="{F49EDBCD-407E-131E-769E-37D009B49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472" y="1279440"/>
            <a:ext cx="5007059" cy="245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1417F-D029-DC7C-AF25-5E077CA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>
                <a:solidFill>
                  <a:srgbClr val="244337"/>
                </a:solidFill>
                <a:latin typeface="Lato Black" panose="020F0A02020204030203" pitchFamily="34" charset="0"/>
              </a:rPr>
              <a:t>Financials </a:t>
            </a:r>
          </a:p>
        </p:txBody>
      </p:sp>
      <p:pic>
        <p:nvPicPr>
          <p:cNvPr id="4" name="Afbeelding 3" descr="Afbeelding met tekst, schermopname, Lettertype, ontwerp&#10;&#10;Door AI gegenereerde inhoud is mogelijk onjuist.">
            <a:extLst>
              <a:ext uri="{FF2B5EF4-FFF2-40B4-BE49-F238E27FC236}">
                <a16:creationId xmlns:a16="http://schemas.microsoft.com/office/drawing/2014/main" id="{3F052E0B-ED87-D7E2-A38A-6CA5A610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903"/>
            <a:ext cx="12191999" cy="2193046"/>
          </a:xfrm>
          <a:prstGeom prst="rect">
            <a:avLst/>
          </a:prstGeom>
        </p:spPr>
      </p:pic>
      <p:pic>
        <p:nvPicPr>
          <p:cNvPr id="5" name="Afbeelding 4" descr="Afbeelding met tekst, schermopname, Lettertype, Graphics&#10;&#10;Door AI gegenereerde inhoud is mogelijk onjuist.">
            <a:extLst>
              <a:ext uri="{FF2B5EF4-FFF2-40B4-BE49-F238E27FC236}">
                <a16:creationId xmlns:a16="http://schemas.microsoft.com/office/drawing/2014/main" id="{DDBFEDEE-34C6-8AD2-7E1A-AB5E569F1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58284"/>
            <a:ext cx="12192000" cy="2198098"/>
          </a:xfrm>
          <a:prstGeom prst="rect">
            <a:avLst/>
          </a:prstGeom>
        </p:spPr>
      </p:pic>
      <p:pic>
        <p:nvPicPr>
          <p:cNvPr id="6" name="Afbeelding 5" descr="Afbeelding met tekst, schermopname, Lettertype, Graphics&#10;&#10;Door AI gegenereerde inhoud is mogelijk onjuist.">
            <a:extLst>
              <a:ext uri="{FF2B5EF4-FFF2-40B4-BE49-F238E27FC236}">
                <a16:creationId xmlns:a16="http://schemas.microsoft.com/office/drawing/2014/main" id="{8AE3E100-0CF0-7BE7-3059-D040A73D8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55603"/>
            <a:ext cx="12192000" cy="21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Cash Flow </a:t>
            </a:r>
            <a:endParaRPr lang="nl-BE">
              <a:solidFill>
                <a:srgbClr val="244337"/>
              </a:solidFill>
              <a:latin typeface="Lato Black" panose="020F0A02020204030203" pitchFamily="34" charset="0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Winstkwaliteit = Free Cash Flow/ Net </a:t>
            </a:r>
            <a:r>
              <a:rPr lang="en-BE" err="1"/>
              <a:t>Income</a:t>
            </a:r>
            <a:endParaRPr lang="nl-NL" err="1"/>
          </a:p>
          <a:p>
            <a:pPr marL="0" indent="0">
              <a:buNone/>
            </a:pPr>
            <a:r>
              <a:rPr lang="en-BE"/>
              <a:t>-&gt; 5 </a:t>
            </a:r>
            <a:r>
              <a:rPr lang="en-BE" err="1"/>
              <a:t>jaar</a:t>
            </a:r>
            <a:r>
              <a:rPr lang="en-BE"/>
              <a:t> </a:t>
            </a:r>
            <a:r>
              <a:rPr lang="en-BE" err="1"/>
              <a:t>gemiddelde</a:t>
            </a:r>
            <a:r>
              <a:rPr lang="en-BE"/>
              <a:t> van 142% </a:t>
            </a:r>
          </a:p>
          <a:p>
            <a:pPr marL="0" indent="0">
              <a:buNone/>
            </a:pPr>
            <a:endParaRPr lang="en-BE"/>
          </a:p>
          <a:p>
            <a:pPr marL="0" indent="0">
              <a:buNone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93DAD-753A-AFD2-C20F-E5F4AC5B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Waardering</a:t>
            </a:r>
            <a:r>
              <a:rPr lang="nl-NL"/>
              <a:t>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D48071-CF7D-8358-2701-7D62DBC5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sz="3200"/>
              <a:t>Inditex -&gt; P/E = 24</a:t>
            </a:r>
          </a:p>
          <a:p>
            <a:r>
              <a:rPr lang="nl-NL" sz="3200"/>
              <a:t>H&amp;M -&gt; P/E = 18</a:t>
            </a:r>
          </a:p>
          <a:p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6084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BE" b="1" err="1"/>
              <a:t>Strengths</a:t>
            </a:r>
            <a:r>
              <a:rPr lang="en-BE" b="1"/>
              <a:t>: </a:t>
            </a:r>
            <a:endParaRPr lang="nl-NL" b="1"/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Inditex </a:t>
            </a:r>
            <a:r>
              <a:rPr lang="en-US" err="1"/>
              <a:t>heeft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hoge</a:t>
            </a:r>
            <a:r>
              <a:rPr lang="en-US"/>
              <a:t> </a:t>
            </a:r>
            <a:r>
              <a:rPr lang="en-US" err="1"/>
              <a:t>winstgevendheid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sterke</a:t>
            </a:r>
            <a:r>
              <a:rPr lang="en-US"/>
              <a:t> </a:t>
            </a:r>
            <a:r>
              <a:rPr lang="en-US" err="1"/>
              <a:t>kasstromen</a:t>
            </a:r>
            <a:endParaRPr lang="en-BE" err="1"/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Inditex </a:t>
            </a:r>
            <a:r>
              <a:rPr lang="en-US" err="1"/>
              <a:t>bezit</a:t>
            </a:r>
            <a:r>
              <a:rPr lang="en-US"/>
              <a:t> </a:t>
            </a:r>
            <a:r>
              <a:rPr lang="en-US" err="1"/>
              <a:t>populaire</a:t>
            </a:r>
            <a:r>
              <a:rPr lang="en-US"/>
              <a:t> </a:t>
            </a:r>
            <a:r>
              <a:rPr lang="en-US" err="1"/>
              <a:t>merken</a:t>
            </a:r>
            <a:r>
              <a:rPr lang="en-US"/>
              <a:t> </a:t>
            </a:r>
            <a:r>
              <a:rPr lang="en-US" err="1"/>
              <a:t>zoals</a:t>
            </a:r>
            <a:r>
              <a:rPr lang="en-US"/>
              <a:t> Zara, die </a:t>
            </a:r>
            <a:r>
              <a:rPr lang="en-US" err="1"/>
              <a:t>wereldwijd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sterke</a:t>
            </a:r>
            <a:r>
              <a:rPr lang="en-US"/>
              <a:t> </a:t>
            </a:r>
            <a:r>
              <a:rPr lang="en-US" err="1"/>
              <a:t>reputatie</a:t>
            </a:r>
            <a:r>
              <a:rPr lang="en-US"/>
              <a:t> </a:t>
            </a:r>
            <a:r>
              <a:rPr lang="en-US" err="1"/>
              <a:t>hebben</a:t>
            </a:r>
            <a:endParaRPr lang="en-US"/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5563 </a:t>
            </a:r>
            <a:r>
              <a:rPr lang="en-US" err="1"/>
              <a:t>winkels</a:t>
            </a:r>
            <a:r>
              <a:rPr lang="en-US"/>
              <a:t> in </a:t>
            </a:r>
            <a:r>
              <a:rPr lang="en-US" err="1"/>
              <a:t>meer</a:t>
            </a:r>
            <a:r>
              <a:rPr lang="en-US"/>
              <a:t> dan 90 </a:t>
            </a:r>
            <a:r>
              <a:rPr lang="en-US" err="1"/>
              <a:t>landen</a:t>
            </a:r>
            <a:endParaRPr lang="en-US"/>
          </a:p>
          <a:p>
            <a:pPr>
              <a:buFont typeface="Calibri" panose="020B0604020202020204" pitchFamily="34" charset="0"/>
              <a:buChar char="-"/>
            </a:pPr>
            <a:r>
              <a:rPr lang="en-US" err="1"/>
              <a:t>Zetten</a:t>
            </a:r>
            <a:r>
              <a:rPr lang="en-US"/>
              <a:t> in op CO2-reductie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BE"/>
          </a:p>
          <a:p>
            <a:pPr marL="0" indent="0">
              <a:buFont typeface="Calibri" panose="020B0604020202020204" pitchFamily="34" charset="0"/>
              <a:buNone/>
            </a:pPr>
            <a:r>
              <a:rPr lang="en-BE" b="1"/>
              <a:t>Weaknesses: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Zara is </a:t>
            </a:r>
            <a:r>
              <a:rPr lang="en-US" err="1">
                <a:ea typeface="+mn-lt"/>
                <a:cs typeface="+mn-lt"/>
              </a:rPr>
              <a:t>goed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groot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deel</a:t>
            </a:r>
            <a:r>
              <a:rPr lang="en-US">
                <a:ea typeface="+mn-lt"/>
                <a:cs typeface="+mn-lt"/>
              </a:rPr>
              <a:t> van de </a:t>
            </a:r>
            <a:r>
              <a:rPr lang="en-US" err="1">
                <a:ea typeface="+mn-lt"/>
                <a:cs typeface="+mn-lt"/>
              </a:rPr>
              <a:t>omzet</a:t>
            </a:r>
            <a:r>
              <a:rPr lang="en-US">
                <a:ea typeface="+mn-lt"/>
                <a:cs typeface="+mn-lt"/>
              </a:rPr>
              <a:t>, wat </a:t>
            </a:r>
            <a:r>
              <a:rPr lang="en-US" err="1">
                <a:ea typeface="+mn-lt"/>
                <a:cs typeface="+mn-lt"/>
              </a:rPr>
              <a:t>een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risico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vormen</a:t>
            </a:r>
            <a:endParaRPr lang="en-BE" err="1"/>
          </a:p>
          <a:p>
            <a:pPr>
              <a:buFont typeface="Calibri" panose="020B0604020202020204" pitchFamily="34" charset="0"/>
              <a:buChar char="-"/>
            </a:pPr>
            <a:r>
              <a:rPr lang="en-US" err="1"/>
              <a:t>Onzekerheid</a:t>
            </a:r>
            <a:r>
              <a:rPr lang="en-US"/>
              <a:t> over de </a:t>
            </a:r>
            <a:r>
              <a:rPr lang="en-US" err="1"/>
              <a:t>importtarieven</a:t>
            </a:r>
            <a:r>
              <a:rPr lang="en-US"/>
              <a:t> --&gt; </a:t>
            </a:r>
            <a:r>
              <a:rPr lang="en-US" err="1"/>
              <a:t>consumentenvertrouwen</a:t>
            </a:r>
            <a:r>
              <a:rPr lang="en-US"/>
              <a:t> aanpassen</a:t>
            </a:r>
          </a:p>
          <a:p>
            <a:pPr marL="0" indent="0">
              <a:buNone/>
            </a:pPr>
            <a:endParaRPr lang="en-BE"/>
          </a:p>
          <a:p>
            <a:pPr>
              <a:buFont typeface="Calibri" panose="020B0604020202020204" pitchFamily="34" charset="0"/>
              <a:buChar char="-"/>
            </a:pPr>
            <a:endParaRPr lang="en-BE"/>
          </a:p>
          <a:p>
            <a:pPr>
              <a:buFont typeface="Calibri" panose="020B0604020202020204" pitchFamily="34" charset="0"/>
              <a:buChar char="-"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46288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5623-7A12-6882-FA11-DE381F2C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0741-37D9-3771-0010-0473D246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629DB-BA6C-9198-1371-465A9E7A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BE" b="1" err="1"/>
              <a:t>Opportunities</a:t>
            </a:r>
            <a:r>
              <a:rPr lang="en-BE" b="1"/>
              <a:t>:</a:t>
            </a:r>
            <a:endParaRPr lang="nl-NL" b="1"/>
          </a:p>
          <a:p>
            <a:pPr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Online </a:t>
            </a:r>
            <a:r>
              <a:rPr lang="en-US" err="1">
                <a:ea typeface="+mn-lt"/>
                <a:cs typeface="+mn-lt"/>
              </a:rPr>
              <a:t>verkoop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verder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groeien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vooral</a:t>
            </a:r>
            <a:r>
              <a:rPr lang="en-US">
                <a:ea typeface="+mn-lt"/>
                <a:cs typeface="+mn-lt"/>
              </a:rPr>
              <a:t> via </a:t>
            </a:r>
            <a:r>
              <a:rPr lang="en-US" err="1">
                <a:ea typeface="+mn-lt"/>
                <a:cs typeface="+mn-lt"/>
              </a:rPr>
              <a:t>sociale</a:t>
            </a:r>
            <a:r>
              <a:rPr lang="en-US">
                <a:ea typeface="+mn-lt"/>
                <a:cs typeface="+mn-lt"/>
              </a:rPr>
              <a:t> media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AI-</a:t>
            </a:r>
            <a:r>
              <a:rPr lang="en-US" err="1">
                <a:ea typeface="+mn-lt"/>
                <a:cs typeface="+mn-lt"/>
              </a:rPr>
              <a:t>gestuurde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aanbevelingen</a:t>
            </a:r>
            <a:endParaRPr lang="en-BE" err="1"/>
          </a:p>
          <a:p>
            <a:pPr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Meer </a:t>
            </a:r>
            <a:r>
              <a:rPr lang="en-US" err="1">
                <a:ea typeface="+mn-lt"/>
                <a:cs typeface="+mn-lt"/>
              </a:rPr>
              <a:t>vraag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ecologisch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verantwoorde</a:t>
            </a:r>
            <a:r>
              <a:rPr lang="en-US">
                <a:ea typeface="+mn-lt"/>
                <a:cs typeface="+mn-lt"/>
              </a:rPr>
              <a:t> mode </a:t>
            </a:r>
            <a:r>
              <a:rPr lang="en-US" err="1">
                <a:ea typeface="+mn-lt"/>
                <a:cs typeface="+mn-lt"/>
              </a:rPr>
              <a:t>biedt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kansen</a:t>
            </a:r>
            <a:endParaRPr lang="en-US" err="1"/>
          </a:p>
          <a:p>
            <a:pPr marL="0" indent="0">
              <a:buNone/>
            </a:pPr>
            <a:endParaRPr lang="en-BE"/>
          </a:p>
          <a:p>
            <a:pPr marL="0" indent="0">
              <a:buNone/>
            </a:pPr>
            <a:r>
              <a:rPr lang="en-BE" b="1"/>
              <a:t>Threats: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>
                <a:ea typeface="+mn-lt"/>
                <a:cs typeface="+mn-lt"/>
              </a:rPr>
              <a:t>Andere fast fashion-</a:t>
            </a:r>
            <a:r>
              <a:rPr lang="en-US" err="1">
                <a:ea typeface="+mn-lt"/>
                <a:cs typeface="+mn-lt"/>
              </a:rPr>
              <a:t>spelers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zoals</a:t>
            </a:r>
            <a:r>
              <a:rPr lang="en-US">
                <a:ea typeface="+mn-lt"/>
                <a:cs typeface="+mn-lt"/>
              </a:rPr>
              <a:t> H&amp;M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SHEIN </a:t>
            </a:r>
            <a:r>
              <a:rPr lang="en-US" err="1">
                <a:ea typeface="+mn-lt"/>
                <a:cs typeface="+mn-lt"/>
              </a:rPr>
              <a:t>bieden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sterke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concurrentie</a:t>
            </a:r>
            <a:endParaRPr lang="en-BE" err="1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err="1">
                <a:ea typeface="+mn-lt"/>
                <a:cs typeface="+mn-lt"/>
              </a:rPr>
              <a:t>Overheden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voeren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strengere</a:t>
            </a:r>
            <a:r>
              <a:rPr lang="en-US">
                <a:ea typeface="+mn-lt"/>
                <a:cs typeface="+mn-lt"/>
              </a:rPr>
              <a:t> regels in </a:t>
            </a:r>
            <a:r>
              <a:rPr lang="en-US" err="1">
                <a:ea typeface="+mn-lt"/>
                <a:cs typeface="+mn-lt"/>
              </a:rPr>
              <a:t>voor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duurzaam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produceren</a:t>
            </a:r>
            <a:endParaRPr lang="en-US" err="1"/>
          </a:p>
          <a:p>
            <a:pPr>
              <a:buFont typeface="Calibri" panose="020B0604020202020204" pitchFamily="34" charset="0"/>
              <a:buChar char="-"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93113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Sterke marktpositie </a:t>
            </a:r>
            <a:endParaRPr lang="nl-NL"/>
          </a:p>
          <a:p>
            <a:r>
              <a:rPr lang="en-BE" err="1"/>
              <a:t>Indrukwekkende</a:t>
            </a:r>
            <a:r>
              <a:rPr lang="en-BE"/>
              <a:t> track record </a:t>
            </a:r>
          </a:p>
          <a:p>
            <a:r>
              <a:rPr lang="en-BE"/>
              <a:t>Groot </a:t>
            </a:r>
            <a:r>
              <a:rPr lang="en-BE" err="1"/>
              <a:t>belang</a:t>
            </a:r>
            <a:r>
              <a:rPr lang="en-BE"/>
              <a:t> insiders </a:t>
            </a:r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sz="3200"/>
              <a:t>50 stuks aan €45</a:t>
            </a:r>
          </a:p>
        </p:txBody>
      </p:sp>
      <p:pic>
        <p:nvPicPr>
          <p:cNvPr id="4" name="Afbeelding 3" descr="Afbeelding met tekst, schermopname, Perceel, diagram&#10;&#10;Door AI gegenereerde inhoud is mogelijk onjuist.">
            <a:extLst>
              <a:ext uri="{FF2B5EF4-FFF2-40B4-BE49-F238E27FC236}">
                <a16:creationId xmlns:a16="http://schemas.microsoft.com/office/drawing/2014/main" id="{2D707FF2-AD06-5DBD-B3F7-CAA8C36C3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112" y="2325774"/>
            <a:ext cx="7549243" cy="452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Breedbeeld</PresentationFormat>
  <Paragraphs>53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Lato</vt:lpstr>
      <vt:lpstr>Lato Black</vt:lpstr>
      <vt:lpstr>Kantoorthema</vt:lpstr>
      <vt:lpstr>PowerPoint-presentatie</vt:lpstr>
      <vt:lpstr>Inditex</vt:lpstr>
      <vt:lpstr>Korte inleiding</vt:lpstr>
      <vt:lpstr>Geschiedenis</vt:lpstr>
      <vt:lpstr>Management</vt:lpstr>
      <vt:lpstr>Bedrijfsactiviteiten</vt:lpstr>
      <vt:lpstr>PowerPoint-presentatie</vt:lpstr>
      <vt:lpstr>Financials </vt:lpstr>
      <vt:lpstr>Financials </vt:lpstr>
      <vt:lpstr>Cash Flow </vt:lpstr>
      <vt:lpstr>Waardering </vt:lpstr>
      <vt:lpstr>SWOT-analyse</vt:lpstr>
      <vt:lpstr>SWOT-analyse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2025-05-08T18:33:47Z</dcterms:created>
  <dcterms:modified xsi:type="dcterms:W3CDTF">2025-05-08T18:33:53Z</dcterms:modified>
</cp:coreProperties>
</file>