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5" r:id="rId3"/>
    <p:sldId id="356" r:id="rId4"/>
    <p:sldId id="357" r:id="rId5"/>
    <p:sldId id="358" r:id="rId6"/>
    <p:sldId id="359" r:id="rId7"/>
    <p:sldId id="360" r:id="rId8"/>
    <p:sldId id="361" r:id="rId9"/>
    <p:sldId id="285" r:id="rId10"/>
    <p:sldId id="362" r:id="rId11"/>
    <p:sldId id="288" r:id="rId12"/>
    <p:sldId id="290" r:id="rId13"/>
    <p:sldId id="289" r:id="rId14"/>
    <p:sldId id="363" r:id="rId15"/>
    <p:sldId id="364" r:id="rId16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20BFC-92E0-1986-9628-B1D8FE7D5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6671EAF-C4A3-FD97-0309-A2C707BA9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E71CD85-24E6-F15F-A6CE-010CEA74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C6D9-16D8-4B0E-9353-7DD697ABE3F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8D33D91-A090-659A-3136-3835CE579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720FBC7-7909-8D45-A719-5156B80C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85BE-7416-41D7-A7D2-D435CF478A6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12710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2DFA7E-CC52-00FE-3E36-8DD87B8D5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E48BCFD-2B2C-FADA-BC18-B7080816D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382A026-EBC7-6223-DACB-6F1E17A8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C6D9-16D8-4B0E-9353-7DD697ABE3F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7C5FBB5-2B18-1C7B-25B1-DDE3910E0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8F60ED5-148B-07F3-80D9-4A2BF5D3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85BE-7416-41D7-A7D2-D435CF478A6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18942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4AB2B5-0896-8A01-C5CA-B9BDEEACB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5121786-616D-3536-A6CC-A8263F1ED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5E26FCE-B868-586E-AA2D-1D2946DEA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C6D9-16D8-4B0E-9353-7DD697ABE3F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C169D6C-28FF-8814-D561-FD2C879C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9D0290-4782-F5A5-C4BC-7A64BAA5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85BE-7416-41D7-A7D2-D435CF478A6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4093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384739-3B30-DFCF-139D-7AE090C01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C32BF7-F198-9C6F-0644-7CF084090F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C7D285E-5B45-E94B-137D-D9EC2B281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6A44F30-6DAC-A7B8-73E6-BC3F6481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C6D9-16D8-4B0E-9353-7DD697ABE3F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2556F30-1A55-6F0E-84EC-73A7B89F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6F65433-F5E3-FB2C-519E-B8D60A8FD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85BE-7416-41D7-A7D2-D435CF478A6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9686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82C968-F392-8309-517E-DB44DF88B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F3E1C9B-564D-C1ED-00A4-16B3014E7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87006F-996E-7482-D342-55BCB0000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5915914-EE8F-9AD8-9B76-8B8906595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A853D78-71C1-C83D-0E52-F83D16FCA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AF95345-2FB1-BD96-B473-4B0D617DD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C6D9-16D8-4B0E-9353-7DD697ABE3F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4D3339B-2807-64AC-D12E-1FB4BE8C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25B318E-A80B-A29A-BF39-44198390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85BE-7416-41D7-A7D2-D435CF478A6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6566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36E58D-FFCC-FD4E-31EC-F5B1D794A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5F46BCE-0F4C-FFF3-F542-18251DE60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C6D9-16D8-4B0E-9353-7DD697ABE3F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175762F-16BB-5C4E-E160-F3BB95DEF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616ADE5-F457-37B0-F4C9-81B62489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85BE-7416-41D7-A7D2-D435CF478A6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0128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F66708F-A56A-1968-FA76-7330EF4C9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C6D9-16D8-4B0E-9353-7DD697ABE3F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6B0294B-2EB2-1006-54E6-CBA56A2E7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95D6CFB-D357-58CF-1BD2-86D77C9A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85BE-7416-41D7-A7D2-D435CF478A6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744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987223-9B02-5C31-D903-C8D73E308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ECA0521-1C34-F845-E7C1-0A72D0C75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AF9B57A-A80B-0060-F0F5-10DD37ACC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7A65236-4295-CCD8-1FE0-B44B29D8B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C6D9-16D8-4B0E-9353-7DD697ABE3F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63C25C1-20F2-3129-D9C7-5238AFE3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A2DB7C1-D4FC-E30F-1687-30885EAD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85BE-7416-41D7-A7D2-D435CF478A6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20382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C3F75-AFC5-D5BF-8745-B0BFCE632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F9C12B06-EF82-C98B-9D15-506DB98267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BDA679B-E9BF-1020-2D28-D9274C092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A53F072-4D3F-2B8E-3B9F-092ED7EB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C6D9-16D8-4B0E-9353-7DD697ABE3F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E4AE5F0-3BE6-F2D5-4E72-B68A7BFA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CABED7B-AB68-5708-F1D0-5CA8AB978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85BE-7416-41D7-A7D2-D435CF478A6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97586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C04402-C0ED-7B49-6C39-559F9948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2A4EB0D-BD46-9F4C-44F2-86581D2D8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D507FE1-B4B0-A1E1-9B1F-8861B1228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C6D9-16D8-4B0E-9353-7DD697ABE3F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B10347F-A402-9FB3-CF43-967C9E737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39F1F15-1A73-651F-1C27-75620E6F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85BE-7416-41D7-A7D2-D435CF478A6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77005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FC3B0B27-ECF2-9C78-AE8D-85B1149784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B112BBF-BC8B-90F1-2FCA-2E01F0566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E7C2C28-02AD-FE4F-AD70-26BB4D672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0C6D9-16D8-4B0E-9353-7DD697ABE3F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F815BE-7B6A-81EA-15BE-E74DEEBEF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31A2B0F-62BD-AF4A-8DF9-53479088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85BE-7416-41D7-A7D2-D435CF478A6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1139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9952451-E194-816F-582E-89A846993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FE49E62-E014-3A7D-06A1-EC3ACB761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1A11ED-6832-6BEC-99CD-BBF03CCD6E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0C6D9-16D8-4B0E-9353-7DD697ABE3F2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719A6E7-C0A3-894E-CF43-6B2FF1ACF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E49A0F8-2349-1CC0-6A25-803E308B0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F85BE-7416-41D7-A7D2-D435CF478A6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4695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4ADD0-E91B-0FA8-0138-881CF62C0E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56CE4F0-59B0-3D7C-7A46-1015860243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03415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3602038"/>
            <a:ext cx="10491020" cy="1655762"/>
          </a:xfrm>
        </p:spPr>
        <p:txBody>
          <a:bodyPr>
            <a:normAutofit/>
          </a:bodyPr>
          <a:lstStyle/>
          <a:p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 panose="020F0502020204030203" pitchFamily="34" charset="0"/>
              </a:rPr>
              <a:t>Ruben Tack, 2024-2025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3C8254B-0E16-B7B4-CA70-A8A7A8C4E9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54442A9B-798A-0720-4A03-E7115FC06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218"/>
            <a:ext cx="12192000" cy="687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Korte inleiding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161"/>
            <a:ext cx="10515600" cy="4351338"/>
          </a:xfrm>
        </p:spPr>
        <p:txBody>
          <a:bodyPr/>
          <a:lstStyle/>
          <a:p>
            <a:r>
              <a:rPr lang="nl-BE"/>
              <a:t>B2B online casino games voor online casino bedrijven</a:t>
            </a:r>
            <a:endParaRPr lang="en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68DD394-6D03-E058-EB52-2AF302A16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341" y="2135614"/>
            <a:ext cx="5865317" cy="386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59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4EE3B-F0D9-B3E9-CF42-E5E0D3A4D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8DB68-F8CC-F535-8122-FBDD2B39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Geschiedenis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F131C-A464-C195-35BB-DD6BF4AD0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161"/>
            <a:ext cx="10515600" cy="4351338"/>
          </a:xfrm>
        </p:spPr>
        <p:txBody>
          <a:bodyPr/>
          <a:lstStyle/>
          <a:p>
            <a:r>
              <a:rPr lang="nl-BE"/>
              <a:t>Opgericht in 2006 in Stockholm door </a:t>
            </a:r>
            <a:r>
              <a:rPr lang="de-DE"/>
              <a:t>Jens von Bahr and Fredrik Österberg</a:t>
            </a:r>
          </a:p>
          <a:p>
            <a:r>
              <a:rPr lang="de-DE"/>
              <a:t>2013: </a:t>
            </a:r>
            <a:r>
              <a:rPr lang="de-DE" err="1"/>
              <a:t>grootste</a:t>
            </a:r>
            <a:r>
              <a:rPr lang="de-DE"/>
              <a:t> </a:t>
            </a:r>
            <a:r>
              <a:rPr lang="de-DE" err="1"/>
              <a:t>casino</a:t>
            </a:r>
            <a:r>
              <a:rPr lang="de-DE"/>
              <a:t> </a:t>
            </a:r>
            <a:r>
              <a:rPr lang="de-DE" err="1"/>
              <a:t>site</a:t>
            </a:r>
            <a:r>
              <a:rPr lang="de-DE"/>
              <a:t> van Europa</a:t>
            </a:r>
          </a:p>
          <a:p>
            <a:r>
              <a:rPr lang="de-DE"/>
              <a:t>2015: </a:t>
            </a:r>
            <a:r>
              <a:rPr lang="de-DE" err="1"/>
              <a:t>opening</a:t>
            </a:r>
            <a:r>
              <a:rPr lang="de-DE"/>
              <a:t> </a:t>
            </a:r>
            <a:r>
              <a:rPr lang="de-DE" err="1"/>
              <a:t>studio</a:t>
            </a:r>
            <a:r>
              <a:rPr lang="de-DE"/>
              <a:t> in </a:t>
            </a:r>
            <a:r>
              <a:rPr lang="de-DE" err="1"/>
              <a:t>België</a:t>
            </a:r>
            <a:endParaRPr lang="de-DE"/>
          </a:p>
          <a:p>
            <a:r>
              <a:rPr lang="de-DE"/>
              <a:t>2017: Nasdaq Nordic </a:t>
            </a:r>
            <a:r>
              <a:rPr lang="de-DE" err="1"/>
              <a:t>listing</a:t>
            </a:r>
            <a:endParaRPr lang="de-DE"/>
          </a:p>
          <a:p>
            <a:r>
              <a:rPr lang="de-DE"/>
              <a:t>2018: </a:t>
            </a:r>
            <a:r>
              <a:rPr lang="de-DE" err="1"/>
              <a:t>Eerste</a:t>
            </a:r>
            <a:r>
              <a:rPr lang="de-DE"/>
              <a:t> </a:t>
            </a:r>
            <a:r>
              <a:rPr lang="de-DE" err="1"/>
              <a:t>stappen</a:t>
            </a:r>
            <a:r>
              <a:rPr lang="de-DE"/>
              <a:t> </a:t>
            </a:r>
            <a:r>
              <a:rPr lang="de-DE" err="1"/>
              <a:t>gezet</a:t>
            </a:r>
            <a:r>
              <a:rPr lang="de-DE"/>
              <a:t> in VS </a:t>
            </a:r>
            <a:r>
              <a:rPr lang="de-DE" err="1"/>
              <a:t>door</a:t>
            </a:r>
            <a:r>
              <a:rPr lang="de-DE"/>
              <a:t> </a:t>
            </a:r>
            <a:r>
              <a:rPr lang="de-DE" err="1"/>
              <a:t>overname</a:t>
            </a:r>
            <a:r>
              <a:rPr lang="de-DE"/>
              <a:t> van </a:t>
            </a:r>
            <a:r>
              <a:rPr lang="de-DE" err="1"/>
              <a:t>Ezugi</a:t>
            </a:r>
            <a:endParaRPr lang="de-DE"/>
          </a:p>
          <a:p>
            <a:r>
              <a:rPr lang="de-DE"/>
              <a:t>2020: </a:t>
            </a:r>
            <a:r>
              <a:rPr lang="de-DE" err="1"/>
              <a:t>Overname</a:t>
            </a:r>
            <a:r>
              <a:rPr lang="de-DE"/>
              <a:t> </a:t>
            </a:r>
            <a:r>
              <a:rPr lang="de-DE" err="1"/>
              <a:t>Netent</a:t>
            </a:r>
            <a:r>
              <a:rPr lang="de-DE"/>
              <a:t>, digital </a:t>
            </a:r>
            <a:r>
              <a:rPr lang="de-DE" err="1"/>
              <a:t>slots</a:t>
            </a:r>
            <a:r>
              <a:rPr lang="de-DE"/>
              <a:t> </a:t>
            </a:r>
            <a:r>
              <a:rPr lang="de-DE" err="1"/>
              <a:t>provider</a:t>
            </a:r>
            <a:r>
              <a:rPr lang="de-DE"/>
              <a:t>, </a:t>
            </a:r>
            <a:r>
              <a:rPr lang="de-DE" err="1"/>
              <a:t>grootste</a:t>
            </a:r>
            <a:r>
              <a:rPr lang="de-DE"/>
              <a:t> </a:t>
            </a:r>
            <a:r>
              <a:rPr lang="de-DE" err="1"/>
              <a:t>competitor</a:t>
            </a:r>
            <a:endParaRPr lang="de-DE"/>
          </a:p>
          <a:p>
            <a:r>
              <a:rPr lang="de-DE"/>
              <a:t>-nu: </a:t>
            </a:r>
            <a:r>
              <a:rPr lang="de-DE" err="1"/>
              <a:t>Uitbreiding</a:t>
            </a:r>
            <a:r>
              <a:rPr lang="de-DE"/>
              <a:t> in VS en </a:t>
            </a:r>
            <a:r>
              <a:rPr lang="de-DE" err="1"/>
              <a:t>Azië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2793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nagement | Corporate Governance | Evolution Gaming Group">
            <a:extLst>
              <a:ext uri="{FF2B5EF4-FFF2-40B4-BE49-F238E27FC236}">
                <a16:creationId xmlns:a16="http://schemas.microsoft.com/office/drawing/2014/main" id="{E1EB03C2-E87A-F693-E398-96FB75AF2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61588"/>
            <a:ext cx="2460811" cy="246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Management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0154"/>
            <a:ext cx="10515600" cy="4351338"/>
          </a:xfrm>
        </p:spPr>
        <p:txBody>
          <a:bodyPr/>
          <a:lstStyle/>
          <a:p>
            <a:r>
              <a:rPr lang="nl-BE"/>
              <a:t>Martin </a:t>
            </a:r>
            <a:r>
              <a:rPr lang="nl-BE" err="1"/>
              <a:t>Carlesund</a:t>
            </a:r>
            <a:r>
              <a:rPr lang="nl-BE"/>
              <a:t> CEO sinds 2016</a:t>
            </a:r>
          </a:p>
          <a:p>
            <a:r>
              <a:rPr lang="nl-BE"/>
              <a:t>Jens </a:t>
            </a:r>
            <a:r>
              <a:rPr lang="nl-BE" err="1"/>
              <a:t>von</a:t>
            </a:r>
            <a:r>
              <a:rPr lang="nl-BE"/>
              <a:t> </a:t>
            </a:r>
            <a:r>
              <a:rPr lang="nl-BE" err="1"/>
              <a:t>Bahr</a:t>
            </a:r>
            <a:r>
              <a:rPr lang="nl-BE"/>
              <a:t> (oprichter) Chairman of </a:t>
            </a:r>
            <a:r>
              <a:rPr lang="nl-BE" err="1"/>
              <a:t>the</a:t>
            </a:r>
            <a:r>
              <a:rPr lang="nl-BE"/>
              <a:t> Board sinds 2015</a:t>
            </a:r>
          </a:p>
          <a:p>
            <a:r>
              <a:rPr lang="nl-BE"/>
              <a:t>Frederik </a:t>
            </a:r>
            <a:r>
              <a:rPr lang="nl-BE" err="1"/>
              <a:t>Österberg</a:t>
            </a:r>
            <a:r>
              <a:rPr lang="nl-BE"/>
              <a:t> deel van de board</a:t>
            </a:r>
          </a:p>
          <a:p>
            <a:r>
              <a:rPr lang="nl-BE" err="1"/>
              <a:t>Todd</a:t>
            </a:r>
            <a:r>
              <a:rPr lang="nl-BE"/>
              <a:t> </a:t>
            </a:r>
            <a:r>
              <a:rPr lang="nl-BE" err="1"/>
              <a:t>haushalter</a:t>
            </a:r>
            <a:r>
              <a:rPr lang="nl-BE"/>
              <a:t>, Chief Product </a:t>
            </a:r>
            <a:r>
              <a:rPr lang="nl-BE" err="1"/>
              <a:t>Officer</a:t>
            </a:r>
            <a:r>
              <a:rPr lang="nl-BE"/>
              <a:t>, ‘Steve Jobs of </a:t>
            </a:r>
            <a:r>
              <a:rPr lang="nl-BE" err="1"/>
              <a:t>Gambling</a:t>
            </a:r>
            <a:r>
              <a:rPr lang="nl-BE"/>
              <a:t>’ 2015 bij </a:t>
            </a:r>
            <a:r>
              <a:rPr lang="nl-BE" err="1"/>
              <a:t>Evolution</a:t>
            </a:r>
            <a:endParaRPr lang="nl-BE"/>
          </a:p>
          <a:p>
            <a:endParaRPr lang="nl-BE"/>
          </a:p>
          <a:p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80B00DFE-982A-7FAE-8AED-10350D786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412" y="3963271"/>
            <a:ext cx="2359127" cy="2359127"/>
          </a:xfrm>
          <a:prstGeom prst="rect">
            <a:avLst/>
          </a:prstGeom>
        </p:spPr>
      </p:pic>
      <p:pic>
        <p:nvPicPr>
          <p:cNvPr id="1032" name="Picture 8" descr="todd haushalter (@toddhaushalter) / X">
            <a:extLst>
              <a:ext uri="{FF2B5EF4-FFF2-40B4-BE49-F238E27FC236}">
                <a16:creationId xmlns:a16="http://schemas.microsoft.com/office/drawing/2014/main" id="{32F55E18-E36A-5C46-3EDC-4704C2BFD0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167" b="67083" l="26600" r="80400">
                        <a14:foregroundMark x1="36400" y1="43958" x2="48400" y2="49792"/>
                        <a14:foregroundMark x1="48400" y1="49792" x2="68400" y2="52708"/>
                        <a14:foregroundMark x1="68400" y1="52708" x2="69800" y2="51458"/>
                        <a14:foregroundMark x1="57200" y1="34792" x2="65200" y2="40000"/>
                        <a14:foregroundMark x1="44600" y1="4167" x2="50800" y2="4583"/>
                        <a14:foregroundMark x1="35400" y1="46875" x2="33000" y2="54583"/>
                        <a14:foregroundMark x1="42600" y1="51250" x2="46600" y2="59583"/>
                        <a14:foregroundMark x1="69800" y1="45208" x2="78000" y2="61042"/>
                        <a14:foregroundMark x1="75000" y1="42500" x2="80400" y2="55208"/>
                        <a14:foregroundMark x1="71800" y1="59375" x2="32600" y2="57292"/>
                        <a14:foregroundMark x1="31600" y1="60417" x2="64600" y2="66042"/>
                        <a14:foregroundMark x1="64600" y1="66042" x2="65400" y2="670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468" r="16529" b="37067"/>
          <a:stretch/>
        </p:blipFill>
        <p:spPr bwMode="auto">
          <a:xfrm>
            <a:off x="5070619" y="3861587"/>
            <a:ext cx="2566220" cy="2460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41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B7CF4049-AF28-982F-E0C2-F4FF4DAC1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647" y="2266630"/>
            <a:ext cx="7053756" cy="4417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Bedrijfsactiviteiten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/>
          <a:lstStyle/>
          <a:p>
            <a:r>
              <a:rPr lang="nl-BE"/>
              <a:t>Ontwikkelt, produceert, verhuurt B2B online casino games aan game operators</a:t>
            </a:r>
          </a:p>
          <a:p>
            <a:r>
              <a:rPr lang="nl-BE"/>
              <a:t>3 grote studio’s: Riga, Tbilisi, Malta</a:t>
            </a:r>
          </a:p>
          <a:p>
            <a:r>
              <a:rPr lang="nl-BE"/>
              <a:t>&gt; 600 game operators</a:t>
            </a:r>
          </a:p>
          <a:p>
            <a:r>
              <a:rPr lang="nl-BE"/>
              <a:t>70% market share</a:t>
            </a:r>
          </a:p>
          <a:p>
            <a:r>
              <a:rPr lang="nl-BE"/>
              <a:t>1300 live casino tafels</a:t>
            </a:r>
          </a:p>
          <a:p>
            <a:endParaRPr lang="en-BE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77343585-87FE-2B83-6E1E-63DC842A044E}"/>
              </a:ext>
            </a:extLst>
          </p:cNvPr>
          <p:cNvSpPr/>
          <p:nvPr/>
        </p:nvSpPr>
        <p:spPr>
          <a:xfrm>
            <a:off x="659757" y="5671595"/>
            <a:ext cx="5127585" cy="7176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75039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8FD2E-5A0B-CAE9-784D-4E80F4AEE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D4D3-D2B7-696E-335C-D41911F4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Bedrijfsactiviteiten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63F14-0F01-5E6A-D299-43107F531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/>
          <a:lstStyle/>
          <a:p>
            <a:r>
              <a:rPr lang="nl-BE"/>
              <a:t>Live casino (84% omzet): live dealer</a:t>
            </a:r>
          </a:p>
          <a:p>
            <a:pPr lvl="1"/>
            <a:r>
              <a:rPr lang="nl-BE"/>
              <a:t>Blackjack</a:t>
            </a:r>
          </a:p>
          <a:p>
            <a:pPr lvl="1"/>
            <a:r>
              <a:rPr lang="nl-BE"/>
              <a:t>Roulette</a:t>
            </a:r>
          </a:p>
          <a:p>
            <a:pPr lvl="1"/>
            <a:r>
              <a:rPr lang="nl-BE"/>
              <a:t>Baccarat</a:t>
            </a:r>
          </a:p>
          <a:p>
            <a:pPr lvl="1"/>
            <a:r>
              <a:rPr lang="nl-BE"/>
              <a:t>…</a:t>
            </a:r>
          </a:p>
          <a:p>
            <a:r>
              <a:rPr lang="nl-BE"/>
              <a:t>Random </a:t>
            </a:r>
            <a:r>
              <a:rPr lang="nl-BE" err="1"/>
              <a:t>Number</a:t>
            </a:r>
            <a:r>
              <a:rPr lang="nl-BE"/>
              <a:t> Games (16% omzet)</a:t>
            </a:r>
          </a:p>
          <a:p>
            <a:pPr lvl="1"/>
            <a:r>
              <a:rPr lang="nl-BE"/>
              <a:t>Roulette</a:t>
            </a:r>
          </a:p>
          <a:p>
            <a:pPr lvl="1"/>
            <a:r>
              <a:rPr lang="nl-BE" err="1"/>
              <a:t>Slots</a:t>
            </a:r>
            <a:endParaRPr lang="nl-BE"/>
          </a:p>
          <a:p>
            <a:pPr lvl="1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07320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3AB9690-7464-DD2E-FAA4-E8F63D7CC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871" y="1520825"/>
            <a:ext cx="5534598" cy="4989524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DE9045B-0558-7A20-0AC4-563E484C3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/>
          <a:lstStyle/>
          <a:p>
            <a:r>
              <a:rPr lang="nl-BE" err="1"/>
              <a:t>Recurring</a:t>
            </a:r>
            <a:r>
              <a:rPr lang="nl-BE"/>
              <a:t> </a:t>
            </a:r>
            <a:r>
              <a:rPr lang="nl-BE" err="1"/>
              <a:t>revenue</a:t>
            </a:r>
            <a:r>
              <a:rPr lang="nl-BE"/>
              <a:t> via de tafels</a:t>
            </a:r>
          </a:p>
          <a:p>
            <a:r>
              <a:rPr lang="nl-BE"/>
              <a:t>10-12% geschatte inkomsten </a:t>
            </a:r>
            <a:br>
              <a:rPr lang="nl-BE"/>
            </a:br>
            <a:r>
              <a:rPr lang="nl-BE"/>
              <a:t>van winst van de casino’s</a:t>
            </a:r>
          </a:p>
          <a:p>
            <a:r>
              <a:rPr lang="nl-BE" err="1"/>
              <a:t>Revenue</a:t>
            </a:r>
            <a:r>
              <a:rPr lang="nl-BE"/>
              <a:t> CAGR (10 </a:t>
            </a:r>
            <a:r>
              <a:rPr lang="nl-BE" err="1"/>
              <a:t>yr</a:t>
            </a:r>
            <a:r>
              <a:rPr lang="nl-BE"/>
              <a:t> </a:t>
            </a:r>
            <a:r>
              <a:rPr lang="nl-BE" err="1"/>
              <a:t>avg</a:t>
            </a:r>
            <a:r>
              <a:rPr lang="nl-BE"/>
              <a:t>) = 46,8%</a:t>
            </a:r>
          </a:p>
          <a:p>
            <a:r>
              <a:rPr lang="nl-BE"/>
              <a:t>EPS CAGR (5 </a:t>
            </a:r>
            <a:r>
              <a:rPr lang="nl-BE" err="1"/>
              <a:t>yr</a:t>
            </a:r>
            <a:r>
              <a:rPr lang="nl-BE"/>
              <a:t> </a:t>
            </a:r>
            <a:r>
              <a:rPr lang="nl-BE" err="1"/>
              <a:t>avg</a:t>
            </a:r>
            <a:r>
              <a:rPr lang="nl-BE"/>
              <a:t>) = 62,2%</a:t>
            </a:r>
          </a:p>
          <a:p>
            <a:r>
              <a:rPr lang="nl-BE" err="1"/>
              <a:t>Capex</a:t>
            </a:r>
            <a:r>
              <a:rPr lang="nl-BE"/>
              <a:t>/Sales (10 </a:t>
            </a:r>
            <a:r>
              <a:rPr lang="nl-BE" err="1"/>
              <a:t>yr</a:t>
            </a:r>
            <a:r>
              <a:rPr lang="nl-BE"/>
              <a:t> </a:t>
            </a:r>
            <a:r>
              <a:rPr lang="nl-BE" err="1"/>
              <a:t>avg</a:t>
            </a:r>
            <a:r>
              <a:rPr lang="nl-BE"/>
              <a:t>)= 12,5%</a:t>
            </a:r>
          </a:p>
          <a:p>
            <a:r>
              <a:rPr lang="nl-BE"/>
              <a:t>ROIC (10 </a:t>
            </a:r>
            <a:r>
              <a:rPr lang="nl-BE" err="1"/>
              <a:t>yr</a:t>
            </a:r>
            <a:r>
              <a:rPr lang="nl-BE"/>
              <a:t> </a:t>
            </a:r>
            <a:r>
              <a:rPr lang="nl-BE" err="1"/>
              <a:t>avg</a:t>
            </a:r>
            <a:r>
              <a:rPr lang="nl-BE"/>
              <a:t>) = 71,6%</a:t>
            </a:r>
            <a:br>
              <a:rPr lang="nl-BE"/>
            </a:br>
            <a:r>
              <a:rPr lang="nl-BE"/>
              <a:t>(5 </a:t>
            </a:r>
            <a:r>
              <a:rPr lang="nl-BE" err="1"/>
              <a:t>yr</a:t>
            </a:r>
            <a:r>
              <a:rPr lang="nl-BE"/>
              <a:t> </a:t>
            </a:r>
            <a:r>
              <a:rPr lang="nl-BE" err="1"/>
              <a:t>avg</a:t>
            </a:r>
            <a:r>
              <a:rPr lang="nl-BE"/>
              <a:t>) = 48,6%</a:t>
            </a:r>
          </a:p>
          <a:p>
            <a:endParaRPr lang="nl-BE"/>
          </a:p>
          <a:p>
            <a:pPr lvl="1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72403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7E3ED-1A88-EB6A-6E96-37B752D18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A5BC7-EDCD-2B7C-3AD7-56E9BEE9C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845285A8-89A4-7F11-E822-AF7E85954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81" y="1503351"/>
            <a:ext cx="9867838" cy="498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08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A062-D9A8-C7C6-B7D3-7168085E9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E415B-BFC0-DD9F-FD87-69B56389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8EE29-6C5A-412B-47F3-F73F97DD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13BBAF3-FEB7-0A57-71D1-0057D283C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533" y="1690688"/>
            <a:ext cx="6274839" cy="499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66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B870-793F-35B4-4309-DD47E58F8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84B30-6811-1E50-B32A-7D3622EB4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>
                <a:solidFill>
                  <a:srgbClr val="244337"/>
                </a:solidFill>
                <a:latin typeface="Lato Black" panose="020F0A02020204030203" pitchFamily="34" charset="0"/>
              </a:rPr>
              <a:t>Opportunities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2F58-E9E9-C8F9-8E31-B81CA9EA7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D72B12C-16D3-A3D7-0D20-C5C26B5F0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911" y="1761414"/>
            <a:ext cx="5658640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65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6A04C-EE2C-BEBF-2861-810897935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00A146C-7DDE-DFA0-67B6-F024E0FB5203}"/>
              </a:ext>
            </a:extLst>
          </p:cNvPr>
          <p:cNvSpPr/>
          <p:nvPr/>
        </p:nvSpPr>
        <p:spPr>
          <a:xfrm>
            <a:off x="648183" y="5781032"/>
            <a:ext cx="5127585" cy="7176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AA890-D008-B91B-999A-FF848DB09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>
                <a:solidFill>
                  <a:srgbClr val="244337"/>
                </a:solidFill>
                <a:latin typeface="Lato Black" panose="020F0A02020204030203" pitchFamily="34" charset="0"/>
              </a:rPr>
              <a:t>Opportunities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3A614FE-3574-6FD9-FB92-A411A10CEC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624"/>
          <a:stretch/>
        </p:blipFill>
        <p:spPr>
          <a:xfrm>
            <a:off x="3102016" y="4115966"/>
            <a:ext cx="8980848" cy="2678373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8213BDC3-1634-62B7-EC37-57CFE98B3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273" r="50000"/>
          <a:stretch/>
        </p:blipFill>
        <p:spPr>
          <a:xfrm>
            <a:off x="7427088" y="1575716"/>
            <a:ext cx="4490424" cy="254025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A4C20A5-5844-2939-BEEA-E4D7FCD72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nl-BE"/>
              <a:t>Online casino CAGR van 12% tem 2030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31310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E074E-D07D-9DDD-72F0-E0050E93B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3B6A-AC07-8A11-8C4E-C789F333F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>
                <a:solidFill>
                  <a:srgbClr val="244337"/>
                </a:solidFill>
                <a:latin typeface="Lato Black" panose="020F0A02020204030203" pitchFamily="34" charset="0"/>
              </a:rPr>
              <a:t>Threats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1405B-DC3E-6464-2CAF-6C2687A0C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Regulering</a:t>
            </a:r>
            <a:br>
              <a:rPr lang="nl-BE"/>
            </a:br>
            <a:endParaRPr lang="nl-BE"/>
          </a:p>
          <a:p>
            <a:pPr lvl="1"/>
            <a:r>
              <a:rPr lang="nl-BE"/>
              <a:t>EU: bezig met specifieke regulering omtrent online gokken</a:t>
            </a:r>
          </a:p>
          <a:p>
            <a:pPr lvl="1"/>
            <a:r>
              <a:rPr lang="nl-BE"/>
              <a:t>Azië: totaal ongereguleerd, heel veel via Black Market</a:t>
            </a:r>
          </a:p>
          <a:p>
            <a:pPr lvl="1"/>
            <a:r>
              <a:rPr lang="nl-BE"/>
              <a:t>VS: verschil van staat tot staat</a:t>
            </a:r>
          </a:p>
          <a:p>
            <a:pPr lvl="1"/>
            <a:br>
              <a:rPr lang="nl-BE"/>
            </a:br>
            <a:r>
              <a:rPr lang="nl-BE"/>
              <a:t>=&gt; zien als </a:t>
            </a:r>
            <a:r>
              <a:rPr lang="nl-BE" err="1"/>
              <a:t>moat</a:t>
            </a:r>
            <a:r>
              <a:rPr lang="nl-BE"/>
              <a:t>, </a:t>
            </a:r>
            <a:br>
              <a:rPr lang="nl-BE"/>
            </a:br>
            <a:r>
              <a:rPr lang="nl-BE"/>
              <a:t>EVO heeft veel ervaring in regulatie, harder voor competitie om toe te treden</a:t>
            </a:r>
          </a:p>
        </p:txBody>
      </p:sp>
    </p:spTree>
    <p:extLst>
      <p:ext uri="{BB962C8B-B14F-4D97-AF65-F5344CB8AC3E}">
        <p14:creationId xmlns:p14="http://schemas.microsoft.com/office/powerpoint/2010/main" val="847911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Reverse DCF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3151DA6-95DF-15C7-3F06-8F4AF08D9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2497"/>
            <a:ext cx="12192000" cy="4420084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C9547051-854D-ACF3-8D65-6FE993867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826" y="5245503"/>
            <a:ext cx="6460180" cy="146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12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Aankoop: 17 aandelen aan marktprijs (~€1500)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37392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Office PowerPoint</Application>
  <PresentationFormat>Breedbeeld</PresentationFormat>
  <Paragraphs>52</Paragraphs>
  <Slides>15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Lato</vt:lpstr>
      <vt:lpstr>Lato Black</vt:lpstr>
      <vt:lpstr>Kantoorthema</vt:lpstr>
      <vt:lpstr>PowerPoint-presentatie</vt:lpstr>
      <vt:lpstr>PowerPoint-presentatie</vt:lpstr>
      <vt:lpstr>Korte inleiding</vt:lpstr>
      <vt:lpstr>Geschiedenis</vt:lpstr>
      <vt:lpstr>Management</vt:lpstr>
      <vt:lpstr>Bedrijfsactiviteiten</vt:lpstr>
      <vt:lpstr>Bedrijfsactiviteiten</vt:lpstr>
      <vt:lpstr>Financials</vt:lpstr>
      <vt:lpstr>Financials</vt:lpstr>
      <vt:lpstr>Financials</vt:lpstr>
      <vt:lpstr>Opportunities</vt:lpstr>
      <vt:lpstr>Opportunities</vt:lpstr>
      <vt:lpstr>Threats</vt:lpstr>
      <vt:lpstr>Reverse DCF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Tack</dc:creator>
  <cp:lastModifiedBy>Ruben Tack</cp:lastModifiedBy>
  <cp:revision>1</cp:revision>
  <dcterms:created xsi:type="dcterms:W3CDTF">2025-05-08T18:13:21Z</dcterms:created>
  <dcterms:modified xsi:type="dcterms:W3CDTF">2025-05-08T18:13:27Z</dcterms:modified>
</cp:coreProperties>
</file>