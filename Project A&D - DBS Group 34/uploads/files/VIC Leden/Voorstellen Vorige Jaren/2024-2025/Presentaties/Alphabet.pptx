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56" r:id="rId2"/>
    <p:sldId id="351" r:id="rId3"/>
    <p:sldId id="289" r:id="rId4"/>
    <p:sldId id="290" r:id="rId5"/>
    <p:sldId id="287" r:id="rId6"/>
    <p:sldId id="277" r:id="rId7"/>
    <p:sldId id="282" r:id="rId8"/>
    <p:sldId id="283" r:id="rId9"/>
    <p:sldId id="352" r:id="rId10"/>
    <p:sldId id="284" r:id="rId11"/>
    <p:sldId id="275" r:id="rId12"/>
    <p:sldId id="353" r:id="rId13"/>
    <p:sldId id="291" r:id="rId14"/>
    <p:sldId id="281" r:id="rId15"/>
    <p:sldId id="354" r:id="rId16"/>
    <p:sldId id="355" r:id="rId17"/>
    <p:sldId id="285" r:id="rId18"/>
    <p:sldId id="286" r:id="rId19"/>
    <p:sldId id="288" r:id="rId2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vestment Club | VEK" userId="fccfcf99-cb57-4190-863c-7d6490e7bab2" providerId="ADAL" clId="{52E7FD15-0B0D-469F-BFBE-0F43C7265BDF}"/>
    <pc:docChg chg="delSld">
      <pc:chgData name="Investment Club | VEK" userId="fccfcf99-cb57-4190-863c-7d6490e7bab2" providerId="ADAL" clId="{52E7FD15-0B0D-469F-BFBE-0F43C7265BDF}" dt="2025-05-08T18:09:53.268" v="0" actId="47"/>
      <pc:docMkLst>
        <pc:docMk/>
      </pc:docMkLst>
      <pc:sldChg chg="del">
        <pc:chgData name="Investment Club | VEK" userId="fccfcf99-cb57-4190-863c-7d6490e7bab2" providerId="ADAL" clId="{52E7FD15-0B0D-469F-BFBE-0F43C7265BDF}" dt="2025-05-08T18:09:53.268" v="0" actId="47"/>
        <pc:sldMkLst>
          <pc:docMk/>
          <pc:sldMk cId="2983619979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3E76C-53D3-4889-8345-029769D10357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3F8A5-917F-4863-B1C5-C422042EBDA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14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3203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146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92DB8-AF58-B007-59F5-F3499C78C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17076B4-6E0E-0A49-ECBC-AA881C229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E083014-F48E-332D-2477-CD66438C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D7DD430-D1E5-A65D-458A-06A781EF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F0F5127-E040-A5B1-E255-38120747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675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75029-A408-BBF2-8547-E38ED69C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023D370-905D-8CCF-EA42-CE67E9621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C60CE4F-156C-6CED-1CCF-1B85DAD0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6F9C853-2257-E49E-C5C2-AB1E8BFD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976E2A8-C726-C1CC-6606-14B38A68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842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197F3-34EA-1DE4-F559-54CF290D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2CFB5C3-A32F-8A12-C306-E4C044B5A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C7BD2A2-EBD6-AFE8-703F-F1835613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D2F6C3F-41B7-E72B-A51A-ED344FB5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2F745D-F4C9-4FAF-5FBC-B537AD8A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833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2A90-60FD-5B73-5F07-4F5A9198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3453DC-8556-E9CC-CF30-2AAF96139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29CC80B-7BA8-2A7D-EF99-07632D6E0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6154F40-3B1C-1108-0997-95D5C8B8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80040A3-E37B-5C82-4222-C16FBAFE3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BF0B923-FF71-4DA1-18F9-396681AA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233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E698D7-1D8B-A3BF-84F1-3E2D98AA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CBF9C70-41D9-098D-0333-B7D7BCCDA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F5333BA-6EF4-9A71-68AC-773DC7953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14C89F-CE00-34CD-E2E7-5EE27AB94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A18BB08-DD62-A61F-6E89-B06A6B8D4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921A27A-FF64-FF05-D2C8-2D5AEB7B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8A7191-BE08-E142-4E10-6D660C79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F962DED-F732-DC5C-F02F-19956DB4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449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B6E5F4-BF1C-D68B-769D-D2F25505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5A2513F-B9E0-FF9A-A6F1-91C9E80B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755517E-BCBA-C8F6-9142-90AB06AC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AB736C-53F8-AF4F-6D41-835862A1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866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8CCBB8D-9F08-EF55-A7E7-A189857D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E706E59-9204-0DDC-2F08-EF80AB9E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240137D-D719-3A89-809B-583E8FAC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650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625325-D216-D144-58AA-B54FE2CC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37B73B-1F46-62C6-9ECC-4D615077F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249A70-41F8-C4A3-12DC-AB1A13F3C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84581A-7F39-43AE-7286-AB05DDFE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C2F730A-D95A-BB17-8929-C68119D2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3705A67-FA23-3BF7-6416-9E57FA82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441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D43CD-8CCD-B3B8-FE69-15EEAD47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8D2AA8A-3569-7E36-03B1-273BEAE96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31A4F03-6B0A-D399-D1E2-50D975ED6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534D6EE-5494-A6FB-2ED8-682A450F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1A15952-4378-58DB-EBBF-1D467553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F58B4E8-0A3E-2CF1-5656-DC8F25E4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123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3EB97E-6D4F-A4F9-8B98-951C34DF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AA82F98-0821-2848-B707-048D9C96A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689372F-AF6E-B445-F7AD-36015FDE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915476-EF3A-CBC7-38BD-42D6B1FB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E6AE41F-8E41-35C4-ED66-F688FD70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4187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7E98671-9112-61CE-D065-F7136AD905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C49554E-D59F-9309-0D23-807B19D06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457A93B-BBF7-A9A8-2481-A0EF7D5C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15DEF0-744A-4313-7C07-27968204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D651E56-AE1A-2F3A-A020-6483D219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518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A15C48F-6AF0-BEC4-FC07-75787FE0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295A648-74C7-579F-C0D8-EF5376B1F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8A4AF0-E4C6-94BF-09A4-C94124731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888A9-095D-4EE5-8299-5DC1C5013074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D136F5-161A-1473-F06D-EDB591871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1B5742C-873F-C950-0F46-DC3BFDA19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01B9C-621A-429C-835D-CC8CFCC7EEC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766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6C62D-273E-7A74-3928-D930CC27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5148745-3BFF-6E0D-3365-664D19CA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F7FE278-7789-F0C4-B000-DD874C1D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8" y="-297"/>
            <a:ext cx="12192528" cy="68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 anchor="ctr">
            <a:normAutofit/>
          </a:bodyPr>
          <a:lstStyle/>
          <a:p>
            <a:r>
              <a:rPr lang="nl-BE"/>
              <a:t>Holding </a:t>
            </a:r>
            <a:endParaRPr lang="en-BE"/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585CF0C6-2B04-4ADC-3A4A-1A4C545DA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8052" y="1504335"/>
            <a:ext cx="8952091" cy="43753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049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8F6F-2E68-ADCA-8F8D-DCF01A51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Koers</a:t>
            </a:r>
            <a:endParaRPr lang="nl-BE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6715D93E-3C26-0478-5E63-A5C966F47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4106"/>
            <a:ext cx="9925050" cy="4133850"/>
          </a:xfrm>
        </p:spPr>
      </p:pic>
    </p:spTree>
    <p:extLst>
      <p:ext uri="{BB962C8B-B14F-4D97-AF65-F5344CB8AC3E}">
        <p14:creationId xmlns:p14="http://schemas.microsoft.com/office/powerpoint/2010/main" val="30575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C2F6F-32E3-2C06-9DFF-B8C7B4CA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Koers</a:t>
            </a:r>
            <a:endParaRPr lang="nl-BE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FD381CA0-ECD0-3A3A-4C32-73FDC989E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2068"/>
            <a:ext cx="9925050" cy="3714750"/>
          </a:xfrm>
        </p:spPr>
      </p:pic>
    </p:spTree>
    <p:extLst>
      <p:ext uri="{BB962C8B-B14F-4D97-AF65-F5344CB8AC3E}">
        <p14:creationId xmlns:p14="http://schemas.microsoft.com/office/powerpoint/2010/main" val="3371656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84A8D-7CBD-8E6E-DB5D-E4AFE733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Uitvinders/CEO</a:t>
            </a:r>
            <a:endParaRPr lang="nl-BE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710B41BD-6C04-6EFA-2E7E-AE5B70C99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5539" y="1935160"/>
            <a:ext cx="4196954" cy="3444037"/>
          </a:xfr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DC32538-C942-49AB-E04A-8AFB00F0D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867" y="2321960"/>
            <a:ext cx="4169594" cy="2501756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9D32FF06-4DC5-4173-E9A2-53AC3104AE7E}"/>
              </a:ext>
            </a:extLst>
          </p:cNvPr>
          <p:cNvSpPr txBox="1"/>
          <p:nvPr/>
        </p:nvSpPr>
        <p:spPr>
          <a:xfrm>
            <a:off x="1766841" y="5379197"/>
            <a:ext cx="1368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/>
              <a:t>Larry Page</a:t>
            </a:r>
            <a:endParaRPr lang="nl-BE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9B6843CE-B33F-EB2A-6605-77DECEC97C22}"/>
              </a:ext>
            </a:extLst>
          </p:cNvPr>
          <p:cNvSpPr txBox="1"/>
          <p:nvPr/>
        </p:nvSpPr>
        <p:spPr>
          <a:xfrm>
            <a:off x="3849188" y="5379197"/>
            <a:ext cx="1368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err="1"/>
              <a:t>Sergey</a:t>
            </a:r>
            <a:r>
              <a:rPr lang="nl-NL"/>
              <a:t> </a:t>
            </a:r>
            <a:r>
              <a:rPr lang="nl-NL" err="1"/>
              <a:t>Brin</a:t>
            </a:r>
            <a:endParaRPr lang="nl-BE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3B3011D6-C285-8E14-E417-1A4BDB381D80}"/>
              </a:ext>
            </a:extLst>
          </p:cNvPr>
          <p:cNvSpPr txBox="1"/>
          <p:nvPr/>
        </p:nvSpPr>
        <p:spPr>
          <a:xfrm>
            <a:off x="7876121" y="4909848"/>
            <a:ext cx="1611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err="1"/>
              <a:t>Sundar</a:t>
            </a:r>
            <a:r>
              <a:rPr lang="nl-NL"/>
              <a:t> </a:t>
            </a:r>
            <a:r>
              <a:rPr lang="nl-NL" err="1"/>
              <a:t>Pichai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437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Peers 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7229992-7366-AA09-D75D-D836BD1AC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625" y="1629848"/>
            <a:ext cx="8286750" cy="4276725"/>
          </a:xfrm>
        </p:spPr>
      </p:pic>
    </p:spTree>
    <p:extLst>
      <p:ext uri="{BB962C8B-B14F-4D97-AF65-F5344CB8AC3E}">
        <p14:creationId xmlns:p14="http://schemas.microsoft.com/office/powerpoint/2010/main" val="197447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E0494-3F85-9288-A332-9905746B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Resultaten Q3  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324FBD-EC6B-6BEF-4EC8-E6163B4B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Di</a:t>
            </a:r>
          </a:p>
          <a:p>
            <a:pPr marL="0" indent="0">
              <a:buNone/>
            </a:pPr>
            <a:endParaRPr lang="nl-NL"/>
          </a:p>
          <a:p>
            <a:r>
              <a:rPr lang="nl-NL" b="1"/>
              <a:t>Omzet</a:t>
            </a:r>
            <a:r>
              <a:rPr lang="nl-NL"/>
              <a:t> steeg in Q3 met 15% naar $88,3 miljard</a:t>
            </a:r>
          </a:p>
          <a:p>
            <a:r>
              <a:rPr lang="nl-NL" b="1"/>
              <a:t>Google Services-inkomsten</a:t>
            </a:r>
            <a:r>
              <a:rPr lang="nl-NL"/>
              <a:t> namen met 13% toe tot $76,5 miljard, dankzij sterke prestaties van Google Search, YouTube, en abonnementen</a:t>
            </a:r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endParaRPr lang="nl-NL"/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871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497B2-A563-EB32-F801-E38D2BF29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Resultaten Q3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7A033EB-ADB8-3AC5-3E38-7009673AF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/>
              <a:t>Google Cloud-omzet</a:t>
            </a:r>
            <a:r>
              <a:rPr lang="nl-NL"/>
              <a:t> groeide met 35% naar $11,4 miljard door toenemende vraag naar </a:t>
            </a:r>
            <a:r>
              <a:rPr lang="nl-NL" b="1"/>
              <a:t>AI-oplossingen</a:t>
            </a:r>
            <a:r>
              <a:rPr lang="nl-NL"/>
              <a:t> en </a:t>
            </a:r>
            <a:r>
              <a:rPr lang="nl-NL" b="1"/>
              <a:t>GCP-producten</a:t>
            </a:r>
          </a:p>
          <a:p>
            <a:r>
              <a:rPr lang="nl-NL" b="1"/>
              <a:t>Bedrijfsresultaat</a:t>
            </a:r>
            <a:r>
              <a:rPr lang="nl-NL"/>
              <a:t> en </a:t>
            </a:r>
            <a:r>
              <a:rPr lang="nl-NL" b="1"/>
              <a:t>nettowinst</a:t>
            </a:r>
            <a:r>
              <a:rPr lang="nl-NL"/>
              <a:t> stegen beide met 34%; winst per aandeel ging 37% omhoog naar $2,12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429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244337"/>
                </a:solidFill>
                <a:latin typeface="Lato Black" panose="020F0A02020204030203" pitchFamily="34" charset="0"/>
              </a:rPr>
              <a:t>S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tatement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Ceo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: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Sundar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Pichai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7A13B1-0C09-649B-8F4C-186CF2C1E1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6577" y="1656135"/>
            <a:ext cx="9359537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b="1"/>
              <a:t>“The momentum across the company is extraordinary”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000" b="1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err="1"/>
              <a:t>Investeringen</a:t>
            </a:r>
            <a:r>
              <a:rPr lang="en-US" sz="2000"/>
              <a:t> in AI </a:t>
            </a:r>
            <a:r>
              <a:rPr lang="en-US" sz="2000" err="1"/>
              <a:t>beginnen</a:t>
            </a:r>
            <a:r>
              <a:rPr lang="en-US" sz="2000"/>
              <a:t> </a:t>
            </a:r>
            <a:r>
              <a:rPr lang="en-US" sz="2000" err="1"/>
              <a:t>te</a:t>
            </a:r>
            <a:r>
              <a:rPr lang="en-US" sz="2000"/>
              <a:t> </a:t>
            </a:r>
            <a:r>
              <a:rPr lang="en-US" sz="2000" err="1"/>
              <a:t>renderen</a:t>
            </a:r>
            <a:r>
              <a:rPr lang="en-US" sz="2000"/>
              <a:t>: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err="1"/>
              <a:t>klanten</a:t>
            </a:r>
            <a:r>
              <a:rPr lang="en-US" sz="2000"/>
              <a:t> </a:t>
            </a:r>
            <a:r>
              <a:rPr lang="en-US" sz="2000" err="1"/>
              <a:t>kunnen</a:t>
            </a:r>
            <a:r>
              <a:rPr lang="en-US" sz="2000"/>
              <a:t> steeds </a:t>
            </a:r>
            <a:r>
              <a:rPr lang="en-US" sz="2000" err="1"/>
              <a:t>uitgebreider</a:t>
            </a:r>
            <a:r>
              <a:rPr lang="en-US" sz="2000"/>
              <a:t> </a:t>
            </a:r>
            <a:r>
              <a:rPr lang="en-US" sz="2000" err="1"/>
              <a:t>opzoekwerk</a:t>
            </a:r>
            <a:r>
              <a:rPr lang="en-US" sz="2000"/>
              <a:t> </a:t>
            </a:r>
            <a:r>
              <a:rPr lang="en-US" sz="2000" err="1"/>
              <a:t>doen</a:t>
            </a:r>
            <a:r>
              <a:rPr lang="en-US" sz="2000"/>
              <a:t> via AI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err="1"/>
              <a:t>Betere</a:t>
            </a:r>
            <a:r>
              <a:rPr lang="en-US" sz="2000"/>
              <a:t> </a:t>
            </a:r>
            <a:r>
              <a:rPr lang="en-US" sz="2000" err="1"/>
              <a:t>productadoptie</a:t>
            </a:r>
            <a:r>
              <a:rPr lang="en-US" sz="2000"/>
              <a:t> </a:t>
            </a:r>
            <a:r>
              <a:rPr lang="en-US" sz="2000" err="1"/>
              <a:t>bij</a:t>
            </a:r>
            <a:r>
              <a:rPr lang="en-US" sz="2000"/>
              <a:t> </a:t>
            </a:r>
            <a:r>
              <a:rPr lang="en-US" sz="2000" err="1"/>
              <a:t>klanten</a:t>
            </a:r>
            <a:endParaRPr lang="en-US" sz="200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err="1"/>
              <a:t>Nieuwe</a:t>
            </a:r>
            <a:r>
              <a:rPr lang="en-US" sz="2000"/>
              <a:t> </a:t>
            </a:r>
            <a:r>
              <a:rPr lang="en-US" sz="2000" err="1"/>
              <a:t>klanten</a:t>
            </a:r>
            <a:r>
              <a:rPr lang="en-US" sz="2000"/>
              <a:t> </a:t>
            </a:r>
            <a:r>
              <a:rPr lang="en-US" sz="2000" err="1"/>
              <a:t>aangetrokken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grote</a:t>
            </a:r>
            <a:r>
              <a:rPr lang="en-US" sz="2000"/>
              <a:t> deals </a:t>
            </a:r>
            <a:r>
              <a:rPr lang="en-US" sz="2000" err="1"/>
              <a:t>binnengehaald</a:t>
            </a:r>
            <a:endParaRPr lang="en-US" sz="200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00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sz="2000"/>
              <a:t>Inkomsten van YouTube overschreden kaap van 50 miljard dollar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b="1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b="1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nl-BE" altLang="nl-BE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745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591D1-4D8C-50D7-C5FC-104FEAAE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244337"/>
                </a:solidFill>
                <a:latin typeface="Lato Black" panose="020F0A02020204030203" pitchFamily="34" charset="0"/>
              </a:rPr>
              <a:t>S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tatement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Ceo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: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Sundar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Pichai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81A6C1E-51B1-9604-6327-4CB489E57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u="sng"/>
              <a:t>Algemeen</a:t>
            </a:r>
          </a:p>
          <a:p>
            <a:r>
              <a:rPr lang="nl-NL"/>
              <a:t>Sterke omzetgroei </a:t>
            </a:r>
          </a:p>
          <a:p>
            <a:r>
              <a:rPr lang="nl-NL"/>
              <a:t>Voortdurende inspanningen in efficiëntie </a:t>
            </a:r>
            <a:r>
              <a:rPr lang="nl-NL">
                <a:sym typeface="Wingdings" panose="05000000000000000000" pitchFamily="2" charset="2"/>
              </a:rPr>
              <a:t> verbeterde marges</a:t>
            </a:r>
          </a:p>
          <a:p>
            <a:r>
              <a:rPr lang="nl-NL">
                <a:sym typeface="Wingdings" panose="05000000000000000000" pitchFamily="2" charset="2"/>
              </a:rPr>
              <a:t>“</a:t>
            </a:r>
            <a:r>
              <a:rPr lang="nl-NL" err="1">
                <a:sym typeface="Wingdings" panose="05000000000000000000" pitchFamily="2" charset="2"/>
              </a:rPr>
              <a:t>Pichai</a:t>
            </a:r>
            <a:r>
              <a:rPr lang="nl-NL">
                <a:sym typeface="Wingdings" panose="05000000000000000000" pitchFamily="2" charset="2"/>
              </a:rPr>
              <a:t> kijkt er naar uit om consumenten, klanten en makers wereldwijd nog meer vooruitgang te bieden.”</a:t>
            </a:r>
            <a:endParaRPr lang="nl-NL"/>
          </a:p>
          <a:p>
            <a:endParaRPr lang="nl-NL"/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3457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Innovatie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AI-race </a:t>
            </a:r>
          </a:p>
          <a:p>
            <a:r>
              <a:rPr lang="nl-NL"/>
              <a:t>13 miljard dollar kapitaalinvesteringen in Q3</a:t>
            </a:r>
          </a:p>
          <a:p>
            <a:r>
              <a:rPr lang="nl-NL"/>
              <a:t>Opnieuw in Q4</a:t>
            </a:r>
          </a:p>
          <a:p>
            <a:r>
              <a:rPr lang="nl-NL"/>
              <a:t>Investeringen in AI zullen volgend jaar blijven stijgen, aldus </a:t>
            </a:r>
            <a:r>
              <a:rPr lang="nl-BE" b="0" i="0">
                <a:effectLst/>
                <a:latin typeface="+mj-lt"/>
              </a:rPr>
              <a:t>CFO </a:t>
            </a:r>
            <a:r>
              <a:rPr lang="nl-BE" b="0" i="0" err="1">
                <a:effectLst/>
                <a:latin typeface="+mj-lt"/>
              </a:rPr>
              <a:t>Anat</a:t>
            </a:r>
            <a:r>
              <a:rPr lang="nl-BE" b="0" i="0">
                <a:effectLst/>
                <a:latin typeface="+mj-lt"/>
              </a:rPr>
              <a:t> </a:t>
            </a:r>
            <a:r>
              <a:rPr lang="nl-BE" b="0" i="0" err="1">
                <a:effectLst/>
                <a:latin typeface="+mj-lt"/>
              </a:rPr>
              <a:t>Ashkenazi</a:t>
            </a:r>
            <a:endParaRPr lang="nl-BE" b="0" i="0">
              <a:effectLst/>
              <a:latin typeface="+mj-lt"/>
            </a:endParaRPr>
          </a:p>
          <a:p>
            <a:endParaRPr lang="nl-BE">
              <a:latin typeface="+mj-lt"/>
            </a:endParaRPr>
          </a:p>
          <a:p>
            <a:r>
              <a:rPr lang="nl-BE">
                <a:latin typeface="+mj-lt"/>
              </a:rPr>
              <a:t>Gebruik van google zal afnemen </a:t>
            </a:r>
            <a:r>
              <a:rPr lang="nl-BE">
                <a:latin typeface="+mj-lt"/>
                <a:sym typeface="Wingdings" panose="05000000000000000000" pitchFamily="2" charset="2"/>
              </a:rPr>
              <a:t> investeringen in Gemini </a:t>
            </a:r>
            <a:endParaRPr lang="nl-NL">
              <a:latin typeface="+mj-lt"/>
            </a:endParaRPr>
          </a:p>
          <a:p>
            <a:endParaRPr lang="nl-NL"/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 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AB0FD23D-F63A-63E8-0FBC-8B35957BB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1222"/>
            <a:ext cx="9867900" cy="1847850"/>
          </a:xfrm>
        </p:spPr>
      </p:pic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48719-2E33-1E9B-0CBC-576AAAD8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 </a:t>
            </a:r>
            <a:endParaRPr lang="nl-BE"/>
          </a:p>
        </p:txBody>
      </p:sp>
      <p:pic>
        <p:nvPicPr>
          <p:cNvPr id="5" name="Tijdelijke aanduiding voor inhoud 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0D68DFCA-DA0B-8B01-7E25-687D2D86F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580" y="1596231"/>
            <a:ext cx="6472840" cy="4351338"/>
          </a:xfrm>
        </p:spPr>
      </p:pic>
    </p:spTree>
    <p:extLst>
      <p:ext uri="{BB962C8B-B14F-4D97-AF65-F5344CB8AC3E}">
        <p14:creationId xmlns:p14="http://schemas.microsoft.com/office/powerpoint/2010/main" val="2545551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Discounted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 Cash Flow 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Tijdelijke aanduiding voor inhoud 4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8A005982-57DB-FC43-8430-4B33395EF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486" y="1449831"/>
            <a:ext cx="4897498" cy="4653018"/>
          </a:xfrm>
        </p:spPr>
      </p:pic>
    </p:spTree>
    <p:extLst>
      <p:ext uri="{BB962C8B-B14F-4D97-AF65-F5344CB8AC3E}">
        <p14:creationId xmlns:p14="http://schemas.microsoft.com/office/powerpoint/2010/main" val="300941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Conclusie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u="sng"/>
              <a:t>Bedenkingen:</a:t>
            </a:r>
          </a:p>
          <a:p>
            <a:r>
              <a:rPr lang="nl-NL"/>
              <a:t>AI-race</a:t>
            </a:r>
          </a:p>
          <a:p>
            <a:r>
              <a:rPr lang="nl-NL"/>
              <a:t>Rendement investeringen</a:t>
            </a:r>
          </a:p>
          <a:p>
            <a:endParaRPr lang="nl-NL"/>
          </a:p>
          <a:p>
            <a:pPr marL="0" indent="0">
              <a:buNone/>
            </a:pPr>
            <a:endParaRPr lang="nl-NL" b="1"/>
          </a:p>
          <a:p>
            <a:pPr marL="0" indent="0">
              <a:buNone/>
            </a:pPr>
            <a:r>
              <a:rPr lang="nl-NL" b="1"/>
              <a:t>Maar…</a:t>
            </a:r>
            <a:r>
              <a:rPr lang="nl-NL"/>
              <a:t> </a:t>
            </a:r>
          </a:p>
          <a:p>
            <a:endParaRPr lang="nl-NL"/>
          </a:p>
          <a:p>
            <a:endParaRPr lang="nl-NL"/>
          </a:p>
          <a:p>
            <a:pPr marL="0" indent="0">
              <a:buNone/>
            </a:pP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7946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8DDCD61-6FA3-69B2-7851-E7A8A14E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69" y="1459350"/>
            <a:ext cx="9023332" cy="4470443"/>
          </a:xfrm>
          <a:prstGeom prst="rect">
            <a:avLst/>
          </a:prstGeom>
        </p:spPr>
      </p:pic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EC25BA59-1536-6266-CB19-8736B0154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0912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3C439-DE7C-98D5-BB08-BFE6C1C2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nl-BE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A941ADC-DD94-269F-592C-F525F77D6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336" y="1486578"/>
            <a:ext cx="8913522" cy="4351338"/>
          </a:xfrm>
        </p:spPr>
      </p:pic>
    </p:spTree>
    <p:extLst>
      <p:ext uri="{BB962C8B-B14F-4D97-AF65-F5344CB8AC3E}">
        <p14:creationId xmlns:p14="http://schemas.microsoft.com/office/powerpoint/2010/main" val="2428111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2E9D7-8F32-6BF2-3D5E-09F02753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8D1E40-48BE-6BAB-27D4-0F7000E29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Vergelijkbare prijs </a:t>
            </a:r>
            <a:r>
              <a:rPr lang="nl-NL">
                <a:sym typeface="Wingdings" panose="05000000000000000000" pitchFamily="2" charset="2"/>
              </a:rPr>
              <a:t> A shares meestal hoger door stemrecht</a:t>
            </a:r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46FB39D-1579-AF43-8AD2-05152E1C2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5540"/>
            <a:ext cx="9839646" cy="322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95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CD43E2-8F36-6C9F-1F41-2F758EAD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29E1BF-7854-536A-9061-056E8B461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nl-BE">
                <a:solidFill>
                  <a:srgbClr val="074422"/>
                </a:solidFill>
              </a:rPr>
              <a:t>Aankoop van 7 aandelen aan </a:t>
            </a:r>
            <a:r>
              <a:rPr lang="nl-BE">
                <a:solidFill>
                  <a:srgbClr val="074422"/>
                </a:solidFill>
                <a:ea typeface="+mn-lt"/>
                <a:cs typeface="+mn-lt"/>
              </a:rPr>
              <a:t>173.90 EUR</a:t>
            </a:r>
            <a:endParaRPr lang="nl-NL"/>
          </a:p>
          <a:p>
            <a:pPr marL="0" indent="0" algn="ctr">
              <a:buNone/>
            </a:pPr>
            <a:r>
              <a:rPr lang="nl-BE">
                <a:solidFill>
                  <a:srgbClr val="074422"/>
                </a:solidFill>
              </a:rPr>
              <a:t>Totaalwaarde = 1217,3 EUR</a:t>
            </a:r>
          </a:p>
        </p:txBody>
      </p:sp>
      <p:pic>
        <p:nvPicPr>
          <p:cNvPr id="4" name="Afbeelding 3" descr="Afbeelding met tekst, Perceel, lijn, diagram&#10;&#10;Automatisch gegenereerde beschrijving">
            <a:extLst>
              <a:ext uri="{FF2B5EF4-FFF2-40B4-BE49-F238E27FC236}">
                <a16:creationId xmlns:a16="http://schemas.microsoft.com/office/drawing/2014/main" id="{D8F98888-495C-05D0-98E5-1FE64F742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14" y="3124367"/>
            <a:ext cx="6783049" cy="246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0228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Breedbeeld</PresentationFormat>
  <Paragraphs>60</Paragraphs>
  <Slides>19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Lato Black</vt:lpstr>
      <vt:lpstr>Wingdings</vt:lpstr>
      <vt:lpstr>Kantoorthema</vt:lpstr>
      <vt:lpstr>PowerPoint-presentatie</vt:lpstr>
      <vt:lpstr>Holding </vt:lpstr>
      <vt:lpstr>Koers</vt:lpstr>
      <vt:lpstr>Koers</vt:lpstr>
      <vt:lpstr>Uitvinders/CEO</vt:lpstr>
      <vt:lpstr>Peers </vt:lpstr>
      <vt:lpstr>Resultaten Q3  </vt:lpstr>
      <vt:lpstr>Resultaten Q3</vt:lpstr>
      <vt:lpstr>Statement Ceo: Sundar Pichai</vt:lpstr>
      <vt:lpstr>Statement Ceo: Sundar Pichai</vt:lpstr>
      <vt:lpstr>Innovatie</vt:lpstr>
      <vt:lpstr>Financials </vt:lpstr>
      <vt:lpstr>Financials </vt:lpstr>
      <vt:lpstr>Discounted Cash Flow </vt:lpstr>
      <vt:lpstr>Conclusie</vt:lpstr>
      <vt:lpstr>Voorstel</vt:lpstr>
      <vt:lpstr>Voorstel</vt:lpstr>
      <vt:lpstr>Voorstel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2025-05-08T18:09:07Z</dcterms:created>
  <dcterms:modified xsi:type="dcterms:W3CDTF">2025-05-08T18:09:56Z</dcterms:modified>
</cp:coreProperties>
</file>