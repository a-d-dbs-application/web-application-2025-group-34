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2" r:id="rId4"/>
    <p:sldId id="275" r:id="rId5"/>
    <p:sldId id="291" r:id="rId6"/>
    <p:sldId id="294" r:id="rId7"/>
    <p:sldId id="292" r:id="rId8"/>
    <p:sldId id="280" r:id="rId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5A8A6F-33EB-4E2B-0322-3FE4AD99C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0AAE293-C355-E43B-118D-19D0AE954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2B9D008-DC34-F007-8CCA-31D4CC4DC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F6B5-6723-4418-8828-0135C6D868A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31374C8-1235-7C0A-B62C-FBD2E23DC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B72A39A-6ABA-3BB6-A15D-94799FC6E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191A-0E00-47D4-AF53-46811F851B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00588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E43AEC-87EE-77AF-A7D5-215EE4AF6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B8D4B97-B1E8-B8B5-7B6D-3D0BE5C20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F13158-7F0D-991C-63C0-036A51653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F6B5-6723-4418-8828-0135C6D868A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2EFDF9C-9C5E-DFF1-0802-B7848833F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5322F8-B7B9-A044-5DD6-EFE85D918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191A-0E00-47D4-AF53-46811F851B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59227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B8BB9E-42C6-37A1-8008-29109DFC0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2806976-E919-6538-66C9-8BEA5225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87448FA-40E7-1F47-51CD-CF39087E2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F6B5-6723-4418-8828-0135C6D868A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A971AF-B2FA-4C61-1DAB-DF5D15402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FFBA1FD-AA5D-18FE-97FC-A9A1C1E1B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191A-0E00-47D4-AF53-46811F851B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07754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AF4BD8-96FB-554A-F9A1-22DD9FEA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1DFC701-5AEA-6D06-507D-90E12F36F2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321D9A8-85A8-A0BF-0CD5-ABEBE627E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05B6CE0-81E2-03DD-CADA-9F1E069C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F6B5-6723-4418-8828-0135C6D868A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B067598-E1B0-C746-DB00-FEE59BEDB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B93109E-E8EB-4845-C833-4525E24C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191A-0E00-47D4-AF53-46811F851B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6013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E05271-4A6A-4A34-14BC-06AE1F621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DB63F98-6941-FCFB-61C9-6CA90D0B7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7C38BA1-86E1-86EE-8DC1-FF44F29CF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AEFCE45D-70BF-B92C-1E78-F0231405F5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6057459B-2707-2261-68E9-1C5C9D3A0D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BE0E018-5B41-F10C-0E4D-AC632FC6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F6B5-6723-4418-8828-0135C6D868A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45728832-8604-971D-397A-1D153575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7A018BE-3403-209D-770B-793775A8C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191A-0E00-47D4-AF53-46811F851B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4307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9D87CB-F7CC-C8EB-C268-66CF0A02B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F7926E5-2EA2-5764-1AF8-C71AE553A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F6B5-6723-4418-8828-0135C6D868A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654BD4-2D5D-F07D-C26E-74C8A34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54950BC-497F-2A40-9C67-DD0AEBE4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191A-0E00-47D4-AF53-46811F851B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13587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E5EBCC8-0C23-AC30-EE8B-322972FB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F6B5-6723-4418-8828-0135C6D868A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DB3D45F-170B-D4FF-E5D5-8DD08CCB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90E87F0-168D-8A87-A356-689B0577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191A-0E00-47D4-AF53-46811F851B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399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D0BF7F-680A-D57B-EAFA-07BE9E055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A1760DE-6183-EA4E-263B-8490363DA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133669A-79D0-BDF2-26F9-D3ED68C37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61EE42A-B029-ABF3-3BF6-D737411D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F6B5-6723-4418-8828-0135C6D868A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7797E1C-DC90-0836-4482-7E61A91E6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FD3DEE8-ECFD-064F-3AD2-C4E628C3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191A-0E00-47D4-AF53-46811F851B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01492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C98A3F-68F6-F0BA-0A2C-8D4F2E62C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84DCFC3-4B60-87C6-FD56-BA2B99EBBD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922F292-86B1-AB73-7B6D-EDE158A11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4F3474D-67DB-DDDB-CCD0-81C9232EA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F6B5-6723-4418-8828-0135C6D868A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FCE45A0-7C16-4E51-BF61-E8F9185F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C439072-4132-A3FA-A22E-82E989795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191A-0E00-47D4-AF53-46811F851B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74134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2E37D8-BE46-D4A8-FBAA-C1207CDCC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8186263-D7E3-9DDF-F2B5-673EAD66A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D6936-E3F8-0B07-EA8F-7E4C867F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F6B5-6723-4418-8828-0135C6D868A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50B3836-BB2C-41BB-BCB4-9BFD013C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914090E-3CA3-0439-B725-E65C98231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191A-0E00-47D4-AF53-46811F851B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2146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1F88ED8C-348A-758C-556C-CBC9A4E524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80B4015-4F8E-64DE-2F61-D4769011F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982C892-3FDD-6549-FBB8-CAEDE71A2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F6B5-6723-4418-8828-0135C6D868A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374AA24-85BD-0D23-25C3-B5123B55E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4605C24-4D56-7565-58DC-4FD23FD5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191A-0E00-47D4-AF53-46811F851B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99855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35B667E-67C8-2472-3054-9E0D83584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FFF765F-6F7C-8BED-0E3C-43490CE3F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0FB62BD-8560-F7EE-38DB-0212E4932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F3F6B5-6723-4418-8828-0135C6D868A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C8C1B1B-48BB-4564-1713-09E7D259C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914C569-0DE6-942E-765C-4F2A6EA82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A191A-0E00-47D4-AF53-46811F851B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5766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E7910A-4A98-BA71-D645-284D487314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1E689DF-8A13-279D-6C4D-A59106F8BF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0428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9B099-3678-56D7-4D13-00368100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684774" cy="1655762"/>
          </a:xfrm>
        </p:spPr>
        <p:txBody>
          <a:bodyPr>
            <a:normAutofit fontScale="90000"/>
          </a:bodyPr>
          <a:lstStyle/>
          <a:p>
            <a:r>
              <a:rPr lang="nl-BE" sz="7200" b="1" cap="all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 panose="020F0A02020204030203" pitchFamily="34" charset="0"/>
              </a:rPr>
              <a:t>Verkoop </a:t>
            </a:r>
            <a:r>
              <a:rPr lang="nl-BE" sz="7200" b="1" cap="all" dirty="0" err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 panose="020F0A02020204030203" pitchFamily="34" charset="0"/>
              </a:rPr>
              <a:t>Xfab</a:t>
            </a:r>
            <a:r>
              <a:rPr lang="nl-BE" sz="7200" b="1" cap="all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 panose="020F0A02020204030203" pitchFamily="34" charset="0"/>
              </a:rPr>
              <a:t> &amp; STMI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DB8EF02-DF1E-4CA0-A16A-719DCC97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3602038"/>
            <a:ext cx="10491020" cy="1655762"/>
          </a:xfrm>
        </p:spPr>
        <p:txBody>
          <a:bodyPr>
            <a:normAutofit/>
          </a:bodyPr>
          <a:lstStyle/>
          <a:p>
            <a:r>
              <a:rPr lang="nl-BE" sz="3200" cap="small">
                <a:ln w="3175">
                  <a:noFill/>
                </a:ln>
                <a:solidFill>
                  <a:schemeClr val="bg1"/>
                </a:solidFill>
                <a:latin typeface="Lato" panose="020F0502020204030203" pitchFamily="34" charset="0"/>
              </a:rPr>
              <a:t>M. Van Nuffel , R. Hommez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EA4472F-AED9-43A6-F3DD-D13E7BCAE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39" y="285311"/>
            <a:ext cx="11441122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4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Korte inleiding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Opgericht</a:t>
            </a:r>
            <a:r>
              <a:rPr lang="en-US">
                <a:ea typeface="+mn-lt"/>
                <a:cs typeface="+mn-lt"/>
              </a:rPr>
              <a:t>: 1992</a:t>
            </a:r>
          </a:p>
          <a:p>
            <a:r>
              <a:rPr lang="en-US" err="1">
                <a:ea typeface="+mn-lt"/>
                <a:cs typeface="+mn-lt"/>
              </a:rPr>
              <a:t>Belgisch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r>
              <a:rPr lang="en-US" err="1">
                <a:ea typeface="+mn-lt"/>
                <a:cs typeface="+mn-lt"/>
              </a:rPr>
              <a:t>Gieterij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voor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halfgeleiders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Specifieke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toepassingen</a:t>
            </a:r>
            <a:r>
              <a:rPr lang="en-US">
                <a:ea typeface="+mn-lt"/>
                <a:cs typeface="+mn-lt"/>
              </a:rPr>
              <a:t> in automotive, </a:t>
            </a:r>
            <a:r>
              <a:rPr lang="en-US" err="1">
                <a:ea typeface="+mn-lt"/>
                <a:cs typeface="+mn-lt"/>
              </a:rPr>
              <a:t>industriële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medische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markten</a:t>
            </a:r>
            <a:endParaRPr lang="en-US"/>
          </a:p>
          <a:p>
            <a:endParaRPr lang="en-US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328D2D2-540A-A454-CEA8-368AD9089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304" y="1626918"/>
            <a:ext cx="2558495" cy="113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4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Bedrijfsactiviteiten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320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BE" sz="2000" b="1"/>
              <a:t>Hoofdkantoor:</a:t>
            </a:r>
            <a:r>
              <a:rPr lang="nl-BE" sz="2000"/>
              <a:t> Tessenderlo, België</a:t>
            </a:r>
          </a:p>
          <a:p>
            <a:r>
              <a:rPr lang="nl-BE" sz="2000" b="1">
                <a:ea typeface="+mn-lt"/>
                <a:cs typeface="+mn-lt"/>
              </a:rPr>
              <a:t>Productielocaties: </a:t>
            </a:r>
            <a:r>
              <a:rPr lang="nl-BE" sz="2000">
                <a:ea typeface="+mn-lt"/>
                <a:cs typeface="+mn-lt"/>
              </a:rPr>
              <a:t>Duitsland, Frankrijk, Maleisië, Verenigde Staten</a:t>
            </a:r>
            <a:endParaRPr lang="nl-BE" sz="2000"/>
          </a:p>
          <a:p>
            <a:r>
              <a:rPr lang="nl-BE" sz="2000" b="1"/>
              <a:t>Afzetlanden</a:t>
            </a:r>
            <a:r>
              <a:rPr lang="nl-BE" sz="2000"/>
              <a:t>: België, Duitsland (auto-industrie), UK , VS, China (elektrische auto's), Japan (robotica), Zuid-Korea (Samsung en LG),...</a:t>
            </a:r>
          </a:p>
          <a:p>
            <a:r>
              <a:rPr lang="nl-BE" sz="2000"/>
              <a:t>Afbeelding: omzet per locatie </a:t>
            </a:r>
          </a:p>
          <a:p>
            <a:pPr marL="0" indent="0">
              <a:buNone/>
            </a:pPr>
            <a:endParaRPr lang="nl-BE" sz="2000"/>
          </a:p>
          <a:p>
            <a:pPr marL="0" indent="0">
              <a:buNone/>
            </a:pPr>
            <a:endParaRPr lang="nl-BE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D9C3268E-01AB-250D-1F8D-5ED3783C5B2A}"/>
              </a:ext>
            </a:extLst>
          </p:cNvPr>
          <p:cNvSpPr txBox="1"/>
          <p:nvPr/>
        </p:nvSpPr>
        <p:spPr>
          <a:xfrm>
            <a:off x="6420594" y="1825625"/>
            <a:ext cx="3977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Geschatte Omzet per Regio/Continent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Afbeelding 5" descr="Afbeelding met tekst, schermopname, nummer, Parallel&#10;&#10;Door AI gegenereerde inhoud is mogelijk onjuist.">
            <a:extLst>
              <a:ext uri="{FF2B5EF4-FFF2-40B4-BE49-F238E27FC236}">
                <a16:creationId xmlns:a16="http://schemas.microsoft.com/office/drawing/2014/main" id="{574AB4FD-27AE-7457-6FF9-2B9C621D4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05474" cy="685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039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E279BD8-D65C-29D1-27AA-388D2C70E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Tijdelijke aanduiding voor inhoud 3" descr="Afbeelding met tekst, schermopname, diagram, Rechthoek&#10;&#10;Door AI gegenereerde inhoud is mogelijk onjuist.">
            <a:extLst>
              <a:ext uri="{FF2B5EF4-FFF2-40B4-BE49-F238E27FC236}">
                <a16:creationId xmlns:a16="http://schemas.microsoft.com/office/drawing/2014/main" id="{1EE46E52-0D1A-E28B-5E66-C1BF10723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6981" y="1482725"/>
            <a:ext cx="7438037" cy="4656138"/>
          </a:xfrm>
          <a:noFill/>
        </p:spPr>
      </p:pic>
    </p:spTree>
    <p:extLst>
      <p:ext uri="{BB962C8B-B14F-4D97-AF65-F5344CB8AC3E}">
        <p14:creationId xmlns:p14="http://schemas.microsoft.com/office/powerpoint/2010/main" val="1373018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F897BA-EC14-F991-E4D6-DAD6A81A9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5" name="Tijdelijke aanduiding voor inhoud 4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3387B1D2-972D-D795-7721-3FF086A9A8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467" y="2005877"/>
            <a:ext cx="4445000" cy="3581400"/>
          </a:xfrm>
        </p:spPr>
      </p:pic>
      <p:pic>
        <p:nvPicPr>
          <p:cNvPr id="6" name="Afbeelding 5" descr="Afbeelding met tekst, Lettertype, schermopname, ontvangst&#10;&#10;Automatisch gegenereerde beschrijving">
            <a:extLst>
              <a:ext uri="{FF2B5EF4-FFF2-40B4-BE49-F238E27FC236}">
                <a16:creationId xmlns:a16="http://schemas.microsoft.com/office/drawing/2014/main" id="{FB8A6CBF-3740-5F6B-90E1-4E7A41761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625" y="2641641"/>
            <a:ext cx="1352841" cy="284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070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971BE-52B8-6182-16D8-1C7FB1C09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Motivatie tot verkoop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2874E0B-7AE1-1F28-95AF-A543F1D76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nl-NL"/>
          </a:p>
          <a:p>
            <a:r>
              <a:rPr lang="nl-BE" sz="2400"/>
              <a:t>Door onzekerheden binnenin de sectoren is er voorraadafbouw </a:t>
            </a: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nl-BE" sz="2000"/>
              <a:t>Groeivertraging verkoop elektrische auto's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BE" sz="2000"/>
              <a:t>Door hoge interestvoet minder medische apparatuur verkocht </a:t>
            </a:r>
          </a:p>
          <a:p>
            <a:r>
              <a:rPr lang="nl-BE" sz="2400"/>
              <a:t>14% minder orders dan vorig kwartaal</a:t>
            </a:r>
          </a:p>
          <a:p>
            <a:r>
              <a:rPr lang="nl-BE" sz="2400"/>
              <a:t>Idem STMicroelectronics </a:t>
            </a:r>
          </a:p>
        </p:txBody>
      </p:sp>
    </p:spTree>
    <p:extLst>
      <p:ext uri="{BB962C8B-B14F-4D97-AF65-F5344CB8AC3E}">
        <p14:creationId xmlns:p14="http://schemas.microsoft.com/office/powerpoint/2010/main" val="3556445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graphicFrame>
        <p:nvGraphicFramePr>
          <p:cNvPr id="6" name="Tijdelijke aanduiding voor inhoud 5">
            <a:extLst>
              <a:ext uri="{FF2B5EF4-FFF2-40B4-BE49-F238E27FC236}">
                <a16:creationId xmlns:a16="http://schemas.microsoft.com/office/drawing/2014/main" id="{8E1CF92A-2C60-D1CC-1D5E-DFA24145A1B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65239" y="2204781"/>
          <a:ext cx="10515599" cy="188414"/>
        </p:xfrm>
        <a:graphic>
          <a:graphicData uri="http://schemas.openxmlformats.org/drawingml/2006/table">
            <a:tbl>
              <a:tblPr/>
              <a:tblGrid>
                <a:gridCol w="2570480">
                  <a:extLst>
                    <a:ext uri="{9D8B030D-6E8A-4147-A177-3AD203B41FA5}">
                      <a16:colId xmlns:a16="http://schemas.microsoft.com/office/drawing/2014/main" val="143450893"/>
                    </a:ext>
                  </a:extLst>
                </a:gridCol>
                <a:gridCol w="696271">
                  <a:extLst>
                    <a:ext uri="{9D8B030D-6E8A-4147-A177-3AD203B41FA5}">
                      <a16:colId xmlns:a16="http://schemas.microsoft.com/office/drawing/2014/main" val="2817456929"/>
                    </a:ext>
                  </a:extLst>
                </a:gridCol>
                <a:gridCol w="691502">
                  <a:extLst>
                    <a:ext uri="{9D8B030D-6E8A-4147-A177-3AD203B41FA5}">
                      <a16:colId xmlns:a16="http://schemas.microsoft.com/office/drawing/2014/main" val="2503496811"/>
                    </a:ext>
                  </a:extLst>
                </a:gridCol>
                <a:gridCol w="705809">
                  <a:extLst>
                    <a:ext uri="{9D8B030D-6E8A-4147-A177-3AD203B41FA5}">
                      <a16:colId xmlns:a16="http://schemas.microsoft.com/office/drawing/2014/main" val="959696437"/>
                    </a:ext>
                  </a:extLst>
                </a:gridCol>
                <a:gridCol w="653350">
                  <a:extLst>
                    <a:ext uri="{9D8B030D-6E8A-4147-A177-3AD203B41FA5}">
                      <a16:colId xmlns:a16="http://schemas.microsoft.com/office/drawing/2014/main" val="1651368512"/>
                    </a:ext>
                  </a:extLst>
                </a:gridCol>
                <a:gridCol w="448284">
                  <a:extLst>
                    <a:ext uri="{9D8B030D-6E8A-4147-A177-3AD203B41FA5}">
                      <a16:colId xmlns:a16="http://schemas.microsoft.com/office/drawing/2014/main" val="747806301"/>
                    </a:ext>
                  </a:extLst>
                </a:gridCol>
                <a:gridCol w="683156">
                  <a:extLst>
                    <a:ext uri="{9D8B030D-6E8A-4147-A177-3AD203B41FA5}">
                      <a16:colId xmlns:a16="http://schemas.microsoft.com/office/drawing/2014/main" val="3180024895"/>
                    </a:ext>
                  </a:extLst>
                </a:gridCol>
                <a:gridCol w="462591">
                  <a:extLst>
                    <a:ext uri="{9D8B030D-6E8A-4147-A177-3AD203B41FA5}">
                      <a16:colId xmlns:a16="http://schemas.microsoft.com/office/drawing/2014/main" val="1907108046"/>
                    </a:ext>
                  </a:extLst>
                </a:gridCol>
                <a:gridCol w="826226">
                  <a:extLst>
                    <a:ext uri="{9D8B030D-6E8A-4147-A177-3AD203B41FA5}">
                      <a16:colId xmlns:a16="http://schemas.microsoft.com/office/drawing/2014/main" val="2472159834"/>
                    </a:ext>
                  </a:extLst>
                </a:gridCol>
                <a:gridCol w="371980">
                  <a:extLst>
                    <a:ext uri="{9D8B030D-6E8A-4147-A177-3AD203B41FA5}">
                      <a16:colId xmlns:a16="http://schemas.microsoft.com/office/drawing/2014/main" val="2651731275"/>
                    </a:ext>
                  </a:extLst>
                </a:gridCol>
                <a:gridCol w="697463">
                  <a:extLst>
                    <a:ext uri="{9D8B030D-6E8A-4147-A177-3AD203B41FA5}">
                      <a16:colId xmlns:a16="http://schemas.microsoft.com/office/drawing/2014/main" val="2174720283"/>
                    </a:ext>
                  </a:extLst>
                </a:gridCol>
                <a:gridCol w="915644">
                  <a:extLst>
                    <a:ext uri="{9D8B030D-6E8A-4147-A177-3AD203B41FA5}">
                      <a16:colId xmlns:a16="http://schemas.microsoft.com/office/drawing/2014/main" val="4225898623"/>
                    </a:ext>
                  </a:extLst>
                </a:gridCol>
                <a:gridCol w="238449">
                  <a:extLst>
                    <a:ext uri="{9D8B030D-6E8A-4147-A177-3AD203B41FA5}">
                      <a16:colId xmlns:a16="http://schemas.microsoft.com/office/drawing/2014/main" val="3496961683"/>
                    </a:ext>
                  </a:extLst>
                </a:gridCol>
                <a:gridCol w="554394">
                  <a:extLst>
                    <a:ext uri="{9D8B030D-6E8A-4147-A177-3AD203B41FA5}">
                      <a16:colId xmlns:a16="http://schemas.microsoft.com/office/drawing/2014/main" val="2433471371"/>
                    </a:ext>
                  </a:extLst>
                </a:gridCol>
              </a:tblGrid>
              <a:tr h="181229">
                <a:tc>
                  <a:txBody>
                    <a:bodyPr/>
                    <a:lstStyle/>
                    <a:p>
                      <a:pPr algn="l" fontAlgn="b"/>
                      <a:r>
                        <a:rPr lang="nl-B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 Fab Silicon Foundries EV</a:t>
                      </a:r>
                    </a:p>
                  </a:txBody>
                  <a:tcPr marL="3582" marR="3582" marT="3582" marB="1719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l-B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</a:t>
                      </a:r>
                    </a:p>
                  </a:txBody>
                  <a:tcPr marL="3582" marR="3582" marT="3582" marB="1719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B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XFAB</a:t>
                      </a:r>
                    </a:p>
                  </a:txBody>
                  <a:tcPr marL="3582" marR="3582" marT="3582" marB="17192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BE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1,79%</a:t>
                      </a:r>
                    </a:p>
                  </a:txBody>
                  <a:tcPr marL="3582" marR="3582" marT="3582" marB="17192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B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4,672</a:t>
                      </a:r>
                    </a:p>
                  </a:txBody>
                  <a:tcPr marL="3582" marR="3582" marT="3582" marB="17192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B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3582" marR="3582" marT="3582" marB="17192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B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794,24</a:t>
                      </a:r>
                    </a:p>
                  </a:txBody>
                  <a:tcPr marL="3582" marR="3582" marT="3582" marB="17192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B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EUR</a:t>
                      </a:r>
                    </a:p>
                  </a:txBody>
                  <a:tcPr marL="3582" marR="3582" marT="3582" marB="17192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B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794,24 € </a:t>
                      </a:r>
                    </a:p>
                  </a:txBody>
                  <a:tcPr marL="3582" marR="3582" marT="3582" marB="17192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B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1,87%</a:t>
                      </a:r>
                    </a:p>
                  </a:txBody>
                  <a:tcPr marL="3582" marR="3582" marT="3582" marB="17192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BE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-24,44%</a:t>
                      </a:r>
                    </a:p>
                  </a:txBody>
                  <a:tcPr marL="3582" marR="3582" marT="3582" marB="17192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BE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-256,96</a:t>
                      </a:r>
                    </a:p>
                  </a:txBody>
                  <a:tcPr marL="3582" marR="3582" marT="3582" marB="17192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B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EUR</a:t>
                      </a:r>
                    </a:p>
                  </a:txBody>
                  <a:tcPr marL="3582" marR="3582" marT="3582" marB="17192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B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Stock</a:t>
                      </a:r>
                    </a:p>
                  </a:txBody>
                  <a:tcPr marL="3582" marR="3582" marT="3582" marB="17192" anchor="b">
                    <a:lnL>
                      <a:noFill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40812"/>
                  </a:ext>
                </a:extLst>
              </a:tr>
            </a:tbl>
          </a:graphicData>
        </a:graphic>
      </p:graphicFrame>
      <p:sp>
        <p:nvSpPr>
          <p:cNvPr id="4" name="Ondertitel 2">
            <a:extLst>
              <a:ext uri="{FF2B5EF4-FFF2-40B4-BE49-F238E27FC236}">
                <a16:creationId xmlns:a16="http://schemas.microsoft.com/office/drawing/2014/main" id="{1254F5AC-8E55-7F78-73E7-A2D4C447499A}"/>
              </a:ext>
            </a:extLst>
          </p:cNvPr>
          <p:cNvSpPr txBox="1">
            <a:spLocks/>
          </p:cNvSpPr>
          <p:nvPr/>
        </p:nvSpPr>
        <p:spPr>
          <a:xfrm>
            <a:off x="865239" y="3602038"/>
            <a:ext cx="1049102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3200" b="0" i="0" u="none" strike="noStrike" kern="1200" cap="small" spc="0" normalizeH="0" baseline="0" noProof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M. Van Nuffel , R. Hommez</a:t>
            </a:r>
          </a:p>
        </p:txBody>
      </p:sp>
      <p:sp>
        <p:nvSpPr>
          <p:cNvPr id="8" name="Ondertitel 2">
            <a:extLst>
              <a:ext uri="{FF2B5EF4-FFF2-40B4-BE49-F238E27FC236}">
                <a16:creationId xmlns:a16="http://schemas.microsoft.com/office/drawing/2014/main" id="{F83C0223-AAB9-E0FE-82BA-19F5D2304767}"/>
              </a:ext>
            </a:extLst>
          </p:cNvPr>
          <p:cNvSpPr txBox="1">
            <a:spLocks/>
          </p:cNvSpPr>
          <p:nvPr/>
        </p:nvSpPr>
        <p:spPr>
          <a:xfrm>
            <a:off x="2209944" y="2774157"/>
            <a:ext cx="1049102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BE" sz="3200" b="0" i="0" u="none" strike="noStrike" kern="1200" cap="small" spc="0" normalizeH="0" baseline="0" noProof="0">
                <a:ln w="3175">
                  <a:noFill/>
                </a:ln>
                <a:solidFill>
                  <a:srgbClr val="24433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170 aandelen @ market price = 795 EUR </a:t>
            </a:r>
          </a:p>
        </p:txBody>
      </p:sp>
      <p:pic>
        <p:nvPicPr>
          <p:cNvPr id="10" name="Afbeelding 9" descr="Afbeelding met Perceel, diagram, tekst, schermopname&#10;&#10;Automatisch gegenereerde beschrijving">
            <a:extLst>
              <a:ext uri="{FF2B5EF4-FFF2-40B4-BE49-F238E27FC236}">
                <a16:creationId xmlns:a16="http://schemas.microsoft.com/office/drawing/2014/main" id="{AEF56113-97F0-9D9F-4DF0-0050EB9BC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043" y="3602038"/>
            <a:ext cx="3957411" cy="236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83128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Breedbeeld</PresentationFormat>
  <Paragraphs>37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Courier New</vt:lpstr>
      <vt:lpstr>Lato</vt:lpstr>
      <vt:lpstr>Lato Black</vt:lpstr>
      <vt:lpstr>Kantoorthema</vt:lpstr>
      <vt:lpstr>PowerPoint-presentatie</vt:lpstr>
      <vt:lpstr>Verkoop Xfab &amp; STMI</vt:lpstr>
      <vt:lpstr>Korte inleiding</vt:lpstr>
      <vt:lpstr>Bedrijfsactiviteiten</vt:lpstr>
      <vt:lpstr>PowerPoint-presentatie</vt:lpstr>
      <vt:lpstr>PowerPoint-presentatie</vt:lpstr>
      <vt:lpstr>Motivatie tot verkoop</vt:lpstr>
      <vt:lpstr>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Tack</dc:creator>
  <cp:lastModifiedBy>Ruben Tack</cp:lastModifiedBy>
  <cp:revision>1</cp:revision>
  <dcterms:created xsi:type="dcterms:W3CDTF">2025-05-08T18:28:58Z</dcterms:created>
  <dcterms:modified xsi:type="dcterms:W3CDTF">2025-05-08T18:32:31Z</dcterms:modified>
</cp:coreProperties>
</file>