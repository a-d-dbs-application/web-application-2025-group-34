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5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555" r:id="rId16"/>
    <p:sldId id="270" r:id="rId17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1648E2-4F97-41AC-9E5F-D76417C44F72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DD7894-60CF-49CC-95A8-6A8844F83AA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7411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DFC7F306-235E-1D4E-E7B2-1700C1E8F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>
            <a:extLst>
              <a:ext uri="{FF2B5EF4-FFF2-40B4-BE49-F238E27FC236}">
                <a16:creationId xmlns:a16="http://schemas.microsoft.com/office/drawing/2014/main" id="{73AB0A20-2211-31EC-63A3-28BF5A843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:notes">
            <a:extLst>
              <a:ext uri="{FF2B5EF4-FFF2-40B4-BE49-F238E27FC236}">
                <a16:creationId xmlns:a16="http://schemas.microsoft.com/office/drawing/2014/main" id="{15D600D0-A81C-DE93-3CFC-3E6B95CCBA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0825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cb4be1af4_0_149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E"/>
              <a:t>beslissing van de FDA om semaglutide van de lijst van stoffen te halen waarvan er een tekort is, is positief voor novo nordisk aangezien concurrenten zoals hims&amp;hers health hierdoor hun toelating tot het produceren van goedkope alternatieven verliezen. </a:t>
            </a:r>
            <a:endParaRPr/>
          </a:p>
        </p:txBody>
      </p:sp>
      <p:sp>
        <p:nvSpPr>
          <p:cNvPr id="109" name="Google Shape;109;g33cb4be1af4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cb4be1af4_0_41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3cb4be1af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816548076_11_1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33816548076_1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aeb99c516_0_0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E"/>
              <a:t>overname catalent inc</a:t>
            </a:r>
            <a:endParaRPr/>
          </a:p>
        </p:txBody>
      </p:sp>
      <p:sp>
        <p:nvSpPr>
          <p:cNvPr id="144" name="Google Shape;144;g33aeb99c51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3cb4be1af4_0_82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3cb4be1af4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3cb4be1af4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3cb4be1af4_0_87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g33cb4be1af4_0_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BE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3cb4be1af4_0_154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g33cb4be1af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3c890230e7_0_0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E"/>
              <a:t>debt/equity in de pharmaceutische sector gemiddeld 153%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E"/>
              <a:t>negatieve free cash flow novo wegens aankoop 3 amerikaanse productiesites ter waarde van $12 miljard en een verdubbeling van capex in property plant and equipment van $47,2 miljard</a:t>
            </a:r>
            <a:endParaRPr/>
          </a:p>
        </p:txBody>
      </p:sp>
      <p:sp>
        <p:nvSpPr>
          <p:cNvPr id="172" name="Google Shape;172;g33c890230e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3816548076_6_3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g33816548076_6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C536BA-572D-DB65-0478-CD2B86866D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DFFBBE8-C173-3176-CBC7-062186FCEA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2758BC6-C895-1BF0-76D4-1EB604E81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B2AD5-040C-48C1-9CA6-EE2055116AA2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6BDB75E-CB1B-A5B9-98BA-AC0024005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7733DDF-A9DF-E2D2-007D-499D8F845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47449-5FA6-437C-BFD5-BD92FD5E201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14512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4BC78E-D3E0-4689-A9E9-F41809BEE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5E1F05E-3B44-7279-BCAA-CB9A663AF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1EF6E1D-6EA1-9EC3-40DD-AF96E08B8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B2AD5-040C-48C1-9CA6-EE2055116AA2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61E41CD-8B2B-4EB2-9FE6-3BE903A69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2D89D0E-1265-0643-9EC1-88B56853D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47449-5FA6-437C-BFD5-BD92FD5E201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02320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1BFB28-AE1D-5949-9C76-AA98A599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1CEFC80-E6D0-354F-E478-2D1526C52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EBB54CF-FAE9-1BEA-D138-2927F76D8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B2AD5-040C-48C1-9CA6-EE2055116AA2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029CCBF-4287-7501-9283-2D26F70D2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C644050-E6E2-63C9-3922-262AF7677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47449-5FA6-437C-BFD5-BD92FD5E201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94506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B65983-AD44-87D9-4FB2-0391BE04F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BC97FC9-74EA-BD9E-EDC7-DDAEA76B49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C8E3999-2A4D-9481-CAC4-B5A30D185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05AEEF5-79FD-2A0B-C01B-30652AC2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B2AD5-040C-48C1-9CA6-EE2055116AA2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0FB5C6E-360D-2117-B084-A78E60CA6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CD135FC-46CB-EC96-3034-017100303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47449-5FA6-437C-BFD5-BD92FD5E201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30203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11903A-3F7B-FBDA-2421-104979811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479D567-7142-E41A-0855-6F3F051CB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CD79F40-8386-E11F-E2A4-8BAA45ADF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6E93855-90B4-F27F-5267-E8E6065C9F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C4069F65-EBAF-47AC-FE4B-99EA85E12E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A0BDE484-8A82-846F-77F1-ED5D9999D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B2AD5-040C-48C1-9CA6-EE2055116AA2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406F5FBA-8BBD-DAE4-AEAA-BB58FF74F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345B2F8E-4C27-F035-F85B-9D2E74F5B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47449-5FA6-437C-BFD5-BD92FD5E201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414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86F7CE-FA3B-6912-0FD3-3916CC98A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B8CEA4B-83AA-331E-2ADE-50AFF61B9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B2AD5-040C-48C1-9CA6-EE2055116AA2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10427BE-B2C9-F6BE-283D-4446802E9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0F49DFA-3BC3-9DF4-139C-A2DD5358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47449-5FA6-437C-BFD5-BD92FD5E201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56425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B8A6315F-F46C-D60A-339D-6C537878F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B2AD5-040C-48C1-9CA6-EE2055116AA2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9A357097-D136-4B63-B222-B37F0E5E8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0FBA0A9-1C21-2A87-4523-460B436C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47449-5FA6-437C-BFD5-BD92FD5E201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13987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0186B4-B7EB-949A-2EE3-6EC46BF9E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2A01B58-FF23-3261-9649-E921B3806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8EF3D81-A9E4-75B8-30C7-5F5607110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C60D4C-A50D-FBA2-D51B-B17687F6B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B2AD5-040C-48C1-9CA6-EE2055116AA2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FF69AF5-F93D-56B4-FF14-84169284A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A274AE9-0C59-0980-FFE3-BBE02DF94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47449-5FA6-437C-BFD5-BD92FD5E201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45076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07CB1D-05A5-37D4-E822-6F91DA669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AE71D0AA-CA1B-3B5D-1BA6-71BD932EA1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A1936039-03ED-ADDB-4738-851EC632D6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64B78F8-0E11-D9ED-B588-2BA099731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B2AD5-040C-48C1-9CA6-EE2055116AA2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22EEE07-947B-1CA1-7C17-177C76588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5C54285-5403-CE7D-BA03-7BE263A3B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47449-5FA6-437C-BFD5-BD92FD5E201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70481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8C4BC-B2C8-AD5A-D8C5-EDCBB5AC4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2D6858DF-758E-E57D-6095-8DA82E520B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38A0B0B-81DC-52B6-82EF-D55B1D18A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B2AD5-040C-48C1-9CA6-EE2055116AA2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F8DCB53-2994-49F9-3911-8E94C35F5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12E1217-45F8-22CD-16F5-1949D1233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47449-5FA6-437C-BFD5-BD92FD5E201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02437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CB883B87-215E-5C2C-8753-78FAE0E96A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EAF356E3-8202-E4D3-1DE2-10193D26A5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F387A90-8FCA-C37B-16C6-FE6580A9B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B2AD5-040C-48C1-9CA6-EE2055116AA2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DF9FF2B-6176-74D7-53AB-09C1B262D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126E0E6-415F-8FC6-2DCC-D0367D0A3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47449-5FA6-437C-BFD5-BD92FD5E201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17781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C99C05F-2B6B-307F-4D81-6BFD5E1B9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AE018E7-D351-10B8-51A1-E27470987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CC5D7F0-042B-10AC-9605-FE807A5D37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9B2AD5-040C-48C1-9CA6-EE2055116AA2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7A254DE-396C-AACA-08E8-F98A5875D3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3695477-21B3-60CC-D50B-74E324A926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547449-5FA6-437C-BFD5-BD92FD5E201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18177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86721F-38C2-DA56-C9ED-DCC00228F0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BBA5423-B179-66C8-E0C1-D31AEB86AC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4230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241D7E04-E8CC-7A78-05C8-308E79781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>
            <a:extLst>
              <a:ext uri="{FF2B5EF4-FFF2-40B4-BE49-F238E27FC236}">
                <a16:creationId xmlns:a16="http://schemas.microsoft.com/office/drawing/2014/main" id="{8D9594AA-D865-9266-57A8-E9F5BBA9A6D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25175" y="2122025"/>
            <a:ext cx="3515700" cy="23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1828800" lvl="0" indent="4572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Lato Black"/>
              <a:buNone/>
            </a:pPr>
            <a:r>
              <a:rPr lang="en-BE" sz="7200" b="1" dirty="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  </a:t>
            </a:r>
            <a:endParaRPr sz="7200" b="1" dirty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Lato Black"/>
              <a:buNone/>
            </a:pPr>
            <a:r>
              <a:rPr lang="en-BE" sz="7200" b="1" dirty="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+	</a:t>
            </a:r>
            <a:endParaRPr sz="7200" b="1" dirty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marL="1828800" lvl="0" indent="4572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Lato Black"/>
              <a:buNone/>
            </a:pPr>
            <a:endParaRPr sz="7200" b="1" cap="none" dirty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98" name="Google Shape;98;p1">
            <a:extLst>
              <a:ext uri="{FF2B5EF4-FFF2-40B4-BE49-F238E27FC236}">
                <a16:creationId xmlns:a16="http://schemas.microsoft.com/office/drawing/2014/main" id="{E628F9E9-F0D8-5996-54C1-76BCFD4F1A6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0989" y="4631463"/>
            <a:ext cx="10491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endParaRPr sz="4400" cap="small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endParaRPr sz="4400" cap="small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BE" sz="4400" cap="small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Nicholas Vandekerckhove, Yarne Verdonck, Kwinten Kerckaert, Jasper Geens</a:t>
            </a:r>
            <a:endParaRPr sz="4400" cap="small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BE" sz="4400" cap="small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2024-2025</a:t>
            </a:r>
            <a:endParaRPr sz="4400" cap="small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endParaRPr sz="4400" cap="small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9" name="Google Shape;99;p1">
            <a:extLst>
              <a:ext uri="{FF2B5EF4-FFF2-40B4-BE49-F238E27FC236}">
                <a16:creationId xmlns:a16="http://schemas.microsoft.com/office/drawing/2014/main" id="{4C4A2F97-B55C-1548-ED5C-346DE914C03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150" y="1389375"/>
            <a:ext cx="5169026" cy="3560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">
            <a:extLst>
              <a:ext uri="{FF2B5EF4-FFF2-40B4-BE49-F238E27FC236}">
                <a16:creationId xmlns:a16="http://schemas.microsoft.com/office/drawing/2014/main" id="{24D98757-99F1-3608-A454-5AB0F552784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7325" y="2239051"/>
            <a:ext cx="4234685" cy="2379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FB14E5B5-6F9E-5308-F68D-1190C01A50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109" y="0"/>
            <a:ext cx="123002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20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07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4337"/>
              </a:buClr>
              <a:buSzPts val="4400"/>
              <a:buFont typeface="Lato Black"/>
              <a:buNone/>
            </a:pPr>
            <a:r>
              <a:rPr lang="en-BE">
                <a:solidFill>
                  <a:srgbClr val="244337"/>
                </a:solidFill>
                <a:latin typeface="Lato Black"/>
                <a:ea typeface="Lato Black"/>
                <a:cs typeface="Lato Black"/>
                <a:sym typeface="Lato Black"/>
              </a:rPr>
              <a:t>Markt: Vraag &amp; Aanbod</a:t>
            </a:r>
            <a:endParaRPr>
              <a:solidFill>
                <a:srgbClr val="244337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06" name="Google Shape;106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E"/>
              <a:t>Producenten van semaglutide/tirzepatide </a:t>
            </a:r>
            <a:br>
              <a:rPr lang="en-BE"/>
            </a:b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BE"/>
              <a:t>Ozempic/ Wegovy &amp; Mounjaro/Zepbound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BE"/>
              <a:t>Nabootsen van GLP-1 hormoon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BE"/>
              <a:t>Vermindert eetlust in de hersenen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BE"/>
              <a:t>Vertraagt de maaglediging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BE"/>
              <a:t>effect op de insuline-productie</a:t>
            </a:r>
            <a:endParaRPr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3cb4be1af4_0_1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4337"/>
              </a:buClr>
              <a:buSzPts val="4400"/>
              <a:buFont typeface="Lato Black"/>
              <a:buNone/>
            </a:pPr>
            <a:r>
              <a:rPr lang="en-BE">
                <a:solidFill>
                  <a:srgbClr val="244337"/>
                </a:solidFill>
                <a:latin typeface="Lato Black"/>
                <a:ea typeface="Lato Black"/>
                <a:cs typeface="Lato Black"/>
                <a:sym typeface="Lato Black"/>
              </a:rPr>
              <a:t>Markt: Vraag &amp; Aanbod</a:t>
            </a:r>
            <a:endParaRPr>
              <a:solidFill>
                <a:srgbClr val="244337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12" name="Google Shape;112;g33cb4be1af4_0_14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E" b="1"/>
              <a:t>Vraagzijde</a:t>
            </a:r>
            <a:endParaRPr b="1"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BE"/>
              <a:t>Toenemende prevalentie van type 2 diabetes en obesitas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BE"/>
              <a:t>Enorm hoge vraag naar GLP-1 drugs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BE"/>
              <a:t>Sinds 21/02/25 geen tekort meer aan semaglutide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BE"/>
            </a:br>
            <a:r>
              <a:rPr lang="en-BE" b="1"/>
              <a:t>Aanbodzijde</a:t>
            </a:r>
            <a:endParaRPr b="1"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BE"/>
              <a:t>Dominantie van Novo Nordisk en Eli Lilly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BE"/>
              <a:t>Uitbreiding productieactiviteit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BE"/>
              <a:t>N-Amerika 77% aandeel totale omzet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07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4337"/>
              </a:buClr>
              <a:buSzPts val="4400"/>
              <a:buFont typeface="Lato Black"/>
              <a:buNone/>
            </a:pPr>
            <a:r>
              <a:rPr lang="en-BE">
                <a:solidFill>
                  <a:srgbClr val="244337"/>
                </a:solidFill>
                <a:latin typeface="Lato Black"/>
                <a:ea typeface="Lato Black"/>
                <a:cs typeface="Lato Black"/>
                <a:sym typeface="Lato Black"/>
              </a:rPr>
              <a:t>Waarom duale spreiding? </a:t>
            </a:r>
            <a:endParaRPr>
              <a:solidFill>
                <a:srgbClr val="244337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18" name="Google Shape;11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BE"/>
              <a:t>Risicospreiding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BE"/>
              <a:t>Trump (tarieven)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BE"/>
              <a:t>Product vs prijs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BE"/>
              <a:t>Concurrentie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BE"/>
              <a:t>Gecombineerde marketshare van 80% GLP1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BE"/>
              <a:t>Geografische spreiding op markten</a:t>
            </a:r>
            <a:endParaRPr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07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4337"/>
              </a:buClr>
              <a:buSzPts val="4400"/>
              <a:buFont typeface="Lato Black"/>
              <a:buNone/>
            </a:pPr>
            <a:r>
              <a:rPr lang="en-BE" sz="3700">
                <a:solidFill>
                  <a:srgbClr val="244337"/>
                </a:solidFill>
                <a:latin typeface="Lato Black"/>
                <a:ea typeface="Lato Black"/>
                <a:cs typeface="Lato Black"/>
                <a:sym typeface="Lato Black"/>
              </a:rPr>
              <a:t>Management: Novo Nordisk</a:t>
            </a:r>
            <a:endParaRPr sz="3700">
              <a:solidFill>
                <a:srgbClr val="244337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graphicFrame>
        <p:nvGraphicFramePr>
          <p:cNvPr id="124" name="Google Shape;124;p4"/>
          <p:cNvGraphicFramePr/>
          <p:nvPr/>
        </p:nvGraphicFramePr>
        <p:xfrm>
          <a:off x="838200" y="1544500"/>
          <a:ext cx="10182500" cy="40959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4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3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 b="1">
                          <a:solidFill>
                            <a:srgbClr val="244337"/>
                          </a:solidFill>
                        </a:rPr>
                        <a:t>Naam</a:t>
                      </a:r>
                      <a:endParaRPr sz="1500" b="1">
                        <a:solidFill>
                          <a:srgbClr val="244337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 b="1">
                          <a:solidFill>
                            <a:srgbClr val="244337"/>
                          </a:solidFill>
                        </a:rPr>
                        <a:t>Functie</a:t>
                      </a:r>
                      <a:endParaRPr sz="1500" b="1">
                        <a:solidFill>
                          <a:srgbClr val="244337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 b="1">
                          <a:solidFill>
                            <a:srgbClr val="244337"/>
                          </a:solidFill>
                        </a:rPr>
                        <a:t>In functie sinds</a:t>
                      </a:r>
                      <a:endParaRPr sz="1500" b="1">
                        <a:solidFill>
                          <a:srgbClr val="244337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 b="1">
                          <a:solidFill>
                            <a:srgbClr val="244337"/>
                          </a:solidFill>
                        </a:rPr>
                        <a:t>In dienst sinds</a:t>
                      </a:r>
                      <a:endParaRPr sz="1500" b="1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244337"/>
                          </a:solidFill>
                        </a:rPr>
                        <a:t>Lars Fruergaard Jørgensen</a:t>
                      </a:r>
                      <a:endParaRPr sz="1500">
                        <a:solidFill>
                          <a:srgbClr val="244337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244337"/>
                          </a:solidFill>
                        </a:rPr>
                        <a:t>President en Chief Executive Officer (CEO)</a:t>
                      </a:r>
                      <a:endParaRPr sz="1500">
                        <a:solidFill>
                          <a:srgbClr val="244337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244337"/>
                          </a:solidFill>
                        </a:rPr>
                        <a:t>januari 2017</a:t>
                      </a:r>
                      <a:endParaRPr sz="1500">
                        <a:solidFill>
                          <a:srgbClr val="244337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244337"/>
                          </a:solidFill>
                        </a:rPr>
                        <a:t>1991</a:t>
                      </a:r>
                      <a:endParaRPr sz="1500">
                        <a:solidFill>
                          <a:srgbClr val="244337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6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244337"/>
                          </a:solidFill>
                        </a:rPr>
                        <a:t>Maziar Mike Doustdar</a:t>
                      </a:r>
                      <a:endParaRPr sz="1500">
                        <a:solidFill>
                          <a:srgbClr val="244337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244337"/>
                          </a:solidFill>
                        </a:rPr>
                        <a:t>Executive Vice President, International Operations</a:t>
                      </a:r>
                      <a:endParaRPr sz="1500">
                        <a:solidFill>
                          <a:srgbClr val="244337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244337"/>
                          </a:solidFill>
                        </a:rPr>
                        <a:t>september 2016</a:t>
                      </a:r>
                      <a:endParaRPr sz="1500">
                        <a:solidFill>
                          <a:srgbClr val="244337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244337"/>
                          </a:solidFill>
                        </a:rPr>
                        <a:t>1992</a:t>
                      </a:r>
                      <a:endParaRPr sz="1500">
                        <a:solidFill>
                          <a:srgbClr val="244337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8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244337"/>
                          </a:solidFill>
                        </a:rPr>
                        <a:t>Karsten Munk Knudsen</a:t>
                      </a:r>
                      <a:endParaRPr sz="1500">
                        <a:solidFill>
                          <a:srgbClr val="244337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244337"/>
                          </a:solidFill>
                        </a:rPr>
                        <a:t>Executive Vice President en Chief Financial Officer (CFO)</a:t>
                      </a:r>
                      <a:endParaRPr sz="1500">
                        <a:solidFill>
                          <a:srgbClr val="244337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244337"/>
                          </a:solidFill>
                        </a:rPr>
                        <a:t>februari 2018</a:t>
                      </a:r>
                      <a:endParaRPr sz="1500">
                        <a:solidFill>
                          <a:srgbClr val="244337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244337"/>
                          </a:solidFill>
                        </a:rPr>
                        <a:t>1999</a:t>
                      </a:r>
                      <a:endParaRPr sz="1500">
                        <a:solidFill>
                          <a:srgbClr val="244337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1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244337"/>
                          </a:solidFill>
                        </a:rPr>
                        <a:t>David Moore</a:t>
                      </a:r>
                      <a:endParaRPr sz="1500">
                        <a:solidFill>
                          <a:srgbClr val="244337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244337"/>
                          </a:solidFill>
                        </a:rPr>
                        <a:t>Executive Vice President, US Operations en Global Business Development</a:t>
                      </a:r>
                      <a:endParaRPr sz="1500">
                        <a:solidFill>
                          <a:srgbClr val="244337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244337"/>
                          </a:solidFill>
                        </a:rPr>
                        <a:t>maart 2023</a:t>
                      </a:r>
                      <a:endParaRPr sz="1500">
                        <a:solidFill>
                          <a:srgbClr val="244337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244337"/>
                          </a:solidFill>
                        </a:rPr>
                        <a:t>2022</a:t>
                      </a:r>
                      <a:endParaRPr sz="1500">
                        <a:solidFill>
                          <a:srgbClr val="244337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cb4be1af4_0_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4337"/>
              </a:buClr>
              <a:buSzPts val="4400"/>
              <a:buFont typeface="Lato Black"/>
              <a:buNone/>
            </a:pPr>
            <a:r>
              <a:rPr lang="en-BE" sz="3700">
                <a:solidFill>
                  <a:srgbClr val="244337"/>
                </a:solidFill>
                <a:latin typeface="Lato Black"/>
                <a:ea typeface="Lato Black"/>
                <a:cs typeface="Lato Black"/>
                <a:sym typeface="Lato Black"/>
              </a:rPr>
              <a:t>Management: Eli Lilly</a:t>
            </a:r>
            <a:endParaRPr sz="3700">
              <a:solidFill>
                <a:srgbClr val="244337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graphicFrame>
        <p:nvGraphicFramePr>
          <p:cNvPr id="130" name="Google Shape;130;g33cb4be1af4_0_41"/>
          <p:cNvGraphicFramePr/>
          <p:nvPr/>
        </p:nvGraphicFramePr>
        <p:xfrm>
          <a:off x="838200" y="1544500"/>
          <a:ext cx="10182500" cy="40959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4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3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 b="1">
                          <a:solidFill>
                            <a:srgbClr val="074422"/>
                          </a:solidFill>
                        </a:rPr>
                        <a:t>Naam</a:t>
                      </a:r>
                      <a:endParaRPr sz="1500" b="1">
                        <a:solidFill>
                          <a:srgbClr val="074422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 b="1">
                          <a:solidFill>
                            <a:srgbClr val="074422"/>
                          </a:solidFill>
                        </a:rPr>
                        <a:t>Functie</a:t>
                      </a:r>
                      <a:endParaRPr sz="1500" b="1">
                        <a:solidFill>
                          <a:srgbClr val="074422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 b="1">
                          <a:solidFill>
                            <a:srgbClr val="074422"/>
                          </a:solidFill>
                        </a:rPr>
                        <a:t>In functie sinds</a:t>
                      </a:r>
                      <a:endParaRPr sz="1500" b="1">
                        <a:solidFill>
                          <a:srgbClr val="074422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 b="1">
                          <a:solidFill>
                            <a:srgbClr val="074422"/>
                          </a:solidFill>
                        </a:rPr>
                        <a:t>In dienst sinds</a:t>
                      </a:r>
                      <a:endParaRPr sz="1500" b="1">
                        <a:solidFill>
                          <a:srgbClr val="074422"/>
                        </a:solidFill>
                      </a:endParaRPr>
                    </a:p>
                  </a:txBody>
                  <a:tcPr marL="91425" marR="9142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074422"/>
                          </a:solidFill>
                        </a:rPr>
                        <a:t>David A. Ricks</a:t>
                      </a:r>
                      <a:endParaRPr sz="1500">
                        <a:solidFill>
                          <a:srgbClr val="074422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074422"/>
                          </a:solidFill>
                        </a:rPr>
                        <a:t>President en Chief Executive Officer (CEO)</a:t>
                      </a:r>
                      <a:endParaRPr sz="1500">
                        <a:solidFill>
                          <a:srgbClr val="074422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074422"/>
                          </a:solidFill>
                        </a:rPr>
                        <a:t>Januari 2017</a:t>
                      </a:r>
                      <a:endParaRPr sz="1500">
                        <a:solidFill>
                          <a:srgbClr val="074422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074422"/>
                          </a:solidFill>
                        </a:rPr>
                        <a:t>1996</a:t>
                      </a:r>
                      <a:endParaRPr sz="1500">
                        <a:solidFill>
                          <a:srgbClr val="074422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6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074422"/>
                          </a:solidFill>
                        </a:rPr>
                        <a:t>Lucas Montarce</a:t>
                      </a:r>
                      <a:endParaRPr sz="1500">
                        <a:solidFill>
                          <a:srgbClr val="074422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074422"/>
                          </a:solidFill>
                        </a:rPr>
                        <a:t>Executive Vice President en Chief Financial Officer (CFO)</a:t>
                      </a:r>
                      <a:endParaRPr sz="1500">
                        <a:solidFill>
                          <a:srgbClr val="074422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074422"/>
                          </a:solidFill>
                        </a:rPr>
                        <a:t>September 2024</a:t>
                      </a:r>
                      <a:endParaRPr sz="1500">
                        <a:solidFill>
                          <a:srgbClr val="074422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074422"/>
                          </a:solidFill>
                        </a:rPr>
                        <a:t>1992</a:t>
                      </a:r>
                      <a:endParaRPr sz="1500">
                        <a:solidFill>
                          <a:srgbClr val="074422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8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074422"/>
                          </a:solidFill>
                        </a:rPr>
                        <a:t>Patrik Jonsson</a:t>
                      </a:r>
                      <a:endParaRPr sz="1500">
                        <a:solidFill>
                          <a:srgbClr val="074422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074422"/>
                          </a:solidFill>
                        </a:rPr>
                        <a:t>Executive Vice President</a:t>
                      </a:r>
                      <a:endParaRPr sz="1500">
                        <a:solidFill>
                          <a:srgbClr val="074422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074422"/>
                          </a:solidFill>
                        </a:rPr>
                        <a:t>Januari 2024</a:t>
                      </a:r>
                      <a:endParaRPr sz="1500">
                        <a:solidFill>
                          <a:srgbClr val="074422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074422"/>
                          </a:solidFill>
                        </a:rPr>
                        <a:t>1991</a:t>
                      </a:r>
                      <a:endParaRPr sz="1500">
                        <a:solidFill>
                          <a:srgbClr val="074422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1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074422"/>
                          </a:solidFill>
                        </a:rPr>
                        <a:t>Daniel M. Skovronsky</a:t>
                      </a:r>
                      <a:endParaRPr sz="1500">
                        <a:solidFill>
                          <a:srgbClr val="074422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074422"/>
                          </a:solidFill>
                        </a:rPr>
                        <a:t>Executive Vice President; Chief Scientific Officer</a:t>
                      </a:r>
                      <a:endParaRPr sz="1500">
                        <a:solidFill>
                          <a:srgbClr val="074422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074422"/>
                          </a:solidFill>
                        </a:rPr>
                        <a:t>Juni 2020</a:t>
                      </a:r>
                      <a:endParaRPr sz="1500">
                        <a:solidFill>
                          <a:srgbClr val="074422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500">
                          <a:solidFill>
                            <a:srgbClr val="074422"/>
                          </a:solidFill>
                        </a:rPr>
                        <a:t>2010</a:t>
                      </a:r>
                      <a:endParaRPr sz="1500">
                        <a:solidFill>
                          <a:srgbClr val="074422"/>
                        </a:solidFill>
                      </a:endParaRPr>
                    </a:p>
                  </a:txBody>
                  <a:tcPr marL="28575" marR="28575" marT="19050" marB="19050" anchor="b">
                    <a:lnL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57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1" name="Google Shape;131;g33cb4be1af4_0_41"/>
          <p:cNvGraphicFramePr/>
          <p:nvPr/>
        </p:nvGraphicFramePr>
        <p:xfrm>
          <a:off x="152400" y="152400"/>
          <a:ext cx="800100" cy="4571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2" name="Google Shape;132;g33cb4be1af4_0_41"/>
          <p:cNvGraphicFramePr/>
          <p:nvPr/>
        </p:nvGraphicFramePr>
        <p:xfrm>
          <a:off x="304800" y="304800"/>
          <a:ext cx="208250" cy="4571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3" name="Google Shape;133;g33cb4be1af4_0_41"/>
          <p:cNvGraphicFramePr/>
          <p:nvPr/>
        </p:nvGraphicFramePr>
        <p:xfrm>
          <a:off x="457200" y="457200"/>
          <a:ext cx="208250" cy="4571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4" name="Google Shape;134;g33cb4be1af4_0_41"/>
          <p:cNvGraphicFramePr/>
          <p:nvPr/>
        </p:nvGraphicFramePr>
        <p:xfrm>
          <a:off x="457200" y="457200"/>
          <a:ext cx="800100" cy="4571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5" name="Google Shape;135;g33cb4be1af4_0_41"/>
          <p:cNvGraphicFramePr/>
          <p:nvPr/>
        </p:nvGraphicFramePr>
        <p:xfrm>
          <a:off x="609600" y="609600"/>
          <a:ext cx="208250" cy="4571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3816548076_11_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4337"/>
              </a:buClr>
              <a:buSzPts val="4400"/>
              <a:buFont typeface="Lato Black"/>
              <a:buNone/>
            </a:pPr>
            <a:r>
              <a:rPr lang="en-BE">
                <a:solidFill>
                  <a:srgbClr val="244337"/>
                </a:solidFill>
                <a:latin typeface="Lato Black"/>
                <a:ea typeface="Lato Black"/>
                <a:cs typeface="Lato Black"/>
                <a:sym typeface="Lato Black"/>
              </a:rPr>
              <a:t>Management</a:t>
            </a:r>
            <a:endParaRPr>
              <a:solidFill>
                <a:srgbClr val="244337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41" name="Google Shape;141;g33816548076_11_1"/>
          <p:cNvSpPr txBox="1">
            <a:spLocks noGrp="1"/>
          </p:cNvSpPr>
          <p:nvPr>
            <p:ph type="body" idx="1"/>
          </p:nvPr>
        </p:nvSpPr>
        <p:spPr>
          <a:xfrm>
            <a:off x="738800" y="1589675"/>
            <a:ext cx="10515600" cy="43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228600" lvl="0" indent="-2730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500"/>
              <a:buChar char="•"/>
            </a:pPr>
            <a:r>
              <a:rPr lang="en-BE"/>
              <a:t>De leiders van Novo Nordisk en Eli Lilly hebben uitgebreide interne ervaring.</a:t>
            </a:r>
            <a:br>
              <a:rPr lang="en-BE"/>
            </a:br>
            <a:endParaRPr/>
          </a:p>
          <a:p>
            <a:pPr marL="22860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BE"/>
              <a:t>Strategische vernieuwingen versterken hun innovatie en aanpassingsvermogen.</a:t>
            </a:r>
            <a:br>
              <a:rPr lang="en-BE"/>
            </a:br>
            <a:endParaRPr/>
          </a:p>
          <a:p>
            <a:pPr marL="22860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BE"/>
              <a:t>Beleid bevordert groei en versterkt beiden hun marktpositie.</a:t>
            </a:r>
            <a:endParaRPr/>
          </a:p>
          <a:p>
            <a:pPr marL="2286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3aeb99c516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4337"/>
              </a:buClr>
              <a:buSzPts val="4400"/>
              <a:buFont typeface="Lato Black"/>
              <a:buNone/>
            </a:pPr>
            <a:r>
              <a:rPr lang="en-BE">
                <a:solidFill>
                  <a:srgbClr val="244337"/>
                </a:solidFill>
                <a:latin typeface="Lato Black"/>
                <a:ea typeface="Lato Black"/>
                <a:cs typeface="Lato Black"/>
                <a:sym typeface="Lato Black"/>
              </a:rPr>
              <a:t>Groei</a:t>
            </a:r>
            <a:endParaRPr>
              <a:solidFill>
                <a:srgbClr val="244337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47" name="Google Shape;147;g33aeb99c516_0_0"/>
          <p:cNvSpPr txBox="1">
            <a:spLocks noGrp="1"/>
          </p:cNvSpPr>
          <p:nvPr>
            <p:ph type="body" idx="1"/>
          </p:nvPr>
        </p:nvSpPr>
        <p:spPr>
          <a:xfrm>
            <a:off x="947800" y="1770825"/>
            <a:ext cx="10515600" cy="4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BE" b="1">
                <a:solidFill>
                  <a:srgbClr val="244337"/>
                </a:solidFill>
              </a:rPr>
              <a:t>Novo Nordisk:</a:t>
            </a:r>
            <a:br>
              <a:rPr lang="en-BE" b="1">
                <a:solidFill>
                  <a:srgbClr val="244337"/>
                </a:solidFill>
              </a:rPr>
            </a:br>
            <a:endParaRPr/>
          </a:p>
          <a:p>
            <a:pPr marL="228600" marR="0" lvl="0" indent="-261143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89285"/>
              <a:buChar char="•"/>
            </a:pPr>
            <a:r>
              <a:rPr lang="en-BE" sz="2800"/>
              <a:t>6,8 miljard investeringen in productie om aan vraag te voldoen.</a:t>
            </a:r>
            <a:br>
              <a:rPr lang="en-BE" sz="2800"/>
            </a:br>
            <a:endParaRPr sz="2800"/>
          </a:p>
          <a:p>
            <a:pPr marL="228600" marR="0" lvl="0" indent="-26114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89285"/>
              <a:buChar char="•"/>
            </a:pPr>
            <a:r>
              <a:rPr lang="en-BE" sz="2800"/>
              <a:t>Verwachte verkoop groei in 2025 van 16% à 24%.</a:t>
            </a:r>
            <a:br>
              <a:rPr lang="en-BE" sz="2800"/>
            </a:br>
            <a:endParaRPr sz="2800"/>
          </a:p>
          <a:p>
            <a:pPr marL="228600" marR="0" lvl="0" indent="-26114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89285"/>
              <a:buChar char="•"/>
            </a:pPr>
            <a:r>
              <a:rPr lang="en-BE" sz="2800"/>
              <a:t>Zowel sterke organische groei alsook via overnames.</a:t>
            </a:r>
            <a:br>
              <a:rPr lang="en-BE" sz="2800"/>
            </a:br>
            <a:endParaRPr sz="2800"/>
          </a:p>
          <a:p>
            <a:pPr marL="228600" marR="0" lvl="0" indent="-26114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89285"/>
              <a:buChar char="•"/>
            </a:pPr>
            <a:r>
              <a:rPr lang="en-BE" sz="2800"/>
              <a:t>Opvolger Ozempic, Cagrisema, minder performant dan verwacht.</a:t>
            </a:r>
            <a:endParaRPr/>
          </a:p>
          <a:p>
            <a:pPr marL="4572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3cb4be1af4_0_8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4337"/>
              </a:buClr>
              <a:buSzPts val="4400"/>
              <a:buFont typeface="Lato Black"/>
              <a:buNone/>
            </a:pPr>
            <a:r>
              <a:rPr lang="en-BE">
                <a:solidFill>
                  <a:srgbClr val="244337"/>
                </a:solidFill>
                <a:latin typeface="Lato Black"/>
                <a:ea typeface="Lato Black"/>
                <a:cs typeface="Lato Black"/>
                <a:sym typeface="Lato Black"/>
              </a:rPr>
              <a:t>Groei</a:t>
            </a:r>
            <a:endParaRPr>
              <a:solidFill>
                <a:srgbClr val="244337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53" name="Google Shape;153;g33cb4be1af4_0_82"/>
          <p:cNvSpPr txBox="1">
            <a:spLocks noGrp="1"/>
          </p:cNvSpPr>
          <p:nvPr>
            <p:ph type="body" idx="1"/>
          </p:nvPr>
        </p:nvSpPr>
        <p:spPr>
          <a:xfrm>
            <a:off x="911025" y="1702425"/>
            <a:ext cx="10515600" cy="42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E" b="1">
                <a:solidFill>
                  <a:srgbClr val="244337"/>
                </a:solidFill>
              </a:rPr>
              <a:t>Eli Lilly:</a:t>
            </a:r>
            <a:endParaRPr b="1">
              <a:solidFill>
                <a:srgbClr val="244337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E" sz="2800"/>
              <a:t>27 miljard investeringen in de bouw van 4 Amerikaanse productiesites.</a:t>
            </a:r>
            <a:br>
              <a:rPr lang="en-BE" sz="2800"/>
            </a:br>
            <a:endParaRPr sz="28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E" sz="2800"/>
              <a:t>In 2025 met Mounjaro toegang krijgen tot nieuwe markten zoals China en India.</a:t>
            </a:r>
            <a:br>
              <a:rPr lang="en-BE" sz="2800"/>
            </a:br>
            <a:endParaRPr sz="28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BE" sz="2800"/>
              <a:t>Diverser aanbod van andere farmaceutische middelen buiten de GLP-1 markt.</a:t>
            </a:r>
            <a:endParaRPr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cb4be1af4_0_8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07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BE">
                <a:solidFill>
                  <a:srgbClr val="244337"/>
                </a:solidFill>
                <a:latin typeface="Lato Black"/>
                <a:ea typeface="Lato Black"/>
                <a:cs typeface="Lato Black"/>
                <a:sym typeface="Lato Black"/>
              </a:rPr>
              <a:t>Shareholder Stucture</a:t>
            </a:r>
            <a:endParaRPr/>
          </a:p>
        </p:txBody>
      </p:sp>
      <p:sp>
        <p:nvSpPr>
          <p:cNvPr id="160" name="Google Shape;160;g33cb4be1af4_0_8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774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BE" sz="2500">
                <a:solidFill>
                  <a:srgbClr val="244337"/>
                </a:solidFill>
                <a:latin typeface="Lato Black"/>
                <a:ea typeface="Lato Black"/>
                <a:cs typeface="Lato Black"/>
                <a:sym typeface="Lato Black"/>
              </a:rPr>
              <a:t>Novo</a:t>
            </a:r>
            <a:r>
              <a:rPr lang="en-BE" sz="2500" b="1">
                <a:solidFill>
                  <a:srgbClr val="244337"/>
                </a:solidFill>
              </a:rPr>
              <a:t> Nordisk	</a:t>
            </a:r>
            <a:r>
              <a:rPr lang="en-BE"/>
              <a:t>							</a:t>
            </a:r>
            <a:r>
              <a:rPr lang="en-BE" sz="2500">
                <a:solidFill>
                  <a:srgbClr val="244337"/>
                </a:solidFill>
                <a:latin typeface="Lato Black"/>
                <a:ea typeface="Lato Black"/>
                <a:cs typeface="Lato Black"/>
                <a:sym typeface="Lato Black"/>
              </a:rPr>
              <a:t>Eli Lilly</a:t>
            </a:r>
            <a:endParaRPr sz="2500">
              <a:solidFill>
                <a:srgbClr val="244337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>
              <a:solidFill>
                <a:srgbClr val="244337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>
              <a:solidFill>
                <a:srgbClr val="244337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>
              <a:solidFill>
                <a:srgbClr val="244337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>
              <a:solidFill>
                <a:srgbClr val="244337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>
              <a:solidFill>
                <a:srgbClr val="244337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BE" sz="2500">
                <a:solidFill>
                  <a:srgbClr val="244337"/>
                </a:solidFill>
                <a:latin typeface="Lato"/>
                <a:ea typeface="Lato"/>
                <a:cs typeface="Lato"/>
                <a:sym typeface="Lato"/>
              </a:rPr>
              <a:t>Zowel Eli Lilly als Novo Nordisk hebben een free float van ongeveer dan 90%, wat zorgt voor een hoge liquiditeit en een gunstigere verhandelbaarheid van hun aandelen.</a:t>
            </a:r>
            <a:endParaRPr sz="2500">
              <a:solidFill>
                <a:srgbClr val="244337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1" name="Google Shape;161;g33cb4be1af4_0_87"/>
          <p:cNvPicPr preferRelativeResize="0"/>
          <p:nvPr/>
        </p:nvPicPr>
        <p:blipFill rotWithShape="1">
          <a:blip r:embed="rId3">
            <a:alphaModFix/>
          </a:blip>
          <a:srcRect b="11606"/>
          <a:stretch/>
        </p:blipFill>
        <p:spPr>
          <a:xfrm>
            <a:off x="918275" y="2376625"/>
            <a:ext cx="4440699" cy="182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g33cb4be1af4_0_87"/>
          <p:cNvPicPr preferRelativeResize="0"/>
          <p:nvPr/>
        </p:nvPicPr>
        <p:blipFill rotWithShape="1">
          <a:blip r:embed="rId4">
            <a:alphaModFix/>
          </a:blip>
          <a:srcRect b="11134"/>
          <a:stretch/>
        </p:blipFill>
        <p:spPr>
          <a:xfrm>
            <a:off x="6330100" y="2303575"/>
            <a:ext cx="4621305" cy="182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3cb4be1af4_0_15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4337"/>
              </a:buClr>
              <a:buSzPts val="4400"/>
              <a:buFont typeface="Lato Black"/>
              <a:buNone/>
            </a:pPr>
            <a:r>
              <a:rPr lang="en-BE">
                <a:solidFill>
                  <a:srgbClr val="244337"/>
                </a:solidFill>
                <a:latin typeface="Lato Black"/>
                <a:ea typeface="Lato Black"/>
                <a:cs typeface="Lato Black"/>
                <a:sym typeface="Lato Black"/>
              </a:rPr>
              <a:t>Financials:</a:t>
            </a:r>
            <a:endParaRPr>
              <a:solidFill>
                <a:srgbClr val="244337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68" name="Google Shape;168;g33cb4be1af4_0_15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solidFill>
                <a:srgbClr val="244337"/>
              </a:solidFill>
            </a:endParaRPr>
          </a:p>
        </p:txBody>
      </p:sp>
      <p:graphicFrame>
        <p:nvGraphicFramePr>
          <p:cNvPr id="169" name="Google Shape;169;g33cb4be1af4_0_154"/>
          <p:cNvGraphicFramePr/>
          <p:nvPr/>
        </p:nvGraphicFramePr>
        <p:xfrm>
          <a:off x="952500" y="1536550"/>
          <a:ext cx="10287000" cy="42516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b="1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 b="1">
                          <a:solidFill>
                            <a:srgbClr val="244337"/>
                          </a:solidFill>
                        </a:rPr>
                        <a:t>Eli Lilly</a:t>
                      </a:r>
                      <a:endParaRPr sz="1900" b="1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 b="1">
                          <a:solidFill>
                            <a:srgbClr val="244337"/>
                          </a:solidFill>
                        </a:rPr>
                        <a:t>Novo Nordisk</a:t>
                      </a:r>
                      <a:endParaRPr sz="1900" b="1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 b="1">
                          <a:solidFill>
                            <a:srgbClr val="244337"/>
                          </a:solidFill>
                        </a:rPr>
                        <a:t>Market Cap</a:t>
                      </a:r>
                      <a:endParaRPr sz="1900" b="1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>
                          <a:solidFill>
                            <a:srgbClr val="244337"/>
                          </a:solidFill>
                        </a:rPr>
                        <a:t>$874.88 B USD</a:t>
                      </a:r>
                      <a:endParaRPr sz="1900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>
                          <a:solidFill>
                            <a:srgbClr val="244337"/>
                          </a:solidFill>
                        </a:rPr>
                        <a:t>$305.67 B USD</a:t>
                      </a:r>
                      <a:endParaRPr sz="1900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 b="1">
                          <a:solidFill>
                            <a:srgbClr val="244337"/>
                          </a:solidFill>
                        </a:rPr>
                        <a:t>Dividend Yield</a:t>
                      </a:r>
                      <a:endParaRPr sz="1900" b="1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>
                          <a:solidFill>
                            <a:srgbClr val="244337"/>
                          </a:solidFill>
                        </a:rPr>
                        <a:t>0.66%</a:t>
                      </a:r>
                      <a:endParaRPr sz="1900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>
                          <a:solidFill>
                            <a:srgbClr val="244337"/>
                          </a:solidFill>
                        </a:rPr>
                        <a:t>2.11%</a:t>
                      </a:r>
                      <a:endParaRPr sz="1900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 b="1">
                          <a:solidFill>
                            <a:srgbClr val="244337"/>
                          </a:solidFill>
                        </a:rPr>
                        <a:t>P/E Ratio (TTM)</a:t>
                      </a:r>
                      <a:endParaRPr sz="1900" b="1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>
                          <a:solidFill>
                            <a:srgbClr val="244337"/>
                          </a:solidFill>
                        </a:rPr>
                        <a:t>80.92</a:t>
                      </a:r>
                      <a:endParaRPr sz="1900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>
                          <a:solidFill>
                            <a:srgbClr val="244337"/>
                          </a:solidFill>
                        </a:rPr>
                        <a:t>27.68</a:t>
                      </a:r>
                      <a:endParaRPr sz="1900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 b="1">
                          <a:solidFill>
                            <a:srgbClr val="244337"/>
                          </a:solidFill>
                        </a:rPr>
                        <a:t>Share Price</a:t>
                      </a:r>
                      <a:endParaRPr sz="1900" b="1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>
                          <a:solidFill>
                            <a:srgbClr val="244337"/>
                          </a:solidFill>
                        </a:rPr>
                        <a:t>$923.35</a:t>
                      </a:r>
                      <a:endParaRPr sz="1900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>
                          <a:solidFill>
                            <a:srgbClr val="244337"/>
                          </a:solidFill>
                        </a:rPr>
                        <a:t>$90.86</a:t>
                      </a:r>
                      <a:endParaRPr sz="1900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 b="1">
                          <a:solidFill>
                            <a:srgbClr val="244337"/>
                          </a:solidFill>
                        </a:rPr>
                        <a:t>Shares Outstanding</a:t>
                      </a:r>
                      <a:endParaRPr sz="1900" b="1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>
                          <a:solidFill>
                            <a:srgbClr val="244337"/>
                          </a:solidFill>
                        </a:rPr>
                        <a:t>947.54M</a:t>
                      </a:r>
                      <a:endParaRPr sz="1900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>
                          <a:solidFill>
                            <a:srgbClr val="244337"/>
                          </a:solidFill>
                        </a:rPr>
                        <a:t>3.37B</a:t>
                      </a:r>
                      <a:endParaRPr sz="1900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 b="1">
                          <a:solidFill>
                            <a:srgbClr val="244337"/>
                          </a:solidFill>
                        </a:rPr>
                        <a:t>EPS (TTM)</a:t>
                      </a:r>
                      <a:endParaRPr sz="1900" b="1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>
                          <a:solidFill>
                            <a:srgbClr val="244337"/>
                          </a:solidFill>
                        </a:rPr>
                        <a:t>$11.51 USD</a:t>
                      </a:r>
                      <a:endParaRPr sz="1900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>
                          <a:solidFill>
                            <a:srgbClr val="244337"/>
                          </a:solidFill>
                        </a:rPr>
                        <a:t>$3.28</a:t>
                      </a:r>
                      <a:endParaRPr sz="1900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 b="1">
                          <a:solidFill>
                            <a:srgbClr val="244337"/>
                          </a:solidFill>
                        </a:rPr>
                        <a:t>EBIT (2024)</a:t>
                      </a:r>
                      <a:endParaRPr sz="1900" b="1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>
                          <a:solidFill>
                            <a:srgbClr val="244337"/>
                          </a:solidFill>
                        </a:rPr>
                        <a:t>$12.899B USD</a:t>
                      </a:r>
                      <a:endParaRPr sz="1900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>
                          <a:solidFill>
                            <a:srgbClr val="244337"/>
                          </a:solidFill>
                        </a:rPr>
                        <a:t>$5B USD</a:t>
                      </a:r>
                      <a:endParaRPr sz="1900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 b="1">
                          <a:solidFill>
                            <a:srgbClr val="244337"/>
                          </a:solidFill>
                        </a:rPr>
                        <a:t>EBITDA (2024)</a:t>
                      </a:r>
                      <a:endParaRPr sz="1900" b="1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>
                          <a:solidFill>
                            <a:srgbClr val="244337"/>
                          </a:solidFill>
                        </a:rPr>
                        <a:t>$4.9B USD</a:t>
                      </a:r>
                      <a:endParaRPr sz="1900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>
                          <a:solidFill>
                            <a:srgbClr val="244337"/>
                          </a:solidFill>
                        </a:rPr>
                        <a:t>$10.2B USD</a:t>
                      </a:r>
                      <a:endParaRPr sz="1900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3c890230e7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4337"/>
              </a:buClr>
              <a:buSzPts val="4400"/>
              <a:buFont typeface="Lato Black"/>
              <a:buNone/>
            </a:pPr>
            <a:r>
              <a:rPr lang="en-BE">
                <a:solidFill>
                  <a:srgbClr val="244337"/>
                </a:solidFill>
                <a:latin typeface="Lato Black"/>
                <a:ea typeface="Lato Black"/>
                <a:cs typeface="Lato Black"/>
                <a:sym typeface="Lato Black"/>
              </a:rPr>
              <a:t>Financials:</a:t>
            </a:r>
            <a:endParaRPr>
              <a:solidFill>
                <a:srgbClr val="244337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75" name="Google Shape;175;g33c890230e7_0_0"/>
          <p:cNvSpPr txBox="1">
            <a:spLocks noGrp="1"/>
          </p:cNvSpPr>
          <p:nvPr>
            <p:ph type="body" idx="1"/>
          </p:nvPr>
        </p:nvSpPr>
        <p:spPr>
          <a:xfrm>
            <a:off x="838200" y="1253400"/>
            <a:ext cx="10515600" cy="48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solidFill>
                <a:srgbClr val="244337"/>
              </a:solidFill>
            </a:endParaRPr>
          </a:p>
        </p:txBody>
      </p:sp>
      <p:graphicFrame>
        <p:nvGraphicFramePr>
          <p:cNvPr id="176" name="Google Shape;176;g33c890230e7_0_0"/>
          <p:cNvGraphicFramePr/>
          <p:nvPr/>
        </p:nvGraphicFramePr>
        <p:xfrm>
          <a:off x="952500" y="1975075"/>
          <a:ext cx="10287000" cy="33068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b="1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 b="1">
                          <a:solidFill>
                            <a:srgbClr val="244337"/>
                          </a:solidFill>
                        </a:rPr>
                        <a:t>Eli Lilly</a:t>
                      </a:r>
                      <a:endParaRPr sz="1900" b="1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 b="1">
                          <a:solidFill>
                            <a:srgbClr val="244337"/>
                          </a:solidFill>
                        </a:rPr>
                        <a:t>Novo Nordisk</a:t>
                      </a:r>
                      <a:endParaRPr sz="1900" b="1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 b="1">
                          <a:solidFill>
                            <a:srgbClr val="244337"/>
                          </a:solidFill>
                        </a:rPr>
                        <a:t>debt/equity</a:t>
                      </a:r>
                      <a:endParaRPr sz="1900" b="1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>
                          <a:solidFill>
                            <a:srgbClr val="244337"/>
                          </a:solidFill>
                        </a:rPr>
                        <a:t>237%</a:t>
                      </a:r>
                      <a:endParaRPr sz="1900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>
                          <a:solidFill>
                            <a:srgbClr val="244337"/>
                          </a:solidFill>
                        </a:rPr>
                        <a:t>224%</a:t>
                      </a:r>
                      <a:endParaRPr sz="1900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 b="1">
                          <a:solidFill>
                            <a:srgbClr val="244337"/>
                          </a:solidFill>
                        </a:rPr>
                        <a:t>revenue growth</a:t>
                      </a:r>
                      <a:endParaRPr sz="1900" b="1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>
                          <a:solidFill>
                            <a:srgbClr val="244337"/>
                          </a:solidFill>
                        </a:rPr>
                        <a:t>32%</a:t>
                      </a:r>
                      <a:endParaRPr sz="1900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>
                          <a:solidFill>
                            <a:srgbClr val="244337"/>
                          </a:solidFill>
                        </a:rPr>
                        <a:t>25%</a:t>
                      </a:r>
                      <a:endParaRPr sz="1900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 b="1">
                          <a:solidFill>
                            <a:srgbClr val="244337"/>
                          </a:solidFill>
                        </a:rPr>
                        <a:t>gross margin</a:t>
                      </a:r>
                      <a:endParaRPr sz="1900" b="1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>
                          <a:solidFill>
                            <a:srgbClr val="244337"/>
                          </a:solidFill>
                        </a:rPr>
                        <a:t>81%</a:t>
                      </a:r>
                      <a:endParaRPr sz="1900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>
                          <a:solidFill>
                            <a:srgbClr val="244337"/>
                          </a:solidFill>
                        </a:rPr>
                        <a:t>84,7%</a:t>
                      </a:r>
                      <a:endParaRPr sz="1900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 b="1">
                          <a:solidFill>
                            <a:srgbClr val="244337"/>
                          </a:solidFill>
                        </a:rPr>
                        <a:t>ROE</a:t>
                      </a:r>
                      <a:endParaRPr sz="1900" b="1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>
                          <a:solidFill>
                            <a:srgbClr val="244337"/>
                          </a:solidFill>
                        </a:rPr>
                        <a:t>84%</a:t>
                      </a:r>
                      <a:endParaRPr sz="1900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>
                          <a:solidFill>
                            <a:srgbClr val="244337"/>
                          </a:solidFill>
                        </a:rPr>
                        <a:t>85%</a:t>
                      </a:r>
                      <a:endParaRPr sz="1900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 b="1">
                          <a:solidFill>
                            <a:srgbClr val="244337"/>
                          </a:solidFill>
                        </a:rPr>
                        <a:t>free cash flow</a:t>
                      </a:r>
                      <a:endParaRPr sz="1900" b="1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>
                          <a:solidFill>
                            <a:srgbClr val="244337"/>
                          </a:solidFill>
                        </a:rPr>
                        <a:t>41,43 billion $</a:t>
                      </a:r>
                      <a:endParaRPr sz="1900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>
                          <a:solidFill>
                            <a:srgbClr val="244337"/>
                          </a:solidFill>
                        </a:rPr>
                        <a:t>-2,13 billion $</a:t>
                      </a:r>
                      <a:endParaRPr sz="1900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 b="1">
                          <a:solidFill>
                            <a:srgbClr val="244337"/>
                          </a:solidFill>
                        </a:rPr>
                        <a:t>R&amp;D expenses</a:t>
                      </a:r>
                      <a:endParaRPr sz="1900" b="1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>
                          <a:solidFill>
                            <a:srgbClr val="244337"/>
                          </a:solidFill>
                        </a:rPr>
                        <a:t>11 billion $</a:t>
                      </a:r>
                      <a:endParaRPr sz="1900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BE" sz="1900">
                          <a:solidFill>
                            <a:srgbClr val="244337"/>
                          </a:solidFill>
                        </a:rPr>
                        <a:t>7 billion $</a:t>
                      </a:r>
                      <a:endParaRPr sz="1900">
                        <a:solidFill>
                          <a:srgbClr val="244337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07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4337"/>
              </a:buClr>
              <a:buSzPts val="4400"/>
              <a:buFont typeface="Lato Black"/>
              <a:buNone/>
            </a:pPr>
            <a:r>
              <a:rPr lang="en-BE">
                <a:solidFill>
                  <a:srgbClr val="244337"/>
                </a:solidFill>
                <a:latin typeface="Lato Black"/>
                <a:ea typeface="Lato Black"/>
                <a:cs typeface="Lato Black"/>
                <a:sym typeface="Lato Black"/>
              </a:rPr>
              <a:t>Koersverloop (1) </a:t>
            </a:r>
            <a:endParaRPr>
              <a:solidFill>
                <a:srgbClr val="244337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182" name="Google Shape;182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850" y="1569550"/>
            <a:ext cx="10395750" cy="423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2250" y="2202375"/>
            <a:ext cx="4086225" cy="55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3816548076_6_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4337"/>
              </a:buClr>
              <a:buSzPts val="4400"/>
              <a:buFont typeface="Lato Black"/>
              <a:buNone/>
            </a:pPr>
            <a:r>
              <a:rPr lang="en-BE">
                <a:solidFill>
                  <a:srgbClr val="244337"/>
                </a:solidFill>
                <a:latin typeface="Lato Black"/>
                <a:ea typeface="Lato Black"/>
                <a:cs typeface="Lato Black"/>
                <a:sym typeface="Lato Black"/>
              </a:rPr>
              <a:t>Koersverloop (2) </a:t>
            </a:r>
            <a:endParaRPr>
              <a:solidFill>
                <a:srgbClr val="244337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189" name="Google Shape;189;g33816548076_6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0825" y="1717000"/>
            <a:ext cx="9603882" cy="380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3816548076_6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0750" y="2308775"/>
            <a:ext cx="5157900" cy="5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07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4337"/>
              </a:buClr>
              <a:buSzPts val="4400"/>
              <a:buFont typeface="Lato Black"/>
              <a:buNone/>
            </a:pPr>
            <a:r>
              <a:rPr lang="en-BE">
                <a:solidFill>
                  <a:srgbClr val="244337"/>
                </a:solidFill>
                <a:latin typeface="Lato Black"/>
                <a:ea typeface="Lato Black"/>
                <a:cs typeface="Lato Black"/>
                <a:sym typeface="Lato Black"/>
              </a:rPr>
              <a:t>Voorstel </a:t>
            </a:r>
            <a:endParaRPr>
              <a:solidFill>
                <a:srgbClr val="244337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96" name="Google Shape;196;p7"/>
          <p:cNvSpPr txBox="1">
            <a:spLocks noGrp="1"/>
          </p:cNvSpPr>
          <p:nvPr>
            <p:ph type="body" idx="1"/>
          </p:nvPr>
        </p:nvSpPr>
        <p:spPr>
          <a:xfrm>
            <a:off x="838200" y="1372775"/>
            <a:ext cx="10515600" cy="45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228600" lvl="0" indent="-209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BE"/>
              <a:t> 1 aandeel Eli Lilly = $923.2</a:t>
            </a:r>
            <a:endParaRPr/>
          </a:p>
          <a:p>
            <a:pPr marL="228600" lvl="0" indent="-209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BE"/>
              <a:t> 7 aandelen Novo Nordisk = $633.57</a:t>
            </a:r>
            <a:endParaRPr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228600" lvl="0" indent="-209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BE"/>
              <a:t> </a:t>
            </a:r>
            <a:r>
              <a:rPr lang="en-BE" u="sng"/>
              <a:t>Totale positie</a:t>
            </a:r>
            <a:r>
              <a:rPr lang="en-BE"/>
              <a:t>  ≈ $1550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650</Words>
  <Application>Microsoft Office PowerPoint</Application>
  <PresentationFormat>Breedbeeld</PresentationFormat>
  <Paragraphs>157</Paragraphs>
  <Slides>16</Slides>
  <Notes>15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Lato</vt:lpstr>
      <vt:lpstr>Lato Black</vt:lpstr>
      <vt:lpstr>Kantoorthema</vt:lpstr>
      <vt:lpstr>PowerPoint-presentatie</vt:lpstr>
      <vt:lpstr>   +  </vt:lpstr>
      <vt:lpstr>Markt: Vraag &amp; Aanbod</vt:lpstr>
      <vt:lpstr>Markt: Vraag &amp; Aanbod</vt:lpstr>
      <vt:lpstr>Waarom duale spreiding? </vt:lpstr>
      <vt:lpstr>Management: Novo Nordisk</vt:lpstr>
      <vt:lpstr>Management: Eli Lilly</vt:lpstr>
      <vt:lpstr>Management</vt:lpstr>
      <vt:lpstr>Groei</vt:lpstr>
      <vt:lpstr>Groei</vt:lpstr>
      <vt:lpstr>Shareholder Stucture</vt:lpstr>
      <vt:lpstr>Financials:</vt:lpstr>
      <vt:lpstr>Financials:</vt:lpstr>
      <vt:lpstr>Koersverloop (1) </vt:lpstr>
      <vt:lpstr>Koersverloop (2) </vt:lpstr>
      <vt:lpstr>Voorstel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Ruben Tack</dc:creator>
  <cp:lastModifiedBy>Ruben Tack</cp:lastModifiedBy>
  <cp:revision>1</cp:revision>
  <dcterms:created xsi:type="dcterms:W3CDTF">2025-05-08T18:32:53Z</dcterms:created>
  <dcterms:modified xsi:type="dcterms:W3CDTF">2025-05-08T18:33:01Z</dcterms:modified>
</cp:coreProperties>
</file>