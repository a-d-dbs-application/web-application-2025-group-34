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72" r:id="rId4"/>
    <p:sldId id="273" r:id="rId5"/>
    <p:sldId id="274" r:id="rId6"/>
    <p:sldId id="275" r:id="rId7"/>
    <p:sldId id="282" r:id="rId8"/>
    <p:sldId id="288" r:id="rId9"/>
    <p:sldId id="285" r:id="rId10"/>
    <p:sldId id="284" r:id="rId11"/>
    <p:sldId id="276" r:id="rId12"/>
    <p:sldId id="277" r:id="rId13"/>
    <p:sldId id="287" r:id="rId14"/>
    <p:sldId id="286" r:id="rId15"/>
    <p:sldId id="278" r:id="rId16"/>
    <p:sldId id="280" r:id="rId17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0T10:30:49.32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1,'38'0,"-7"0,-26 0,9 0,2 0,3 0,4 0,-14 0,10 0,-5 0,8 0,-8 0,3 0,1 2,-5-1,7 1,-7 0,-1 1,8 0,-4-1,3-2,3 0,-10 0,10 0,-8 0,3 0,10 0,-18 2,15-2,-9 5,-4-3,15 6,-18-5,13 4,-5-7,-4 3,15-1,-20-1,16 6,-10-5,4 3,3-5,-3 0,1 0,-3 0,0 2,1-2,-1 4,1-3,-1 1,-1-2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0T10:31:18.95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1,'40'0,"-5"0,-30 0,7 0,7 2,-5-1,6 1,-6-2,1 0,3 0,-1 3,-1-3,1 2,-4 1,6-3,-7 2,9-2,-7 2,2-1,0 1,-5 3,10-4,-6 3,-1-4,6 0,-9 0,7 0,-1 3,-4-3,5 2,-5-2,4 0,0 0,-4 2,5-1,-5 1,3 0,2-1,-1 1,2-2,-3 0,0 2,-3-1,8 6,-9-6,7 4,-7-3,3-1,1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0T10:31:34.0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0,'45'0,"-11"0,-18 6,-4-4,7 4,-1-6,-4 5,3-4,-3 10,3-10,5 5,-7-6,5 6,-4-5,-4 5,7-6,-5 0,1 5,4-4,-6 5,3-6,3 0,-7 0,8 0,-9 5,9-4,-5 4,6-5,-3 6,-3-5,2 11,-4-10,3 4,1-6,-3 5,3-4,-2 4,2-5,0 0,-1 0,2 0,0 0,-4 0,4 0,-3 0,-2 5,6-3,-7 3,5-5,-1 0,-1 0,1 0,1 0,0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B9B004-22B9-7EE8-2395-BFC31EED2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B070CBD0-75E4-A72E-91F2-368A82A63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BA59830-B758-6BDF-DAD7-C8ABC55CE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CD892-9416-4D96-8703-B38C9E0E449A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B6E9762-E0E5-57F7-83A0-39C8A2C19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118744B-1AC2-4FE9-B29E-5E36065A4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1D0F0-B521-4E7A-9253-402902B2FC5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31181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363E93-2C29-A282-A780-E8F0C1E8F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A5849EE-915C-746E-6ED9-880312C65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5ACBBB5-8E2D-8035-4F86-AAD8CCAE5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CD892-9416-4D96-8703-B38C9E0E449A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035B060-763A-570A-FA44-27A127203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1192EDF-450B-6B9C-F744-86BF8DDCE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1D0F0-B521-4E7A-9253-402902B2FC5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5423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388742-1D8D-F158-5DE4-338822486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995F3A7-41F7-E56E-7CC6-F4781D57D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919DE50-A839-6259-79EA-22A2B72FC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CD892-9416-4D96-8703-B38C9E0E449A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841EBFB-5A0A-2546-4B2D-EAFF28C2C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7B4E3F5-592B-497C-1AAF-4AEC4108C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1D0F0-B521-4E7A-9253-402902B2FC5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06024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2F3258-5477-6A1C-D0A2-CDD4C60D3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F04DFC2-869B-D5B5-3FA6-C1B2BC72F5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D5A4AC8-4915-E276-3959-11A27084A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5C7D740-16BA-3B7B-5CC1-D8FE59326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CD892-9416-4D96-8703-B38C9E0E449A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EBFFD86-3F1D-8651-0176-37B014F20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FF3A6D4-60DF-8F2C-0152-21BDF86FA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1D0F0-B521-4E7A-9253-402902B2FC5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37787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78DD80-D858-A79E-1383-71CD37EC9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88935BA-AA4E-BB4B-2D17-7C121A8DF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14C50D89-2696-EAAF-7C59-C90E3ACF90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3CCBCD5-4FCA-8E88-B743-F99561324C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FAF7ADE-6F6A-DA22-826D-B955F746CB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D21F054E-1F9A-948D-36E1-C1BB8698F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CD892-9416-4D96-8703-B38C9E0E449A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F14A52F2-9CFA-0144-51BD-CB5AFF393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45E4B65C-BCB7-1E31-2018-C3D948145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1D0F0-B521-4E7A-9253-402902B2FC5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76252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6B77DB-F044-660A-615E-C7CC73FB2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28CA1A15-032B-FC88-0142-E28CE4555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CD892-9416-4D96-8703-B38C9E0E449A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3AB88C68-B157-C672-3533-B3D8003C3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C35AC7A-C8D9-1789-EC27-927316125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1D0F0-B521-4E7A-9253-402902B2FC5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01657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36C35ECE-B02B-0A28-E3B3-E6CD794E8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CD892-9416-4D96-8703-B38C9E0E449A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627625FC-C8E5-4B25-18E7-A6EA98047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A302BD5-6F87-2B4D-E9E6-65981842F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1D0F0-B521-4E7A-9253-402902B2FC5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32465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E0B49D-879B-1C56-0EB7-991239458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22D15A3-B1BA-AD9B-8E35-FEC17EFE1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B912A0F-1E4A-8A7F-2A32-6DC1D4FAD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A55E393-FB01-424F-57EB-5C868F35F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CD892-9416-4D96-8703-B38C9E0E449A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6E8B365-ABD7-5312-F623-0F05F3D9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82C1A23-B58C-F86F-0440-0A6634C26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1D0F0-B521-4E7A-9253-402902B2FC5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85568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5C93F1-D04F-4FE3-9D76-38231C293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21E076D8-4D6C-B375-9F88-D83E5A4384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D13616E-6D87-9C87-04A1-EA1877F7C5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E99CE6E-AC0B-6EA4-446D-81E028D39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CD892-9416-4D96-8703-B38C9E0E449A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25EA3AB-9EAA-EA6E-D78F-238C6C747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854A7CF-63A7-A2EA-3E2F-D328BB8ED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1D0F0-B521-4E7A-9253-402902B2FC5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74235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CA0672-0981-44C3-C2BA-356E45973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7A7D277C-935C-4B1E-DBF3-4D592653C8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94F9AE7-13FC-3568-D31D-509E7AB26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CD892-9416-4D96-8703-B38C9E0E449A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522952A-E145-4778-8498-2EF918F0F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E0BEA29-A560-D789-731B-1B70B422C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1D0F0-B521-4E7A-9253-402902B2FC5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43457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562EB5BD-78C7-9EB6-97E0-43C7F0018A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DE9BC615-0462-3F8F-4006-B16E830E94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3E83575-160C-BD72-CCCE-A47327FC1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CD892-9416-4D96-8703-B38C9E0E449A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80B490F-6511-33B2-D5A5-6575E4F65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9C1B39E-3937-5744-DB2D-73D2C0819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1D0F0-B521-4E7A-9253-402902B2FC5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24950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4E49B3A2-8654-B915-A27A-33C21920B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98D1C84-B620-402D-8E85-F36A2DDBD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9A1334B-DCF1-5E93-60DD-F1F5F9FAAC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8CD892-9416-4D96-8703-B38C9E0E449A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59DBC6C-F973-2DEA-7BB7-B4F3F7EF77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F5A2474-4A64-EE7C-313F-1830F07A83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1D0F0-B521-4E7A-9253-402902B2FC5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7350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customXml" Target="../ink/ink2.xml"/><Relationship Id="rId4" Type="http://schemas.openxmlformats.org/officeDocument/2006/relationships/image" Target="../media/image10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DA1106-79C9-34A6-968C-734152AF32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8A26EB9-CEAC-398A-0E92-96827CB0CC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8463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A9B099-3678-56D7-4D13-0036810034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3613" y="1946276"/>
            <a:ext cx="9684774" cy="1655762"/>
          </a:xfrm>
        </p:spPr>
        <p:txBody>
          <a:bodyPr>
            <a:normAutofit/>
          </a:bodyPr>
          <a:lstStyle/>
          <a:p>
            <a:r>
              <a:rPr lang="nl-BE" sz="7200" b="1" cap="all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Lato Black" panose="020F0A02020204030203" pitchFamily="34" charset="0"/>
              </a:rPr>
              <a:t>SOfina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DB8EF02-DF1E-4CA0-A16A-719DCC97E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0490" y="3602038"/>
            <a:ext cx="10491020" cy="1655762"/>
          </a:xfrm>
        </p:spPr>
        <p:txBody>
          <a:bodyPr>
            <a:normAutofit/>
          </a:bodyPr>
          <a:lstStyle/>
          <a:p>
            <a:r>
              <a:rPr lang="nl-BE" sz="4400" cap="small" dirty="0">
                <a:ln w="3175">
                  <a:noFill/>
                </a:ln>
                <a:solidFill>
                  <a:schemeClr val="bg1"/>
                </a:solidFill>
                <a:latin typeface="Lato" panose="020F0502020204030203" pitchFamily="34" charset="0"/>
              </a:rPr>
              <a:t>Pepijn Baert, 2024-2025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B9C2D266-3FCC-79B1-C37C-AED8780B8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76" y="218627"/>
            <a:ext cx="11631648" cy="642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246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Inleiding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Belgische Holding</a:t>
            </a:r>
          </a:p>
          <a:p>
            <a:r>
              <a:rPr lang="en-BE" dirty="0"/>
              <a:t>+125 jaar oud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 err="1">
                <a:solidFill>
                  <a:srgbClr val="242628"/>
                </a:solidFill>
                <a:effectLst/>
                <a:latin typeface="jaf-bernina-sans"/>
              </a:rPr>
              <a:t>Beurs</a:t>
            </a:r>
            <a:r>
              <a:rPr lang="en-GB" b="0" i="0" dirty="0">
                <a:solidFill>
                  <a:srgbClr val="242628"/>
                </a:solidFill>
                <a:effectLst/>
                <a:latin typeface="jaf-bernina-sans"/>
              </a:rPr>
              <a:t>: Euronext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242628"/>
                </a:solidFill>
                <a:latin typeface="jaf-bernina-sans"/>
              </a:rPr>
              <a:t>Market Cap: €8,2 </a:t>
            </a:r>
            <a:r>
              <a:rPr lang="en-GB" dirty="0" err="1">
                <a:solidFill>
                  <a:srgbClr val="242628"/>
                </a:solidFill>
                <a:latin typeface="jaf-bernina-sans"/>
              </a:rPr>
              <a:t>mld</a:t>
            </a:r>
            <a:endParaRPr lang="en-GB" b="0" i="0" dirty="0">
              <a:solidFill>
                <a:srgbClr val="242628"/>
              </a:solidFill>
              <a:effectLst/>
              <a:latin typeface="jaf-bernina-sans"/>
            </a:endParaRPr>
          </a:p>
        </p:txBody>
      </p:sp>
      <p:pic>
        <p:nvPicPr>
          <p:cNvPr id="1026" name="Picture 2" descr="Sofina - Wikipedia">
            <a:extLst>
              <a:ext uri="{FF2B5EF4-FFF2-40B4-BE49-F238E27FC236}">
                <a16:creationId xmlns:a16="http://schemas.microsoft.com/office/drawing/2014/main" id="{EF1F86B8-7AEA-7B74-23DB-846E3B806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034" y="1825625"/>
            <a:ext cx="5086766" cy="1937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5449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Geschiedenis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1898:</a:t>
            </a:r>
            <a:r>
              <a:rPr lang="en-GB" dirty="0"/>
              <a:t> </a:t>
            </a:r>
            <a:r>
              <a:rPr lang="en-GB" dirty="0" err="1"/>
              <a:t>Oprichting</a:t>
            </a:r>
            <a:r>
              <a:rPr lang="en-GB" dirty="0"/>
              <a:t> van </a:t>
            </a:r>
            <a:r>
              <a:rPr lang="en-GB" dirty="0" err="1"/>
              <a:t>Sofina</a:t>
            </a:r>
            <a:r>
              <a:rPr lang="en-GB" dirty="0"/>
              <a:t> </a:t>
            </a:r>
            <a:r>
              <a:rPr lang="en-GB" dirty="0" err="1"/>
              <a:t>als</a:t>
            </a:r>
            <a:r>
              <a:rPr lang="en-GB" dirty="0"/>
              <a:t> </a:t>
            </a:r>
            <a:r>
              <a:rPr lang="en-GB" dirty="0" err="1"/>
              <a:t>investeringsmaatschappij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1905-1955:</a:t>
            </a:r>
            <a:r>
              <a:rPr lang="en-GB" dirty="0"/>
              <a:t> Internationale </a:t>
            </a:r>
            <a:r>
              <a:rPr lang="en-GB" dirty="0" err="1"/>
              <a:t>groei</a:t>
            </a:r>
            <a:r>
              <a:rPr lang="en-GB" dirty="0"/>
              <a:t> </a:t>
            </a:r>
            <a:r>
              <a:rPr lang="en-GB" dirty="0" err="1"/>
              <a:t>onder</a:t>
            </a:r>
            <a:r>
              <a:rPr lang="en-GB" dirty="0"/>
              <a:t> </a:t>
            </a:r>
            <a:r>
              <a:rPr lang="en-GB" dirty="0" err="1"/>
              <a:t>leiding</a:t>
            </a:r>
            <a:r>
              <a:rPr lang="en-GB" dirty="0"/>
              <a:t> van Dannie Heineman.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1964:</a:t>
            </a:r>
            <a:r>
              <a:rPr lang="en-GB" dirty="0"/>
              <a:t> </a:t>
            </a:r>
            <a:r>
              <a:rPr lang="en-GB" dirty="0" err="1"/>
              <a:t>Familie</a:t>
            </a:r>
            <a:r>
              <a:rPr lang="en-GB" dirty="0"/>
              <a:t> </a:t>
            </a:r>
            <a:r>
              <a:rPr lang="en-GB" dirty="0" err="1"/>
              <a:t>Boël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Société Générale </a:t>
            </a:r>
            <a:r>
              <a:rPr lang="en-GB" dirty="0" err="1"/>
              <a:t>nemen</a:t>
            </a:r>
            <a:r>
              <a:rPr lang="en-GB" dirty="0"/>
              <a:t> </a:t>
            </a:r>
            <a:r>
              <a:rPr lang="en-GB" dirty="0" err="1"/>
              <a:t>controle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2014:</a:t>
            </a:r>
            <a:r>
              <a:rPr lang="en-GB" dirty="0"/>
              <a:t> Harold </a:t>
            </a:r>
            <a:r>
              <a:rPr lang="en-GB" dirty="0" err="1"/>
              <a:t>Boël</a:t>
            </a:r>
            <a:r>
              <a:rPr lang="en-GB" dirty="0"/>
              <a:t> </a:t>
            </a:r>
            <a:r>
              <a:rPr lang="en-GB" dirty="0" err="1"/>
              <a:t>wordt</a:t>
            </a:r>
            <a:r>
              <a:rPr lang="en-GB" dirty="0"/>
              <a:t> CEO, David </a:t>
            </a:r>
            <a:r>
              <a:rPr lang="en-GB" dirty="0" err="1"/>
              <a:t>Verey</a:t>
            </a:r>
            <a:r>
              <a:rPr lang="en-GB" dirty="0"/>
              <a:t> </a:t>
            </a:r>
            <a:r>
              <a:rPr lang="en-GB" dirty="0" err="1"/>
              <a:t>voorzitter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Heden</a:t>
            </a:r>
            <a:r>
              <a:rPr lang="en-GB" b="1" dirty="0"/>
              <a:t>:</a:t>
            </a:r>
            <a:r>
              <a:rPr lang="en-GB" dirty="0"/>
              <a:t> Bel20-holding met </a:t>
            </a:r>
            <a:r>
              <a:rPr lang="en-GB" dirty="0" err="1"/>
              <a:t>wereldwijde</a:t>
            </a:r>
            <a:r>
              <a:rPr lang="en-GB" dirty="0"/>
              <a:t> </a:t>
            </a:r>
            <a:r>
              <a:rPr lang="en-GB" dirty="0" err="1"/>
              <a:t>investeringen</a:t>
            </a:r>
            <a:r>
              <a:rPr lang="en-GB" dirty="0"/>
              <a:t>.</a:t>
            </a:r>
          </a:p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902359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Management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CC532FF-B0C8-CEB0-DA96-2A3653E77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Voorzitter</a:t>
            </a:r>
            <a:r>
              <a:rPr lang="en-GB" b="1" dirty="0"/>
              <a:t> van de Raad van </a:t>
            </a:r>
            <a:r>
              <a:rPr lang="en-GB" b="1" dirty="0" err="1"/>
              <a:t>Bestuur</a:t>
            </a:r>
            <a:r>
              <a:rPr lang="en-GB" dirty="0"/>
              <a:t>: Dominique </a:t>
            </a:r>
            <a:r>
              <a:rPr lang="en-GB" dirty="0" err="1"/>
              <a:t>Lancksweert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CEO</a:t>
            </a:r>
            <a:r>
              <a:rPr lang="en-GB" dirty="0"/>
              <a:t>: Harold </a:t>
            </a:r>
            <a:r>
              <a:rPr lang="en-GB" dirty="0" err="1"/>
              <a:t>Boël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Bestuursleden</a:t>
            </a:r>
            <a:r>
              <a:rPr lang="en-GB" dirty="0"/>
              <a:t>: Nicolas </a:t>
            </a:r>
            <a:r>
              <a:rPr lang="en-GB" dirty="0" err="1"/>
              <a:t>Boël</a:t>
            </a:r>
            <a:r>
              <a:rPr lang="en-GB" dirty="0"/>
              <a:t>, Laura </a:t>
            </a:r>
            <a:r>
              <a:rPr lang="en-GB" dirty="0" err="1"/>
              <a:t>Cioli</a:t>
            </a:r>
            <a:r>
              <a:rPr lang="en-GB" dirty="0"/>
              <a:t>, Laurent de </a:t>
            </a:r>
            <a:r>
              <a:rPr lang="en-GB" dirty="0" err="1"/>
              <a:t>Meeûs</a:t>
            </a:r>
            <a:r>
              <a:rPr lang="en-GB" dirty="0"/>
              <a:t> </a:t>
            </a:r>
            <a:r>
              <a:rPr lang="en-GB" dirty="0" err="1"/>
              <a:t>d’Argenteuil</a:t>
            </a:r>
            <a:r>
              <a:rPr lang="en-GB" dirty="0"/>
              <a:t>, Anja </a:t>
            </a:r>
            <a:r>
              <a:rPr lang="en-GB" dirty="0" err="1"/>
              <a:t>Langenbucher</a:t>
            </a:r>
            <a:r>
              <a:rPr lang="en-GB" dirty="0"/>
              <a:t>, Michèle </a:t>
            </a:r>
            <a:r>
              <a:rPr lang="en-GB" dirty="0" err="1"/>
              <a:t>Sioen</a:t>
            </a:r>
            <a:r>
              <a:rPr lang="en-GB" dirty="0"/>
              <a:t>, Catherine </a:t>
            </a:r>
            <a:r>
              <a:rPr lang="en-GB" dirty="0" err="1"/>
              <a:t>Soubie</a:t>
            </a:r>
            <a:r>
              <a:rPr lang="en-GB" dirty="0"/>
              <a:t>, </a:t>
            </a:r>
            <a:r>
              <a:rPr lang="en-GB" dirty="0" err="1"/>
              <a:t>Gwill</a:t>
            </a:r>
            <a:r>
              <a:rPr lang="en-GB" dirty="0"/>
              <a:t> York, Leslie Teo, Rajeev Vasudeva, Felix Goblet </a:t>
            </a:r>
            <a:r>
              <a:rPr lang="en-GB" dirty="0" err="1"/>
              <a:t>d’Alviella</a:t>
            </a:r>
            <a:endParaRPr lang="en-GB" dirty="0"/>
          </a:p>
          <a:p>
            <a:pPr marL="0" indent="0">
              <a:buNone/>
            </a:pPr>
            <a:r>
              <a:rPr lang="en-GB" dirty="0" err="1"/>
              <a:t>Uitgebreide</a:t>
            </a:r>
            <a:r>
              <a:rPr lang="en-GB" dirty="0"/>
              <a:t> </a:t>
            </a:r>
            <a:r>
              <a:rPr lang="en-GB" dirty="0" err="1"/>
              <a:t>ervaring</a:t>
            </a:r>
            <a:r>
              <a:rPr lang="en-GB" dirty="0"/>
              <a:t> in </a:t>
            </a:r>
            <a:r>
              <a:rPr lang="en-GB" dirty="0" err="1"/>
              <a:t>investeringen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bedrijfsvoering</a:t>
            </a:r>
            <a:r>
              <a:rPr lang="en-GB" dirty="0"/>
              <a:t>, </a:t>
            </a:r>
            <a:r>
              <a:rPr lang="en-GB" dirty="0" err="1"/>
              <a:t>solide</a:t>
            </a:r>
            <a:r>
              <a:rPr lang="en-GB" dirty="0"/>
              <a:t> </a:t>
            </a:r>
            <a:r>
              <a:rPr lang="en-GB" dirty="0" err="1"/>
              <a:t>internationale</a:t>
            </a:r>
            <a:r>
              <a:rPr lang="en-GB" dirty="0"/>
              <a:t> </a:t>
            </a:r>
            <a:r>
              <a:rPr lang="en-GB" dirty="0" err="1"/>
              <a:t>reputatie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415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circles with text&#10;&#10;AI-generated content may be incorrect.">
            <a:extLst>
              <a:ext uri="{FF2B5EF4-FFF2-40B4-BE49-F238E27FC236}">
                <a16:creationId xmlns:a16="http://schemas.microsoft.com/office/drawing/2014/main" id="{FAD9EC0A-CFC6-7732-C181-46411DC9A6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036" y="1522578"/>
            <a:ext cx="7811928" cy="45527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Bedrijfsactiviteiten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039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D7D8C-191A-0E3C-EF9F-BDE36B03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4" descr="A close-up of a graph&#10;&#10;AI-generated content may be incorrect.">
            <a:extLst>
              <a:ext uri="{FF2B5EF4-FFF2-40B4-BE49-F238E27FC236}">
                <a16:creationId xmlns:a16="http://schemas.microsoft.com/office/drawing/2014/main" id="{C220EA28-7C8C-8E40-DBC2-D58C1C88C5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893" y="1512250"/>
            <a:ext cx="9120213" cy="4175627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D2728F-59BA-2992-B6B7-CE66B0974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Bedrijfsactiviteiten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353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024A6-3017-0BD3-A821-CD377B0C1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5664-DEFE-A5FD-D048-FE0AD2EB6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Bedrijfsactiviteiten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pic>
        <p:nvPicPr>
          <p:cNvPr id="7" name="Content Placeholder 6" descr="A close-up of a list of financial statements&#10;&#10;AI-generated content may be incorrect.">
            <a:extLst>
              <a:ext uri="{FF2B5EF4-FFF2-40B4-BE49-F238E27FC236}">
                <a16:creationId xmlns:a16="http://schemas.microsoft.com/office/drawing/2014/main" id="{B051840E-0736-5D65-E2A6-218967944E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509" y="1491993"/>
            <a:ext cx="10336981" cy="4351338"/>
          </a:xfrm>
        </p:spPr>
      </p:pic>
    </p:spTree>
    <p:extLst>
      <p:ext uri="{BB962C8B-B14F-4D97-AF65-F5344CB8AC3E}">
        <p14:creationId xmlns:p14="http://schemas.microsoft.com/office/powerpoint/2010/main" val="3967571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F0FCB-BEA6-1115-5507-602D60155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4A8A7-E4A5-5259-C299-632D91009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Bedrijfsactiviteiten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CF0081-BF2F-7FA4-D820-41DA20AAE805}"/>
              </a:ext>
            </a:extLst>
          </p:cNvPr>
          <p:cNvSpPr txBox="1"/>
          <p:nvPr/>
        </p:nvSpPr>
        <p:spPr>
          <a:xfrm>
            <a:off x="1751308" y="196828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BE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5A94B3-F182-152C-5A16-1914C459C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6140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>
                <a:latin typeface="coranto-2"/>
              </a:rPr>
              <a:t>H</a:t>
            </a:r>
            <a:r>
              <a:rPr lang="en-GB" b="0" i="0" dirty="0">
                <a:effectLst/>
                <a:latin typeface="coranto-2"/>
              </a:rPr>
              <a:t>et gros van de </a:t>
            </a:r>
            <a:r>
              <a:rPr lang="en-GB" b="0" i="0" dirty="0" err="1">
                <a:effectLst/>
                <a:latin typeface="coranto-2"/>
              </a:rPr>
              <a:t>portefeuille</a:t>
            </a:r>
            <a:r>
              <a:rPr lang="en-GB" b="0" i="0" dirty="0">
                <a:effectLst/>
                <a:latin typeface="coranto-2"/>
              </a:rPr>
              <a:t> zit nu in </a:t>
            </a:r>
            <a:r>
              <a:rPr lang="en-GB" b="1" i="0" dirty="0">
                <a:effectLst/>
                <a:latin typeface="coranto-2"/>
              </a:rPr>
              <a:t>VC </a:t>
            </a:r>
            <a:r>
              <a:rPr lang="en-GB" b="1" i="0" dirty="0" err="1">
                <a:effectLst/>
                <a:latin typeface="coranto-2"/>
              </a:rPr>
              <a:t>en</a:t>
            </a:r>
            <a:r>
              <a:rPr lang="en-GB" b="1" i="0" dirty="0">
                <a:effectLst/>
                <a:latin typeface="coranto-2"/>
              </a:rPr>
              <a:t> PE</a:t>
            </a:r>
            <a:r>
              <a:rPr lang="en-GB" b="0" i="0" dirty="0">
                <a:effectLst/>
                <a:latin typeface="coranto-2"/>
              </a:rPr>
              <a:t>, </a:t>
            </a:r>
            <a:r>
              <a:rPr lang="en-GB" b="0" i="0" dirty="0" err="1">
                <a:effectLst/>
                <a:latin typeface="coranto-2"/>
              </a:rPr>
              <a:t>terwijl</a:t>
            </a:r>
            <a:r>
              <a:rPr lang="en-GB" b="0" i="0" dirty="0">
                <a:effectLst/>
                <a:latin typeface="coranto-2"/>
              </a:rPr>
              <a:t> </a:t>
            </a:r>
            <a:r>
              <a:rPr lang="en-GB" b="0" i="0" dirty="0" err="1">
                <a:effectLst/>
                <a:latin typeface="coranto-2"/>
              </a:rPr>
              <a:t>vroeger</a:t>
            </a:r>
            <a:r>
              <a:rPr lang="en-GB" b="0" i="0" dirty="0">
                <a:effectLst/>
                <a:latin typeface="coranto-2"/>
              </a:rPr>
              <a:t> </a:t>
            </a:r>
            <a:r>
              <a:rPr lang="en-GB" b="0" i="0" dirty="0" err="1">
                <a:effectLst/>
                <a:latin typeface="coranto-2"/>
              </a:rPr>
              <a:t>zowat</a:t>
            </a:r>
            <a:r>
              <a:rPr lang="en-GB" b="0" i="0" dirty="0">
                <a:effectLst/>
                <a:latin typeface="coranto-2"/>
              </a:rPr>
              <a:t> de </a:t>
            </a:r>
            <a:r>
              <a:rPr lang="en-GB" b="0" i="0" dirty="0" err="1">
                <a:effectLst/>
                <a:latin typeface="coranto-2"/>
              </a:rPr>
              <a:t>helft</a:t>
            </a:r>
            <a:r>
              <a:rPr lang="en-GB" b="0" i="0" dirty="0">
                <a:effectLst/>
                <a:latin typeface="coranto-2"/>
              </a:rPr>
              <a:t> in </a:t>
            </a:r>
            <a:r>
              <a:rPr lang="en-GB" b="0" i="0" dirty="0" err="1">
                <a:effectLst/>
                <a:latin typeface="coranto-2"/>
              </a:rPr>
              <a:t>grote</a:t>
            </a:r>
            <a:r>
              <a:rPr lang="en-GB" b="0" i="0" dirty="0">
                <a:effectLst/>
                <a:latin typeface="coranto-2"/>
              </a:rPr>
              <a:t> </a:t>
            </a:r>
            <a:r>
              <a:rPr lang="en-GB" b="0" i="0" dirty="0" err="1">
                <a:effectLst/>
                <a:latin typeface="coranto-2"/>
              </a:rPr>
              <a:t>genoteerde</a:t>
            </a:r>
            <a:r>
              <a:rPr lang="en-GB" b="0" i="0" dirty="0">
                <a:effectLst/>
                <a:latin typeface="coranto-2"/>
              </a:rPr>
              <a:t> </a:t>
            </a:r>
            <a:r>
              <a:rPr lang="en-GB" b="0" i="0" dirty="0" err="1">
                <a:effectLst/>
                <a:latin typeface="coranto-2"/>
              </a:rPr>
              <a:t>bedrijven</a:t>
            </a:r>
            <a:r>
              <a:rPr lang="en-GB" b="0" i="0" dirty="0">
                <a:effectLst/>
                <a:latin typeface="coranto-2"/>
              </a:rPr>
              <a:t> </a:t>
            </a:r>
            <a:r>
              <a:rPr lang="en-GB" b="0" i="0" dirty="0" err="1">
                <a:effectLst/>
                <a:latin typeface="coranto-2"/>
              </a:rPr>
              <a:t>zat</a:t>
            </a:r>
            <a:r>
              <a:rPr lang="en-GB" b="0" i="0" dirty="0">
                <a:effectLst/>
                <a:latin typeface="coranto-2"/>
              </a:rPr>
              <a:t>.</a:t>
            </a:r>
          </a:p>
          <a:p>
            <a:r>
              <a:rPr lang="en-GB" b="0" i="0" dirty="0" err="1">
                <a:effectLst/>
                <a:latin typeface="coranto-2"/>
              </a:rPr>
              <a:t>Participaties</a:t>
            </a:r>
            <a:r>
              <a:rPr lang="en-GB" b="0" i="0" dirty="0">
                <a:effectLst/>
                <a:latin typeface="coranto-2"/>
              </a:rPr>
              <a:t> in OpenAI, Mistral AI, ByteDance </a:t>
            </a:r>
            <a:r>
              <a:rPr lang="en-GB" b="0" i="0" dirty="0" err="1">
                <a:effectLst/>
                <a:latin typeface="coranto-2"/>
              </a:rPr>
              <a:t>en</a:t>
            </a:r>
            <a:r>
              <a:rPr lang="en-GB" b="0" i="0" dirty="0">
                <a:effectLst/>
                <a:latin typeface="coranto-2"/>
              </a:rPr>
              <a:t> SpaceX</a:t>
            </a:r>
          </a:p>
          <a:p>
            <a:endParaRPr lang="en-GB" dirty="0">
              <a:latin typeface="coranto-2"/>
            </a:endParaRPr>
          </a:p>
          <a:p>
            <a:endParaRPr lang="en-GB" b="0" i="0" dirty="0">
              <a:effectLst/>
              <a:latin typeface="coranto-2"/>
            </a:endParaRPr>
          </a:p>
          <a:p>
            <a:endParaRPr lang="en-GB" b="0" i="0" dirty="0">
              <a:effectLst/>
              <a:latin typeface="coranto-2"/>
            </a:endParaRPr>
          </a:p>
          <a:p>
            <a:r>
              <a:rPr lang="en-GB" b="1" dirty="0" err="1">
                <a:latin typeface="coranto-2"/>
              </a:rPr>
              <a:t>D</a:t>
            </a:r>
            <a:r>
              <a:rPr lang="en-GB" b="1" i="0" dirty="0" err="1">
                <a:effectLst/>
                <a:latin typeface="coranto-2"/>
              </a:rPr>
              <a:t>eregulering</a:t>
            </a:r>
            <a:r>
              <a:rPr lang="en-GB" b="0" i="0" dirty="0">
                <a:effectLst/>
                <a:latin typeface="coranto-2"/>
              </a:rPr>
              <a:t> </a:t>
            </a:r>
            <a:r>
              <a:rPr lang="en-GB" b="0" i="0" dirty="0" err="1">
                <a:effectLst/>
                <a:latin typeface="coranto-2"/>
              </a:rPr>
              <a:t>onder</a:t>
            </a:r>
            <a:r>
              <a:rPr lang="en-GB" b="0" i="0" dirty="0">
                <a:effectLst/>
                <a:latin typeface="coranto-2"/>
              </a:rPr>
              <a:t> Trump </a:t>
            </a:r>
            <a:r>
              <a:rPr lang="en-GB" b="0" i="0" dirty="0" err="1">
                <a:effectLst/>
                <a:latin typeface="coranto-2"/>
              </a:rPr>
              <a:t>goed</a:t>
            </a:r>
            <a:r>
              <a:rPr lang="en-GB" b="0" i="0" dirty="0">
                <a:effectLst/>
                <a:latin typeface="coranto-2"/>
              </a:rPr>
              <a:t> </a:t>
            </a:r>
            <a:r>
              <a:rPr lang="en-GB" b="0" i="0" dirty="0" err="1">
                <a:effectLst/>
                <a:latin typeface="coranto-2"/>
              </a:rPr>
              <a:t>zal</a:t>
            </a:r>
            <a:r>
              <a:rPr lang="en-GB" b="0" i="0" dirty="0">
                <a:effectLst/>
                <a:latin typeface="coranto-2"/>
              </a:rPr>
              <a:t> </a:t>
            </a:r>
            <a:r>
              <a:rPr lang="en-GB" b="0" i="0" dirty="0" err="1">
                <a:effectLst/>
                <a:latin typeface="coranto-2"/>
              </a:rPr>
              <a:t>zijn</a:t>
            </a:r>
            <a:r>
              <a:rPr lang="en-GB" b="0" i="0" dirty="0">
                <a:effectLst/>
                <a:latin typeface="coranto-2"/>
              </a:rPr>
              <a:t> </a:t>
            </a:r>
            <a:r>
              <a:rPr lang="en-GB" b="0" i="0" dirty="0" err="1">
                <a:effectLst/>
                <a:latin typeface="coranto-2"/>
              </a:rPr>
              <a:t>voor</a:t>
            </a:r>
            <a:r>
              <a:rPr lang="en-GB" b="0" i="0" dirty="0">
                <a:effectLst/>
                <a:latin typeface="coranto-2"/>
              </a:rPr>
              <a:t> de </a:t>
            </a:r>
            <a:r>
              <a:rPr lang="en-GB" b="0" i="0" dirty="0" err="1">
                <a:effectLst/>
                <a:latin typeface="coranto-2"/>
              </a:rPr>
              <a:t>heropleving</a:t>
            </a:r>
            <a:r>
              <a:rPr lang="en-GB" b="0" i="0" dirty="0">
                <a:effectLst/>
                <a:latin typeface="coranto-2"/>
              </a:rPr>
              <a:t> van de private-</a:t>
            </a:r>
            <a:r>
              <a:rPr lang="en-GB" b="0" i="0" dirty="0" err="1">
                <a:effectLst/>
                <a:latin typeface="coranto-2"/>
              </a:rPr>
              <a:t>equitymarkt</a:t>
            </a:r>
            <a:endParaRPr lang="en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04EE8E-FEDB-BF43-CBFF-22B3A6F080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961" y="3338663"/>
            <a:ext cx="9646078" cy="1046291"/>
          </a:xfrm>
          <a:prstGeom prst="rect">
            <a:avLst/>
          </a:prstGeom>
          <a:effectLst>
            <a:glow rad="228600">
              <a:schemeClr val="accent6">
                <a:lumMod val="50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313008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AA8DE-198C-502E-7B1E-94FA8EC74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B7EF7-2628-C684-27CE-B983BC14C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Financials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pic>
        <p:nvPicPr>
          <p:cNvPr id="5" name="Content Placeholder 4" descr="A graph showing the growth of a stock market&#10;&#10;AI-generated content may be incorrect.">
            <a:extLst>
              <a:ext uri="{FF2B5EF4-FFF2-40B4-BE49-F238E27FC236}">
                <a16:creationId xmlns:a16="http://schemas.microsoft.com/office/drawing/2014/main" id="{136C3559-B57B-B99C-1666-B00DFC6FB0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3027" y="2009401"/>
            <a:ext cx="5952847" cy="344414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29E580-C072-ED5C-2055-512373492ACF}"/>
              </a:ext>
            </a:extLst>
          </p:cNvPr>
          <p:cNvSpPr txBox="1"/>
          <p:nvPr/>
        </p:nvSpPr>
        <p:spPr>
          <a:xfrm>
            <a:off x="2510725" y="20612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B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5C58CD-3DC0-64BA-E0EA-8E7B7F6AAD78}"/>
              </a:ext>
            </a:extLst>
          </p:cNvPr>
          <p:cNvSpPr txBox="1"/>
          <p:nvPr/>
        </p:nvSpPr>
        <p:spPr>
          <a:xfrm>
            <a:off x="838201" y="1811270"/>
            <a:ext cx="4734826" cy="3840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ranto-2"/>
                <a:ea typeface="+mn-ea"/>
                <a:cs typeface="+mn-cs"/>
              </a:rPr>
              <a:t>Beurskoers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anto-2"/>
                <a:ea typeface="+mn-ea"/>
                <a:cs typeface="+mn-cs"/>
              </a:rPr>
              <a:t>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anto-2"/>
                <a:ea typeface="+mn-ea"/>
                <a:cs typeface="+mn-cs"/>
              </a:rPr>
              <a:t>25% </a:t>
            </a: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ranto-2"/>
                <a:ea typeface="+mn-ea"/>
                <a:cs typeface="+mn-cs"/>
              </a:rPr>
              <a:t>onder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anto-2"/>
                <a:ea typeface="+mn-ea"/>
                <a:cs typeface="+mn-cs"/>
              </a:rPr>
              <a:t> </a:t>
            </a: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ranto-2"/>
                <a:ea typeface="+mn-ea"/>
                <a:cs typeface="+mn-cs"/>
              </a:rPr>
              <a:t>netto-actiefwaarde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anto-2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800" dirty="0">
                <a:latin typeface="coranto-2"/>
              </a:rPr>
              <a:t>Bull-run 2019 – 2022: </a:t>
            </a:r>
            <a:r>
              <a:rPr lang="en-GB" sz="2800" dirty="0" err="1">
                <a:latin typeface="coranto-2"/>
              </a:rPr>
              <a:t>lage</a:t>
            </a:r>
            <a:r>
              <a:rPr lang="en-GB" sz="2800" dirty="0">
                <a:latin typeface="coranto-2"/>
              </a:rPr>
              <a:t> </a:t>
            </a:r>
            <a:r>
              <a:rPr lang="en-GB" sz="2800" dirty="0" err="1">
                <a:latin typeface="coranto-2"/>
              </a:rPr>
              <a:t>rentes</a:t>
            </a:r>
            <a:r>
              <a:rPr lang="en-GB" sz="2800" dirty="0">
                <a:latin typeface="coranto-2"/>
              </a:rPr>
              <a:t>, booming growth-</a:t>
            </a:r>
            <a:r>
              <a:rPr lang="en-GB" sz="2800" dirty="0" err="1">
                <a:latin typeface="coranto-2"/>
              </a:rPr>
              <a:t>equiy</a:t>
            </a:r>
            <a:endParaRPr lang="en-GB" sz="2800" dirty="0">
              <a:latin typeface="coranto-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anto-2"/>
                <a:ea typeface="+mn-ea"/>
                <a:cs typeface="+mn-cs"/>
              </a:rPr>
              <a:t>Crash 2022 (-60%): </a:t>
            </a:r>
            <a:r>
              <a:rPr kumimoji="0" lang="en-GB" sz="2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ranto-2"/>
                <a:ea typeface="+mn-ea"/>
                <a:cs typeface="+mn-cs"/>
              </a:rPr>
              <a:t>rentebeleid</a:t>
            </a:r>
            <a:r>
              <a:rPr lang="en-GB" sz="2800" dirty="0">
                <a:latin typeface="coranto-2"/>
              </a:rPr>
              <a:t>, </a:t>
            </a:r>
            <a:r>
              <a:rPr lang="en-GB" sz="2800" dirty="0" err="1">
                <a:latin typeface="coranto-2"/>
              </a:rPr>
              <a:t>afwaardering</a:t>
            </a:r>
            <a:r>
              <a:rPr lang="en-GB" sz="2800" dirty="0">
                <a:latin typeface="coranto-2"/>
              </a:rPr>
              <a:t> VC, minder </a:t>
            </a:r>
            <a:r>
              <a:rPr lang="en-GB" sz="2800" dirty="0" err="1">
                <a:latin typeface="coranto-2"/>
              </a:rPr>
              <a:t>liquiditeit</a:t>
            </a:r>
            <a:r>
              <a:rPr lang="en-GB" sz="2800" dirty="0">
                <a:latin typeface="coranto-2"/>
              </a:rPr>
              <a:t> in PE, </a:t>
            </a:r>
            <a:r>
              <a:rPr lang="en-GB" sz="2800" dirty="0" err="1">
                <a:latin typeface="coranto-2"/>
              </a:rPr>
              <a:t>pessimisme</a:t>
            </a:r>
            <a:r>
              <a:rPr lang="en-GB" sz="2800" dirty="0">
                <a:latin typeface="coranto-2"/>
              </a:rPr>
              <a:t> </a:t>
            </a:r>
            <a:r>
              <a:rPr lang="en-GB" sz="2800" dirty="0" err="1">
                <a:latin typeface="coranto-2"/>
              </a:rPr>
              <a:t>onder</a:t>
            </a:r>
            <a:r>
              <a:rPr lang="en-GB" sz="2800" dirty="0">
                <a:latin typeface="coranto-2"/>
              </a:rPr>
              <a:t> </a:t>
            </a:r>
            <a:r>
              <a:rPr lang="en-GB" sz="2800" dirty="0" err="1">
                <a:latin typeface="coranto-2"/>
              </a:rPr>
              <a:t>beleggers</a:t>
            </a:r>
            <a:endParaRPr kumimoji="0" lang="en-BE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2181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Financials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93484" cy="4351338"/>
          </a:xfrm>
        </p:spPr>
        <p:txBody>
          <a:bodyPr/>
          <a:lstStyle/>
          <a:p>
            <a:r>
              <a:rPr lang="en-GB" dirty="0" err="1">
                <a:latin typeface="-apple-system"/>
              </a:rPr>
              <a:t>I</a:t>
            </a:r>
            <a:r>
              <a:rPr lang="en-GB" b="0" i="0" dirty="0" err="1">
                <a:effectLst/>
                <a:latin typeface="-apple-system"/>
              </a:rPr>
              <a:t>ntrinsieke</a:t>
            </a:r>
            <a:r>
              <a:rPr lang="en-GB" b="0" i="0" dirty="0">
                <a:effectLst/>
                <a:latin typeface="-apple-system"/>
              </a:rPr>
              <a:t> </a:t>
            </a:r>
            <a:r>
              <a:rPr lang="en-GB" b="0" i="0" dirty="0" err="1">
                <a:effectLst/>
                <a:latin typeface="-apple-system"/>
              </a:rPr>
              <a:t>waarde</a:t>
            </a:r>
            <a:r>
              <a:rPr lang="en-GB" b="0" i="0" dirty="0">
                <a:effectLst/>
                <a:latin typeface="-apple-system"/>
              </a:rPr>
              <a:t> in 2024 met 12% </a:t>
            </a:r>
            <a:r>
              <a:rPr lang="en-GB" b="0" i="0" dirty="0" err="1">
                <a:effectLst/>
                <a:latin typeface="-apple-system"/>
              </a:rPr>
              <a:t>steeg</a:t>
            </a:r>
            <a:r>
              <a:rPr lang="en-GB" b="0" i="0" dirty="0">
                <a:effectLst/>
                <a:latin typeface="-apple-system"/>
              </a:rPr>
              <a:t> tot 10,1 </a:t>
            </a:r>
            <a:r>
              <a:rPr lang="en-GB" b="0" i="0" dirty="0" err="1">
                <a:effectLst/>
                <a:latin typeface="-apple-system"/>
              </a:rPr>
              <a:t>miljard</a:t>
            </a:r>
            <a:r>
              <a:rPr lang="en-GB" b="0" i="0" dirty="0">
                <a:effectLst/>
                <a:latin typeface="-apple-system"/>
              </a:rPr>
              <a:t> euro (307 euro per </a:t>
            </a:r>
            <a:r>
              <a:rPr lang="en-GB" b="0" i="0" dirty="0" err="1">
                <a:effectLst/>
                <a:latin typeface="-apple-system"/>
              </a:rPr>
              <a:t>aandeel</a:t>
            </a:r>
            <a:r>
              <a:rPr lang="en-GB" dirty="0">
                <a:latin typeface="-apple-system"/>
              </a:rPr>
              <a:t>)</a:t>
            </a:r>
            <a:endParaRPr lang="en-GB" b="0" i="0" dirty="0">
              <a:effectLst/>
              <a:latin typeface="-apple-system"/>
            </a:endParaRPr>
          </a:p>
          <a:p>
            <a:r>
              <a:rPr lang="en-GB" dirty="0" err="1">
                <a:latin typeface="-apple-system"/>
              </a:rPr>
              <a:t>Groei</a:t>
            </a:r>
            <a:r>
              <a:rPr lang="en-GB" dirty="0">
                <a:latin typeface="-apple-system"/>
              </a:rPr>
              <a:t> </a:t>
            </a:r>
            <a:r>
              <a:rPr lang="en-GB" dirty="0" err="1">
                <a:latin typeface="-apple-system"/>
              </a:rPr>
              <a:t>aa</a:t>
            </a:r>
            <a:r>
              <a:rPr lang="en-GB" b="0" i="0" dirty="0" err="1">
                <a:effectLst/>
                <a:latin typeface="-apple-system"/>
              </a:rPr>
              <a:t>ngedreven</a:t>
            </a:r>
            <a:r>
              <a:rPr lang="en-GB" b="0" i="0" dirty="0">
                <a:effectLst/>
                <a:latin typeface="-apple-system"/>
              </a:rPr>
              <a:t> door </a:t>
            </a:r>
            <a:r>
              <a:rPr lang="en-GB" b="1" i="0" dirty="0" err="1">
                <a:effectLst/>
                <a:latin typeface="-apple-system"/>
              </a:rPr>
              <a:t>Sofina</a:t>
            </a:r>
            <a:r>
              <a:rPr lang="en-GB" b="1" i="0" dirty="0">
                <a:effectLst/>
                <a:latin typeface="-apple-system"/>
              </a:rPr>
              <a:t> Growth (+15,8%)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80F8E58-84CD-617A-C0CD-22C2398A4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7770" y="1537974"/>
            <a:ext cx="4198653" cy="4155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2403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>
                <a:solidFill>
                  <a:srgbClr val="244337"/>
                </a:solidFill>
                <a:latin typeface="Lato Black" panose="020F0A02020204030203" pitchFamily="34" charset="0"/>
              </a:rPr>
              <a:t>Peers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Groupe </a:t>
            </a:r>
            <a:r>
              <a:rPr lang="en-GB" b="1" dirty="0" err="1"/>
              <a:t>Bruxelles</a:t>
            </a:r>
            <a:r>
              <a:rPr lang="en-GB" b="1" dirty="0"/>
              <a:t> Lambert (GBL)</a:t>
            </a:r>
            <a:r>
              <a:rPr lang="en-GB" dirty="0"/>
              <a:t> </a:t>
            </a:r>
          </a:p>
          <a:p>
            <a:r>
              <a:rPr lang="en-GB" b="1" dirty="0" err="1"/>
              <a:t>Ackermans</a:t>
            </a:r>
            <a:r>
              <a:rPr lang="en-GB" b="1" dirty="0"/>
              <a:t> &amp; van Haaren (</a:t>
            </a:r>
            <a:r>
              <a:rPr lang="en-GB" b="1" dirty="0" err="1"/>
              <a:t>AvH</a:t>
            </a:r>
            <a:r>
              <a:rPr lang="en-GB" b="1" dirty="0"/>
              <a:t>)</a:t>
            </a:r>
            <a:r>
              <a:rPr lang="en-GB" dirty="0"/>
              <a:t> </a:t>
            </a:r>
          </a:p>
          <a:p>
            <a:r>
              <a:rPr lang="en-GB" b="1" dirty="0"/>
              <a:t>Exor</a:t>
            </a:r>
            <a:endParaRPr lang="en-BE" dirty="0"/>
          </a:p>
        </p:txBody>
      </p:sp>
      <p:pic>
        <p:nvPicPr>
          <p:cNvPr id="6" name="Picture 5" descr="A screen shot of a graph&#10;&#10;AI-generated content may be incorrect.">
            <a:extLst>
              <a:ext uri="{FF2B5EF4-FFF2-40B4-BE49-F238E27FC236}">
                <a16:creationId xmlns:a16="http://schemas.microsoft.com/office/drawing/2014/main" id="{D738566D-6470-46D6-CBF4-C240B1D31F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2" r="3505"/>
          <a:stretch/>
        </p:blipFill>
        <p:spPr>
          <a:xfrm>
            <a:off x="6574055" y="1825625"/>
            <a:ext cx="4779745" cy="359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473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B2EFD-5A68-B493-FDB8-A2450FE2C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F3721-7CDF-E7A4-3A8B-20D9F0C58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Peers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9F359B3-855C-8DAD-81B3-3CC4A885A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742" y="1755991"/>
            <a:ext cx="8212204" cy="429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4876A8C-ECE0-E765-52FA-93AA7B951DB6}"/>
                  </a:ext>
                </a:extLst>
              </p14:cNvPr>
              <p14:cNvContentPartPr/>
              <p14:nvPr/>
            </p14:nvContentPartPr>
            <p14:xfrm>
              <a:off x="1846427" y="4265098"/>
              <a:ext cx="315720" cy="25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4876A8C-ECE0-E765-52FA-93AA7B951DB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92787" y="4157458"/>
                <a:ext cx="42336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F515258-7269-14B8-461E-137964EC33E5}"/>
                  </a:ext>
                </a:extLst>
              </p14:cNvPr>
              <p14:cNvContentPartPr/>
              <p14:nvPr/>
            </p14:nvContentPartPr>
            <p14:xfrm>
              <a:off x="5078546" y="4266898"/>
              <a:ext cx="292680" cy="241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F515258-7269-14B8-461E-137964EC33E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24546" y="4159258"/>
                <a:ext cx="40032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6ADE6F5-040F-CF9C-5C3F-81BA8052781A}"/>
                  </a:ext>
                </a:extLst>
              </p14:cNvPr>
              <p14:cNvContentPartPr/>
              <p14:nvPr/>
            </p14:nvContentPartPr>
            <p14:xfrm>
              <a:off x="6620267" y="4278958"/>
              <a:ext cx="332280" cy="45719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6ADE6F5-040F-CF9C-5C3F-81BA8052781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66627" y="4168348"/>
                <a:ext cx="439920" cy="26657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3832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1AF80-2B81-EF22-D8C6-7E0168623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0B6F9-7CE8-4F33-37EA-BBF510CC0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>
                <a:solidFill>
                  <a:srgbClr val="244337"/>
                </a:solidFill>
                <a:latin typeface="-apple-system"/>
              </a:rPr>
              <a:t>Analisten-visie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C51A1-1427-1144-7D68-9A04ECBE2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120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 err="1">
                <a:latin typeface="-apple-system"/>
              </a:rPr>
              <a:t>Kans</a:t>
            </a:r>
            <a:r>
              <a:rPr lang="en-GB" dirty="0">
                <a:latin typeface="-apple-system"/>
              </a:rPr>
              <a:t> </a:t>
            </a:r>
            <a:r>
              <a:rPr lang="en-GB" dirty="0" err="1">
                <a:latin typeface="-apple-system"/>
              </a:rPr>
              <a:t>groot</a:t>
            </a:r>
            <a:r>
              <a:rPr lang="en-GB" dirty="0">
                <a:latin typeface="-apple-system"/>
              </a:rPr>
              <a:t> </a:t>
            </a:r>
            <a:r>
              <a:rPr lang="en-GB" b="0" i="0" dirty="0" err="1">
                <a:effectLst/>
                <a:latin typeface="-apple-system"/>
              </a:rPr>
              <a:t>dat</a:t>
            </a:r>
            <a:r>
              <a:rPr lang="en-GB" b="0" i="0" dirty="0">
                <a:effectLst/>
                <a:latin typeface="-apple-system"/>
              </a:rPr>
              <a:t> </a:t>
            </a:r>
            <a:r>
              <a:rPr lang="en-GB" b="0" i="0" dirty="0" err="1">
                <a:effectLst/>
                <a:latin typeface="-apple-system"/>
              </a:rPr>
              <a:t>Sofina</a:t>
            </a:r>
            <a:r>
              <a:rPr lang="en-GB" b="0" i="0" dirty="0">
                <a:effectLst/>
                <a:latin typeface="-apple-system"/>
              </a:rPr>
              <a:t> </a:t>
            </a:r>
            <a:r>
              <a:rPr lang="en-GB" b="0" i="0" dirty="0" err="1">
                <a:effectLst/>
                <a:latin typeface="-apple-system"/>
              </a:rPr>
              <a:t>verder</a:t>
            </a:r>
            <a:r>
              <a:rPr lang="en-GB" b="0" i="0" dirty="0">
                <a:effectLst/>
                <a:latin typeface="-apple-system"/>
              </a:rPr>
              <a:t> </a:t>
            </a:r>
            <a:r>
              <a:rPr lang="en-GB" b="0" i="0" dirty="0" err="1">
                <a:effectLst/>
                <a:latin typeface="-apple-system"/>
              </a:rPr>
              <a:t>blijft</a:t>
            </a:r>
            <a:r>
              <a:rPr lang="en-GB" b="0" i="0" dirty="0">
                <a:effectLst/>
                <a:latin typeface="-apple-system"/>
              </a:rPr>
              <a:t> </a:t>
            </a:r>
            <a:r>
              <a:rPr lang="en-GB" b="0" i="0" dirty="0" err="1">
                <a:effectLst/>
                <a:latin typeface="-apple-system"/>
              </a:rPr>
              <a:t>groeien</a:t>
            </a:r>
            <a:r>
              <a:rPr lang="en-GB" b="0" i="0" dirty="0">
                <a:effectLst/>
                <a:latin typeface="-apple-system"/>
              </a:rPr>
              <a:t>. Die trend </a:t>
            </a:r>
            <a:r>
              <a:rPr lang="en-GB" b="0" i="0" dirty="0" err="1">
                <a:effectLst/>
                <a:latin typeface="-apple-system"/>
              </a:rPr>
              <a:t>moet</a:t>
            </a:r>
            <a:r>
              <a:rPr lang="en-GB" b="0" i="0" dirty="0">
                <a:effectLst/>
                <a:latin typeface="-apple-system"/>
              </a:rPr>
              <a:t> de </a:t>
            </a:r>
            <a:r>
              <a:rPr lang="en-GB" b="0" i="0" dirty="0" err="1">
                <a:effectLst/>
                <a:latin typeface="-apple-system"/>
              </a:rPr>
              <a:t>komende</a:t>
            </a:r>
            <a:r>
              <a:rPr lang="en-GB" b="0" i="0" dirty="0">
                <a:effectLst/>
                <a:latin typeface="-apple-system"/>
              </a:rPr>
              <a:t> </a:t>
            </a:r>
            <a:r>
              <a:rPr lang="en-GB" b="0" i="0" dirty="0" err="1">
                <a:effectLst/>
                <a:latin typeface="-apple-system"/>
              </a:rPr>
              <a:t>periode</a:t>
            </a:r>
            <a:r>
              <a:rPr lang="en-GB" b="0" i="0" dirty="0">
                <a:effectLst/>
                <a:latin typeface="-apple-system"/>
              </a:rPr>
              <a:t> </a:t>
            </a:r>
            <a:r>
              <a:rPr lang="en-GB" b="0" i="0" dirty="0" err="1">
                <a:effectLst/>
                <a:latin typeface="-apple-system"/>
              </a:rPr>
              <a:t>nog</a:t>
            </a:r>
            <a:r>
              <a:rPr lang="en-GB" b="0" i="0" dirty="0">
                <a:effectLst/>
                <a:latin typeface="-apple-system"/>
              </a:rPr>
              <a:t> </a:t>
            </a:r>
            <a:r>
              <a:rPr lang="en-GB" b="0" i="0" dirty="0" err="1">
                <a:effectLst/>
                <a:latin typeface="-apple-system"/>
              </a:rPr>
              <a:t>meer</a:t>
            </a:r>
            <a:r>
              <a:rPr lang="en-GB" b="0" i="0" dirty="0">
                <a:effectLst/>
                <a:latin typeface="-apple-system"/>
              </a:rPr>
              <a:t> </a:t>
            </a:r>
            <a:r>
              <a:rPr lang="en-GB" b="0" i="0" dirty="0" err="1">
                <a:effectLst/>
                <a:latin typeface="-apple-system"/>
              </a:rPr>
              <a:t>waarde</a:t>
            </a:r>
            <a:r>
              <a:rPr lang="en-GB" b="0" i="0" dirty="0">
                <a:effectLst/>
                <a:latin typeface="-apple-system"/>
              </a:rPr>
              <a:t> </a:t>
            </a:r>
            <a:r>
              <a:rPr lang="en-GB" b="0" i="0" dirty="0" err="1">
                <a:effectLst/>
                <a:latin typeface="-apple-system"/>
              </a:rPr>
              <a:t>doen</a:t>
            </a:r>
            <a:r>
              <a:rPr lang="en-GB" b="0" i="0" dirty="0">
                <a:effectLst/>
                <a:latin typeface="-apple-system"/>
              </a:rPr>
              <a:t> </a:t>
            </a:r>
            <a:r>
              <a:rPr lang="en-GB" b="0" i="0" dirty="0" err="1">
                <a:effectLst/>
                <a:latin typeface="-apple-system"/>
              </a:rPr>
              <a:t>kristalliseren</a:t>
            </a:r>
            <a:r>
              <a:rPr lang="en-GB" b="0" i="0" dirty="0">
                <a:effectLst/>
                <a:latin typeface="-apple-system"/>
              </a:rPr>
              <a:t>, </a:t>
            </a:r>
            <a:r>
              <a:rPr lang="en-GB" b="0" i="0" dirty="0" err="1">
                <a:effectLst/>
                <a:latin typeface="-apple-system"/>
              </a:rPr>
              <a:t>terwijl</a:t>
            </a:r>
            <a:r>
              <a:rPr lang="en-GB" b="0" i="0" dirty="0">
                <a:effectLst/>
                <a:latin typeface="-apple-system"/>
              </a:rPr>
              <a:t> het management </a:t>
            </a:r>
            <a:r>
              <a:rPr lang="en-GB" b="0" i="0" dirty="0" err="1">
                <a:effectLst/>
                <a:latin typeface="-apple-system"/>
              </a:rPr>
              <a:t>zal</a:t>
            </a:r>
            <a:r>
              <a:rPr lang="en-GB" b="0" i="0" dirty="0">
                <a:effectLst/>
                <a:latin typeface="-apple-system"/>
              </a:rPr>
              <a:t> </a:t>
            </a:r>
            <a:r>
              <a:rPr lang="en-GB" b="0" i="0" dirty="0" err="1">
                <a:effectLst/>
                <a:latin typeface="-apple-system"/>
              </a:rPr>
              <a:t>blijven</a:t>
            </a:r>
            <a:r>
              <a:rPr lang="en-GB" b="0" i="0" dirty="0">
                <a:effectLst/>
                <a:latin typeface="-apple-system"/>
              </a:rPr>
              <a:t> </a:t>
            </a:r>
            <a:r>
              <a:rPr lang="en-GB" b="0" i="0" dirty="0" err="1">
                <a:effectLst/>
                <a:latin typeface="-apple-system"/>
              </a:rPr>
              <a:t>investeren</a:t>
            </a:r>
            <a:r>
              <a:rPr lang="en-GB" b="0" i="0" dirty="0">
                <a:effectLst/>
                <a:latin typeface="-apple-system"/>
              </a:rPr>
              <a:t> in </a:t>
            </a:r>
            <a:r>
              <a:rPr lang="en-GB" b="0" i="0" dirty="0" err="1">
                <a:effectLst/>
                <a:latin typeface="-apple-system"/>
              </a:rPr>
              <a:t>potentiële</a:t>
            </a:r>
            <a:r>
              <a:rPr lang="en-GB" b="0" i="0" dirty="0">
                <a:effectLst/>
                <a:latin typeface="-apple-system"/>
              </a:rPr>
              <a:t> </a:t>
            </a:r>
            <a:r>
              <a:rPr lang="en-GB" b="0" i="0" dirty="0" err="1">
                <a:effectLst/>
                <a:latin typeface="-apple-system"/>
              </a:rPr>
              <a:t>toekomstige</a:t>
            </a:r>
            <a:r>
              <a:rPr lang="en-GB" b="0" i="0" dirty="0">
                <a:effectLst/>
                <a:latin typeface="-apple-system"/>
              </a:rPr>
              <a:t> ‘unicorns’ met </a:t>
            </a:r>
            <a:r>
              <a:rPr lang="en-GB" b="0" i="0" dirty="0" err="1">
                <a:effectLst/>
                <a:latin typeface="-apple-system"/>
              </a:rPr>
              <a:t>een</a:t>
            </a:r>
            <a:r>
              <a:rPr lang="en-GB" b="0" i="0" dirty="0">
                <a:effectLst/>
                <a:latin typeface="-apple-system"/>
              </a:rPr>
              <a:t> </a:t>
            </a:r>
            <a:r>
              <a:rPr lang="en-GB" b="0" i="0" dirty="0" err="1">
                <a:effectLst/>
                <a:latin typeface="-apple-system"/>
              </a:rPr>
              <a:t>hoog</a:t>
            </a:r>
            <a:r>
              <a:rPr lang="en-GB" b="0" i="0" dirty="0">
                <a:effectLst/>
                <a:latin typeface="-apple-system"/>
              </a:rPr>
              <a:t> </a:t>
            </a:r>
            <a:r>
              <a:rPr lang="en-GB" b="0" i="0" dirty="0" err="1">
                <a:effectLst/>
                <a:latin typeface="-apple-system"/>
              </a:rPr>
              <a:t>groeipotentieel</a:t>
            </a:r>
            <a:r>
              <a:rPr lang="en-GB" b="0" i="0" dirty="0">
                <a:effectLst/>
                <a:latin typeface="-apple-system"/>
              </a:rPr>
              <a:t>.</a:t>
            </a:r>
          </a:p>
          <a:p>
            <a:r>
              <a:rPr lang="en-GB" b="0" i="0" dirty="0">
                <a:effectLst/>
                <a:latin typeface="-apple-system"/>
              </a:rPr>
              <a:t>De AI-boom die de Nasdaq 100 de </a:t>
            </a:r>
            <a:r>
              <a:rPr lang="en-GB" b="0" i="0" dirty="0" err="1">
                <a:effectLst/>
                <a:latin typeface="-apple-system"/>
              </a:rPr>
              <a:t>hoogte</a:t>
            </a:r>
            <a:r>
              <a:rPr lang="en-GB" b="0" i="0" dirty="0">
                <a:effectLst/>
                <a:latin typeface="-apple-system"/>
              </a:rPr>
              <a:t> </a:t>
            </a:r>
            <a:r>
              <a:rPr lang="en-GB" b="0" i="0" dirty="0" err="1">
                <a:effectLst/>
                <a:latin typeface="-apple-system"/>
              </a:rPr>
              <a:t>injoeg</a:t>
            </a:r>
            <a:r>
              <a:rPr lang="en-GB" b="0" i="0" dirty="0">
                <a:effectLst/>
                <a:latin typeface="-apple-system"/>
              </a:rPr>
              <a:t>, had (</a:t>
            </a:r>
            <a:r>
              <a:rPr lang="en-GB" b="0" i="0" dirty="0" err="1">
                <a:effectLst/>
                <a:latin typeface="-apple-system"/>
              </a:rPr>
              <a:t>vooralsnog</a:t>
            </a:r>
            <a:r>
              <a:rPr lang="en-GB" b="0" i="0" dirty="0">
                <a:effectLst/>
                <a:latin typeface="-apple-system"/>
              </a:rPr>
              <a:t>?) </a:t>
            </a:r>
            <a:r>
              <a:rPr lang="en-GB" b="0" i="0" dirty="0" err="1">
                <a:effectLst/>
                <a:latin typeface="-apple-system"/>
              </a:rPr>
              <a:t>geen</a:t>
            </a:r>
            <a:r>
              <a:rPr lang="en-GB" b="0" i="0" dirty="0">
                <a:effectLst/>
                <a:latin typeface="-apple-system"/>
              </a:rPr>
              <a:t> impact op de holding</a:t>
            </a:r>
          </a:p>
          <a:p>
            <a:r>
              <a:rPr lang="en-GB" i="1" dirty="0">
                <a:effectLst/>
                <a:latin typeface="-apple-system"/>
              </a:rPr>
              <a:t>“</a:t>
            </a:r>
            <a:r>
              <a:rPr lang="en-GB" i="1" dirty="0" err="1">
                <a:effectLst/>
                <a:latin typeface="-apple-system"/>
              </a:rPr>
              <a:t>onterecht</a:t>
            </a:r>
            <a:r>
              <a:rPr lang="en-GB" i="1" dirty="0">
                <a:effectLst/>
                <a:latin typeface="-apple-system"/>
              </a:rPr>
              <a:t> </a:t>
            </a:r>
            <a:r>
              <a:rPr lang="en-GB" i="1" dirty="0" err="1">
                <a:effectLst/>
                <a:latin typeface="-apple-system"/>
              </a:rPr>
              <a:t>ondergewaardeerd</a:t>
            </a:r>
            <a:r>
              <a:rPr lang="en-GB" i="1" dirty="0">
                <a:effectLst/>
                <a:latin typeface="-apple-system"/>
              </a:rPr>
              <a:t>”, </a:t>
            </a:r>
            <a:r>
              <a:rPr lang="en-GB" b="0" i="0" dirty="0">
                <a:effectLst/>
                <a:latin typeface="-apple-system"/>
              </a:rPr>
              <a:t>er is </a:t>
            </a:r>
            <a:r>
              <a:rPr lang="en-GB" b="0" i="0" dirty="0" err="1">
                <a:effectLst/>
                <a:latin typeface="-apple-system"/>
              </a:rPr>
              <a:t>veel</a:t>
            </a:r>
            <a:r>
              <a:rPr lang="en-GB" b="0" i="0" dirty="0">
                <a:effectLst/>
                <a:latin typeface="-apple-system"/>
              </a:rPr>
              <a:t> </a:t>
            </a:r>
            <a:r>
              <a:rPr lang="en-GB" b="0" i="0" dirty="0" err="1">
                <a:effectLst/>
                <a:latin typeface="-apple-system"/>
              </a:rPr>
              <a:t>pessimisme</a:t>
            </a:r>
            <a:r>
              <a:rPr lang="en-GB" b="0" i="0" dirty="0">
                <a:effectLst/>
                <a:latin typeface="-apple-system"/>
              </a:rPr>
              <a:t> van </a:t>
            </a:r>
            <a:r>
              <a:rPr lang="en-GB" b="0" i="0" dirty="0" err="1">
                <a:effectLst/>
                <a:latin typeface="-apple-system"/>
              </a:rPr>
              <a:t>beleggers</a:t>
            </a:r>
            <a:r>
              <a:rPr lang="en-GB" b="0" i="0" dirty="0">
                <a:effectLst/>
                <a:latin typeface="-apple-system"/>
              </a:rPr>
              <a:t> </a:t>
            </a:r>
            <a:r>
              <a:rPr lang="en-GB" b="0" i="0" dirty="0" err="1">
                <a:effectLst/>
                <a:latin typeface="-apple-system"/>
              </a:rPr>
              <a:t>ingeprijsd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480319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SWOT-analyse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BE" b="1" dirty="0"/>
              <a:t>Weaknesses</a:t>
            </a:r>
          </a:p>
          <a:p>
            <a:r>
              <a:rPr lang="en-BE" dirty="0"/>
              <a:t>Afhankelijk van PE en VC markt, schommelingen in waardering, beperkte liquiditeit</a:t>
            </a:r>
          </a:p>
          <a:p>
            <a:r>
              <a:rPr lang="en-BE" dirty="0"/>
              <a:t>Geringe transparantie op sommige vlakken</a:t>
            </a:r>
          </a:p>
          <a:p>
            <a:pPr marL="0" indent="0">
              <a:buNone/>
            </a:pPr>
            <a:r>
              <a:rPr lang="en-BE" b="1" dirty="0"/>
              <a:t>Threats</a:t>
            </a:r>
          </a:p>
          <a:p>
            <a:r>
              <a:rPr lang="en-GB" dirty="0" err="1"/>
              <a:t>Byju’s</a:t>
            </a:r>
            <a:r>
              <a:rPr lang="en-GB" dirty="0"/>
              <a:t>-crisis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Financiële</a:t>
            </a:r>
            <a:r>
              <a:rPr lang="en-GB" dirty="0"/>
              <a:t> </a:t>
            </a:r>
            <a:r>
              <a:rPr lang="en-GB" dirty="0" err="1"/>
              <a:t>problemen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wanbeheer</a:t>
            </a:r>
            <a:r>
              <a:rPr lang="en-GB" dirty="0"/>
              <a:t> </a:t>
            </a:r>
            <a:r>
              <a:rPr lang="en-GB" dirty="0" err="1"/>
              <a:t>bij</a:t>
            </a:r>
            <a:r>
              <a:rPr lang="en-GB" dirty="0"/>
              <a:t> </a:t>
            </a:r>
            <a:r>
              <a:rPr lang="en-GB" dirty="0" err="1"/>
              <a:t>Byju’s</a:t>
            </a:r>
            <a:r>
              <a:rPr lang="en-GB" dirty="0"/>
              <a:t> </a:t>
            </a:r>
            <a:r>
              <a:rPr lang="en-GB" dirty="0" err="1"/>
              <a:t>leiden</a:t>
            </a:r>
            <a:r>
              <a:rPr lang="en-GB" dirty="0"/>
              <a:t> tot </a:t>
            </a:r>
            <a:r>
              <a:rPr lang="en-GB" dirty="0" err="1"/>
              <a:t>mogelijke</a:t>
            </a:r>
            <a:r>
              <a:rPr lang="en-GB" dirty="0"/>
              <a:t> </a:t>
            </a:r>
            <a:r>
              <a:rPr lang="en-GB" dirty="0" err="1"/>
              <a:t>afwaarderingen</a:t>
            </a:r>
            <a:r>
              <a:rPr lang="en-GB" dirty="0"/>
              <a:t>.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4046288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Voorstel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pic>
        <p:nvPicPr>
          <p:cNvPr id="5" name="Content Placeholder 4" descr="A green line graph with numbers and a line&#10;&#10;AI-generated content may be incorrect.">
            <a:extLst>
              <a:ext uri="{FF2B5EF4-FFF2-40B4-BE49-F238E27FC236}">
                <a16:creationId xmlns:a16="http://schemas.microsoft.com/office/drawing/2014/main" id="{FB25BB65-5C9C-CAF3-1607-1B1CAE1AF0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201" y="2596626"/>
            <a:ext cx="6662913" cy="3080594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C0787F0-2BF2-E6A5-EA76-DDF1CAB221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BE" b="1" dirty="0"/>
                  <a:t>6 aandelen market order </a:t>
                </a:r>
                <a:r>
                  <a:rPr lang="en-BE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BE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nl-BE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€</m:t>
                    </m:r>
                    <m:r>
                      <a:rPr lang="nl-BE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nl-BE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nl-BE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𝟑𝟖𝟎</m:t>
                    </m:r>
                    <m:r>
                      <a:rPr lang="nl-BE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BE" b="1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C0787F0-2BF2-E6A5-EA76-DDF1CAB22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  <a:blipFill>
                <a:blip r:embed="rId3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373925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367</Words>
  <Application>Microsoft Office PowerPoint</Application>
  <PresentationFormat>Breedbeeld</PresentationFormat>
  <Paragraphs>52</Paragraphs>
  <Slides>16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9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16</vt:i4>
      </vt:variant>
    </vt:vector>
  </HeadingPairs>
  <TitlesOfParts>
    <vt:vector size="26" baseType="lpstr">
      <vt:lpstr>-apple-system</vt:lpstr>
      <vt:lpstr>Aptos</vt:lpstr>
      <vt:lpstr>Aptos Display</vt:lpstr>
      <vt:lpstr>Arial</vt:lpstr>
      <vt:lpstr>Cambria Math</vt:lpstr>
      <vt:lpstr>coranto-2</vt:lpstr>
      <vt:lpstr>jaf-bernina-sans</vt:lpstr>
      <vt:lpstr>Lato</vt:lpstr>
      <vt:lpstr>Lato Black</vt:lpstr>
      <vt:lpstr>Kantoorthema</vt:lpstr>
      <vt:lpstr>PowerPoint-presentatie</vt:lpstr>
      <vt:lpstr>SOfina</vt:lpstr>
      <vt:lpstr>Inleiding</vt:lpstr>
      <vt:lpstr>Geschiedenis</vt:lpstr>
      <vt:lpstr>Management</vt:lpstr>
      <vt:lpstr>Bedrijfsactiviteiten</vt:lpstr>
      <vt:lpstr>Bedrijfsactiviteiten</vt:lpstr>
      <vt:lpstr>Bedrijfsactiviteiten</vt:lpstr>
      <vt:lpstr>Bedrijfsactiviteiten</vt:lpstr>
      <vt:lpstr>Financials</vt:lpstr>
      <vt:lpstr>Financials</vt:lpstr>
      <vt:lpstr>Peers</vt:lpstr>
      <vt:lpstr>Peers</vt:lpstr>
      <vt:lpstr>Analisten-visie</vt:lpstr>
      <vt:lpstr>SWOT-analyse</vt:lpstr>
      <vt:lpstr>Voorstel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Ruben Tack</dc:creator>
  <cp:lastModifiedBy>Ruben Tack</cp:lastModifiedBy>
  <cp:revision>1</cp:revision>
  <dcterms:created xsi:type="dcterms:W3CDTF">2025-05-08T18:28:10Z</dcterms:created>
  <dcterms:modified xsi:type="dcterms:W3CDTF">2025-05-08T18:28:33Z</dcterms:modified>
</cp:coreProperties>
</file>