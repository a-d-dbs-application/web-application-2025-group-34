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74A86-D642-D13C-264D-1E5F0CDD3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C267F0C-6A38-DF06-179F-171C8AB49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DBA270D-12DD-54D8-A47D-0C0EA128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9C0CC6-BD7C-D620-9328-814B4821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BE5431B-9AFA-60FE-F2BE-4B874542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207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A4391-7E04-20DF-3ECB-4B4DE36D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D729D0-AF1F-B927-6E03-94686E8E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7D19230-7599-E83B-1B76-DA4253AB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52E710-5E3F-43DB-3BE5-2E346C6B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0AE560-39E2-F26D-A0EC-483F5933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7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30C2E-38D5-35CB-0246-64999F1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2884425-6814-F57D-2FB0-0D06B973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F58921-A59C-C51D-1D77-87D2AA60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5C1A5B1-0B7F-4B2E-0983-BF509F05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26B49F-F9FA-0DAE-6C4C-89FFA8CA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747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232C83-EF36-8BFE-1BD1-D566DFA2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B8D97D-CE69-34A0-6A26-FE2F0487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1B9E763-B67A-2ACB-1909-0554DD0DF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2640BC-D7C7-5F9A-A80F-7A6D1739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C5CF3EA-D229-25ED-46AC-AF182A2C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44AF244-B0F7-796F-50F7-816E8564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721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201CD-1D09-7332-694A-3A23BF93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0469AF-26C2-256B-5773-15414FE9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BC3738B-2DFF-3B6D-030A-6B142CA5E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04ED12B-DE05-2F65-3F41-54481DCE1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3F6B9F-E4EA-9B1D-A33D-231E963FC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D3DCF3D-C1A5-08A1-17C9-96339631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F29112E-F54D-BDCC-F653-B3D061BF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34288A6-1732-9911-08A1-71B1A852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626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1604F-88D2-2B79-D026-54AC013E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2AA6D2E-6C40-2532-97F8-7DFD13CB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174959-3F86-1142-1D43-0D157612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9D63C9E-B5A9-F470-3C2D-DE535AEA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65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64BA536-6673-061F-F4E9-472E822FB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83AD6A9-2B7F-1AE6-B3F7-16F77228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26FE158-3AED-0C86-2F5D-46154085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562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46C91E-35EC-473A-74C3-E76CB33D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06CA5A-C555-209A-8510-C2EDDE4C8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4BC9A48-ECBD-8561-366D-A605CD6FF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57E69DF-D7B2-EF1A-4428-897555D0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216DCC8-D8FD-3B56-17BE-3CCFFE88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B72A220-07B2-2D2A-3FF8-23C54046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85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13F75-49B2-A900-15AC-779A14A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3E894B2-3F99-05D9-40EC-2F8082645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DEEAE9-3A13-8861-EBA0-5F3E832E7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1940BB9-4809-5561-94D5-0038DC81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09BF3D7-2766-C215-D051-3C80FFDD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D670E3D-198E-D65E-AE87-246082E2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093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74DA3-E0DC-799E-3C1A-E43E473D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A3E1CB6-846A-C78C-063D-844A37389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15E660-3429-D7D3-ADDD-AB7FFF5A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49FECA-2639-C5EF-9C2B-80F3CB7A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A68B0A3-2ABA-7269-3841-0964D32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1323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5CDA96B-F491-851E-1D75-92A881340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5506057-E6A8-8E09-1170-E68C44AF9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B9C3080-D145-D2C5-ED1B-19D5B21D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9CDCBA-0A00-2E3C-2ADB-E5739ECB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22DCEB-065D-3556-1288-B7E2D603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740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EF363ED-760C-E2F7-38DB-51864404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E1C9A1-9F6B-DC12-9469-8B1A6807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A82A8-D78A-4823-7E6B-0607515A7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14F1D-1E79-410B-BEEA-38E7921B5B6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FDD203-CB3E-D5DB-8961-F34F5E6DF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A74C694-C0A9-8270-0A77-B83600088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07BC6-E141-4D3D-8CA9-041EC8E584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988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>
                <a:latin typeface="Calibri"/>
                <a:cs typeface="Calibri"/>
              </a:rPr>
              <a:t>Barco</a:t>
            </a:r>
            <a:r>
              <a:rPr lang="de-DE"/>
              <a:t> </a:t>
            </a:r>
            <a:r>
              <a:rPr lang="de-DE" b="1" err="1">
                <a:latin typeface="Calibri"/>
                <a:cs typeface="Calibri"/>
              </a:rPr>
              <a:t>verkoopvoorstel</a:t>
            </a:r>
            <a:endParaRPr lang="de-DE" b="1">
              <a:latin typeface="Calibri"/>
              <a:cs typeface="Calibri"/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31/10/2024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855F-7E41-A872-AB8A-6BE506A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BCC45B-324B-348D-ACC3-FDB1E13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sz="2400" b="1"/>
              <a:t>Aanbieding</a:t>
            </a:r>
          </a:p>
          <a:p>
            <a:r>
              <a:rPr lang="nl-NL" sz="1600" err="1">
                <a:ea typeface="+mn-lt"/>
                <a:cs typeface="+mn-lt"/>
              </a:rPr>
              <a:t>Barco</a:t>
            </a:r>
            <a:r>
              <a:rPr lang="nl-NL" sz="1600">
                <a:ea typeface="+mn-lt"/>
                <a:cs typeface="+mn-lt"/>
              </a:rPr>
              <a:t> genereert aanzienlijke inkomsten uit de verkoop van zijn producten, waaronder digitale projectoren, LED-displays, medische beeldvormingssystemen en andere audiovisuele oplossingen. Deze verkoopopbrengsten vormen een kerncomponent van de inkomsten van</a:t>
            </a:r>
            <a:endParaRPr lang="nl-NL" sz="1600"/>
          </a:p>
          <a:p>
            <a:r>
              <a:rPr lang="nl-NL" sz="2600" b="1"/>
              <a:t>Healthcare</a:t>
            </a:r>
          </a:p>
          <a:p>
            <a:r>
              <a:rPr lang="nl-NL" sz="1600" b="1" err="1">
                <a:ea typeface="+mn-lt"/>
                <a:cs typeface="+mn-lt"/>
              </a:rPr>
              <a:t>Diagnostic</a:t>
            </a:r>
            <a:r>
              <a:rPr lang="nl-NL" sz="1600" b="1">
                <a:ea typeface="+mn-lt"/>
                <a:cs typeface="+mn-lt"/>
              </a:rPr>
              <a:t> Imaging</a:t>
            </a:r>
            <a:r>
              <a:rPr lang="nl-NL" sz="1600">
                <a:ea typeface="+mn-lt"/>
                <a:cs typeface="+mn-lt"/>
              </a:rPr>
              <a:t> De businessunit </a:t>
            </a:r>
            <a:r>
              <a:rPr lang="nl-NL" sz="1600" err="1">
                <a:ea typeface="+mn-lt"/>
                <a:cs typeface="+mn-lt"/>
              </a:rPr>
              <a:t>Diagnostic</a:t>
            </a:r>
            <a:r>
              <a:rPr lang="nl-NL" sz="1600">
                <a:ea typeface="+mn-lt"/>
                <a:cs typeface="+mn-lt"/>
              </a:rPr>
              <a:t> Imaging biedt een uitgebreid assortiment uiterst nauwkeurige displaysystemen voor disciplines als radiologie, mammografie, tandheelkunde, pathologie, plus een volledig pakket ondersteunende diensten.</a:t>
            </a:r>
            <a:endParaRPr lang="nl-NL" sz="1600"/>
          </a:p>
          <a:p>
            <a:r>
              <a:rPr lang="nl-NL" sz="1600" b="1" err="1"/>
              <a:t>Surgical</a:t>
            </a:r>
            <a:r>
              <a:rPr lang="nl-NL" sz="1600" b="1"/>
              <a:t> &amp; </a:t>
            </a:r>
            <a:r>
              <a:rPr lang="nl-NL" sz="1600" b="1" err="1"/>
              <a:t>Modality</a:t>
            </a:r>
            <a:r>
              <a:rPr lang="nl-NL" sz="1600" b="1"/>
              <a:t> </a:t>
            </a:r>
            <a:r>
              <a:rPr lang="nl-NL" sz="1600" b="1" err="1"/>
              <a:t>Surgical</a:t>
            </a:r>
            <a:r>
              <a:rPr lang="nl-NL" sz="1600" b="1"/>
              <a:t> &amp; </a:t>
            </a:r>
            <a:r>
              <a:rPr lang="nl-NL" sz="1600" b="1" err="1"/>
              <a:t>Modality</a:t>
            </a:r>
            <a:r>
              <a:rPr lang="nl-NL" sz="1600"/>
              <a:t> bundelt twee activiteiten met veel synergiemogelijkheden, aangezien ze dezelfde eindklanten hebben (vaak operatiekamers) en dus dezelfde go-</a:t>
            </a:r>
            <a:r>
              <a:rPr lang="nl-NL" sz="1600" err="1"/>
              <a:t>to</a:t>
            </a:r>
            <a:r>
              <a:rPr lang="nl-NL" sz="1600"/>
              <a:t>-market strategie vereisen. </a:t>
            </a:r>
          </a:p>
          <a:p>
            <a:r>
              <a:rPr lang="nl-NL" sz="2400" b="1"/>
              <a:t>Enterprise</a:t>
            </a:r>
          </a:p>
          <a:p>
            <a:r>
              <a:rPr lang="nl-NL" sz="1600" b="1">
                <a:ea typeface="+mn-lt"/>
                <a:cs typeface="+mn-lt"/>
              </a:rPr>
              <a:t>Meeting </a:t>
            </a:r>
            <a:r>
              <a:rPr lang="nl-NL" sz="1600" b="1" err="1">
                <a:ea typeface="+mn-lt"/>
                <a:cs typeface="+mn-lt"/>
              </a:rPr>
              <a:t>Experience</a:t>
            </a:r>
            <a:r>
              <a:rPr lang="nl-NL" sz="1600">
                <a:ea typeface="+mn-lt"/>
                <a:cs typeface="+mn-lt"/>
              </a:rPr>
              <a:t> De Meeting </a:t>
            </a:r>
            <a:r>
              <a:rPr lang="nl-NL" sz="1600" err="1">
                <a:ea typeface="+mn-lt"/>
                <a:cs typeface="+mn-lt"/>
              </a:rPr>
              <a:t>Experience</a:t>
            </a:r>
            <a:r>
              <a:rPr lang="nl-NL" sz="1600">
                <a:ea typeface="+mn-lt"/>
                <a:cs typeface="+mn-lt"/>
              </a:rPr>
              <a:t> (MX)-businessunit is een van de weinige spelers die een totaalpakket van samenwerkings- en visualisatietechnologieën aanbiedt voor de slimme werkplek of leeromgeving: de draadloze </a:t>
            </a:r>
            <a:r>
              <a:rPr lang="nl-NL" sz="1600" err="1">
                <a:ea typeface="+mn-lt"/>
                <a:cs typeface="+mn-lt"/>
              </a:rPr>
              <a:t>ClickShare</a:t>
            </a:r>
            <a:r>
              <a:rPr lang="nl-NL" sz="1600">
                <a:ea typeface="+mn-lt"/>
                <a:cs typeface="+mn-lt"/>
              </a:rPr>
              <a:t> conferentie- en presentatiesystemen, installatieprojectoren, </a:t>
            </a:r>
            <a:r>
              <a:rPr lang="nl-NL" sz="1600" err="1">
                <a:ea typeface="+mn-lt"/>
                <a:cs typeface="+mn-lt"/>
              </a:rPr>
              <a:t>videowalls</a:t>
            </a:r>
            <a:r>
              <a:rPr lang="nl-NL" sz="1600">
                <a:ea typeface="+mn-lt"/>
                <a:cs typeface="+mn-lt"/>
              </a:rPr>
              <a:t>, </a:t>
            </a:r>
            <a:r>
              <a:rPr lang="nl-NL" sz="1600" err="1">
                <a:ea typeface="+mn-lt"/>
                <a:cs typeface="+mn-lt"/>
              </a:rPr>
              <a:t>weConnect</a:t>
            </a:r>
            <a:r>
              <a:rPr lang="nl-NL" sz="1600">
                <a:ea typeface="+mn-lt"/>
                <a:cs typeface="+mn-lt"/>
              </a:rPr>
              <a:t> Virtual Classroom, beeldprocessoren en bijhorende diensten.</a:t>
            </a:r>
            <a:endParaRPr lang="nl-NL" sz="1600"/>
          </a:p>
          <a:p>
            <a:r>
              <a:rPr lang="nl-NL" sz="2400" b="1"/>
              <a:t>Entertainment</a:t>
            </a:r>
          </a:p>
          <a:p>
            <a:r>
              <a:rPr lang="nl-NL" sz="1800"/>
              <a:t>De Cinema-businessunit biedt het meest complete gamma laserprojectoren en mediaservers in de sector.</a:t>
            </a:r>
            <a:endParaRPr lang="nl-NL"/>
          </a:p>
          <a:p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1844DE-3AB3-FE41-ECFF-F9B1D8D8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</a:t>
            </a:r>
            <a:br>
              <a:rPr lang="en-GB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Baanbrekend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WVL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Techbedrijf</a:t>
            </a:r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131296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25A266-FFDD-3B7F-60FD-ECAF4465E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E2F771-FED2-0EB4-91A4-205E33ACBAA2}"/>
              </a:ext>
            </a:extLst>
          </p:cNvPr>
          <p:cNvSpPr>
            <a:spLocks noGrp="1"/>
          </p:cNvSpPr>
          <p:nvPr/>
        </p:nvSpPr>
        <p:spPr>
          <a:xfrm>
            <a:off x="838200" y="362155"/>
            <a:ext cx="10515600" cy="10018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- </a:t>
            </a:r>
            <a:r>
              <a:rPr lang="en-GB" sz="3600" b="1" err="1">
                <a:solidFill>
                  <a:srgbClr val="074422"/>
                </a:solidFill>
                <a:latin typeface="Calibri" panose="020F0502020204030204"/>
              </a:rPr>
              <a:t>Actua</a:t>
            </a:r>
            <a:b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074422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Tegenvallende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Verkoop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endParaRPr lang="en-GB" sz="3600"/>
          </a:p>
        </p:txBody>
      </p:sp>
      <p:pic>
        <p:nvPicPr>
          <p:cNvPr id="2" name="Afbeelding 1" descr="Afbeelding met kleding, tekst, Menselijk gezicht, schermopname&#10;&#10;Automatisch gegenereerde beschrijving">
            <a:extLst>
              <a:ext uri="{FF2B5EF4-FFF2-40B4-BE49-F238E27FC236}">
                <a16:creationId xmlns:a16="http://schemas.microsoft.com/office/drawing/2014/main" id="{1CFC325E-0177-8092-1D68-54B73ACD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769" y="1546965"/>
            <a:ext cx="4818183" cy="463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5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018082-C31A-B985-37B0-F53B6FB5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>
                <a:solidFill>
                  <a:srgbClr val="074422"/>
                </a:solidFill>
                <a:latin typeface="Calibri" panose="020F0502020204030204"/>
              </a:rPr>
              <a:t>Barco - </a:t>
            </a:r>
            <a:r>
              <a:rPr lang="en-GB" sz="3600" b="1" err="1">
                <a:solidFill>
                  <a:srgbClr val="074422"/>
                </a:solidFill>
                <a:latin typeface="Calibri" panose="020F0502020204030204"/>
              </a:rPr>
              <a:t>Cijfers</a:t>
            </a:r>
            <a:b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074422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Dalende</a:t>
            </a:r>
            <a:r>
              <a:rPr lang="en-GB" sz="2400">
                <a:solidFill>
                  <a:srgbClr val="074422"/>
                </a:solidFill>
                <a:latin typeface="Calibri" panose="020F0502020204030204"/>
              </a:rPr>
              <a:t> </a:t>
            </a:r>
            <a:r>
              <a:rPr lang="en-GB" sz="2400" err="1">
                <a:solidFill>
                  <a:srgbClr val="074422"/>
                </a:solidFill>
                <a:latin typeface="Calibri" panose="020F0502020204030204"/>
              </a:rPr>
              <a:t>cijfers</a:t>
            </a:r>
            <a:endParaRPr lang="en-GB" sz="36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164EEE-3560-CA21-8CBA-EA07B5B42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1595532"/>
            <a:ext cx="10278909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37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5A32D-5234-0AB0-0460-315248D3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Motivatie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DFA7BE-281B-024A-5D6B-674B1C3F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b="1">
                <a:ea typeface="+mn-lt"/>
                <a:cs typeface="+mn-lt"/>
              </a:rPr>
              <a:t>Vorig jaar</a:t>
            </a:r>
          </a:p>
          <a:p>
            <a:r>
              <a:rPr lang="nl-NL" sz="2400">
                <a:ea typeface="+mn-lt"/>
                <a:cs typeface="+mn-lt"/>
              </a:rPr>
              <a:t>Charles Beauduin</a:t>
            </a:r>
            <a:endParaRPr lang="nl-NL"/>
          </a:p>
          <a:p>
            <a:r>
              <a:rPr lang="nl-NL" sz="2400"/>
              <a:t>Nieuwe producten</a:t>
            </a:r>
          </a:p>
          <a:p>
            <a:r>
              <a:rPr lang="nl-NL" sz="2400"/>
              <a:t>Lage koers</a:t>
            </a:r>
          </a:p>
          <a:p>
            <a:endParaRPr lang="nl-NL" sz="2400"/>
          </a:p>
          <a:p>
            <a:r>
              <a:rPr lang="nl-NL" b="1"/>
              <a:t>Dit Jaar</a:t>
            </a:r>
          </a:p>
          <a:p>
            <a:r>
              <a:rPr lang="nl-NL" sz="2400" err="1"/>
              <a:t>Copycats</a:t>
            </a:r>
            <a:r>
              <a:rPr lang="nl-NL" sz="2400"/>
              <a:t> Azië</a:t>
            </a:r>
          </a:p>
          <a:p>
            <a:r>
              <a:rPr lang="nl-NL" sz="2400"/>
              <a:t>De "nieuwe producten" leverden niets op</a:t>
            </a:r>
          </a:p>
          <a:p>
            <a:pPr marL="0" indent="0">
              <a:buNone/>
            </a:pPr>
            <a:endParaRPr lang="nl-NL" sz="2400"/>
          </a:p>
          <a:p>
            <a:pPr marL="0" indent="0">
              <a:buNone/>
            </a:pPr>
            <a:endParaRPr lang="nl-NL" sz="2400"/>
          </a:p>
          <a:p>
            <a:endParaRPr lang="nl-NL" sz="2400"/>
          </a:p>
          <a:p>
            <a:endParaRPr lang="nl-NL" sz="2400"/>
          </a:p>
          <a:p>
            <a:endParaRPr lang="nl-NL" sz="2400"/>
          </a:p>
        </p:txBody>
      </p:sp>
    </p:spTree>
    <p:extLst>
      <p:ext uri="{BB962C8B-B14F-4D97-AF65-F5344CB8AC3E}">
        <p14:creationId xmlns:p14="http://schemas.microsoft.com/office/powerpoint/2010/main" val="337331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8B9C2-2D0F-98F6-B83D-DD15169D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" name="Afbeelding 2" descr="Afbeelding met tekst, schermopname, diagram&#10;&#10;Automatisch gegenereerde beschrijving">
            <a:extLst>
              <a:ext uri="{FF2B5EF4-FFF2-40B4-BE49-F238E27FC236}">
                <a16:creationId xmlns:a16="http://schemas.microsoft.com/office/drawing/2014/main" id="{30716BB4-4774-9390-E5BC-4BF72594D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3" y="1357581"/>
            <a:ext cx="8492971" cy="483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1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BCAFE-1756-A9D6-CE72-9A14BCDA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Verkoopvoorstel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D79B1-60AD-96B7-FC2E-E3618CE5F6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Verkoop aan marktprijs, volledige positie: 100 aandelen</a:t>
            </a:r>
          </a:p>
          <a:p>
            <a:r>
              <a:rPr lang="nl-NL"/>
              <a:t>Aankoop aan 15,5 &amp; 13,5</a:t>
            </a:r>
          </a:p>
          <a:p>
            <a:r>
              <a:rPr lang="nl-NL"/>
              <a:t>70 &amp; 30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7304192-7361-E336-3C0E-80109DCB02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94333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Breedbeeld</PresentationFormat>
  <Paragraphs>30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Kantoorthema</vt:lpstr>
      <vt:lpstr>Barco verkoopvoorstel</vt:lpstr>
      <vt:lpstr>Barco  Baanbrekend WVL Techbedrijf</vt:lpstr>
      <vt:lpstr>PowerPoint-presentatie</vt:lpstr>
      <vt:lpstr>Barco - Cijfers Dalende cijfers</vt:lpstr>
      <vt:lpstr>Motivatie</vt:lpstr>
      <vt:lpstr>PowerPoint-presentatie</vt:lpstr>
      <vt:lpstr>Verkoopvoorstel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2025-05-08T18:11:20Z</dcterms:created>
  <dcterms:modified xsi:type="dcterms:W3CDTF">2025-05-08T18:11:49Z</dcterms:modified>
</cp:coreProperties>
</file>