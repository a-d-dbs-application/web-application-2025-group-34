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1" r:id="rId5"/>
  </p:sldMasterIdLst>
  <p:notesMasterIdLst>
    <p:notesMasterId r:id="rId25"/>
  </p:notesMasterIdLst>
  <p:sldIdLst>
    <p:sldId id="269" r:id="rId6"/>
    <p:sldId id="286" r:id="rId7"/>
    <p:sldId id="290" r:id="rId8"/>
    <p:sldId id="291" r:id="rId9"/>
    <p:sldId id="285" r:id="rId10"/>
    <p:sldId id="284" r:id="rId11"/>
    <p:sldId id="292" r:id="rId12"/>
    <p:sldId id="293" r:id="rId13"/>
    <p:sldId id="301" r:id="rId14"/>
    <p:sldId id="295" r:id="rId15"/>
    <p:sldId id="296" r:id="rId16"/>
    <p:sldId id="288" r:id="rId17"/>
    <p:sldId id="299" r:id="rId18"/>
    <p:sldId id="302" r:id="rId19"/>
    <p:sldId id="303" r:id="rId20"/>
    <p:sldId id="294" r:id="rId21"/>
    <p:sldId id="300" r:id="rId22"/>
    <p:sldId id="297" r:id="rId23"/>
    <p:sldId id="298" r:id="rId24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ardsectie" id="{3F3DAAD7-D56C-4526-A872-99B653579593}">
          <p14:sldIdLst>
            <p14:sldId id="269"/>
            <p14:sldId id="286"/>
            <p14:sldId id="290"/>
            <p14:sldId id="291"/>
            <p14:sldId id="285"/>
            <p14:sldId id="284"/>
            <p14:sldId id="292"/>
            <p14:sldId id="293"/>
            <p14:sldId id="301"/>
            <p14:sldId id="295"/>
            <p14:sldId id="296"/>
            <p14:sldId id="288"/>
            <p14:sldId id="299"/>
            <p14:sldId id="302"/>
            <p14:sldId id="303"/>
            <p14:sldId id="294"/>
            <p14:sldId id="300"/>
            <p14:sldId id="297"/>
            <p14:sldId id="29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4337"/>
    <a:srgbClr val="102B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608FB7-B67F-E758-A250-2F07F44CEDA2}" v="8" dt="2024-11-14T19:13:19.480"/>
    <p1510:client id="{0387352A-AFDE-8356-E1E9-06D5BCEFF91D}" v="164" dt="2024-11-14T19:52:57.190"/>
    <p1510:client id="{3E4D9A16-3434-9212-F504-FA43B6889BE9}" v="49" dt="2024-11-14T19:00:21.411"/>
    <p1510:client id="{5EBE99AE-94F9-4B23-A7D2-795936978607}" v="459" dt="2024-11-14T19:23:19.597"/>
    <p1510:client id="{60E1AA6E-5A5F-FA41-8CFE-76CCFC42D45E}" v="169" dt="2024-11-14T19:11:45.073"/>
    <p1510:client id="{9DB75D49-DDD0-797D-F859-15D09C283B02}" v="2" dt="2024-11-14T15:50:44.059"/>
    <p1510:client id="{A982212F-B4D0-F502-07DF-4C4E5E1416EE}" v="68" dt="2024-11-14T19:32:59.751"/>
    <p1510:client id="{D2FC46C0-D31B-39D5-6749-6659605EF956}" v="2" dt="2024-11-14T19:22:50.7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Stijl, gemiddeld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stgebruiker" userId="S::urn:spo:anon#a2b69085110383f6d9ac90c27265563209d3aa818a21a053fe0bf64eb99735f5::" providerId="AD" clId="Web-{0387352A-AFDE-8356-E1E9-06D5BCEFF91D}"/>
    <pc:docChg chg="modSld">
      <pc:chgData name="Gastgebruiker" userId="S::urn:spo:anon#a2b69085110383f6d9ac90c27265563209d3aa818a21a053fe0bf64eb99735f5::" providerId="AD" clId="Web-{0387352A-AFDE-8356-E1E9-06D5BCEFF91D}" dt="2024-11-14T19:52:57.190" v="163" actId="20577"/>
      <pc:docMkLst>
        <pc:docMk/>
      </pc:docMkLst>
      <pc:sldChg chg="modSp">
        <pc:chgData name="Gastgebruiker" userId="S::urn:spo:anon#a2b69085110383f6d9ac90c27265563209d3aa818a21a053fe0bf64eb99735f5::" providerId="AD" clId="Web-{0387352A-AFDE-8356-E1E9-06D5BCEFF91D}" dt="2024-11-14T19:52:57.190" v="163" actId="20577"/>
        <pc:sldMkLst>
          <pc:docMk/>
          <pc:sldMk cId="780908870" sldId="290"/>
        </pc:sldMkLst>
        <pc:spChg chg="mod">
          <ac:chgData name="Gastgebruiker" userId="S::urn:spo:anon#a2b69085110383f6d9ac90c27265563209d3aa818a21a053fe0bf64eb99735f5::" providerId="AD" clId="Web-{0387352A-AFDE-8356-E1E9-06D5BCEFF91D}" dt="2024-11-14T19:52:57.190" v="163" actId="20577"/>
          <ac:spMkLst>
            <pc:docMk/>
            <pc:sldMk cId="780908870" sldId="290"/>
            <ac:spMk id="3" creationId="{77D104CC-CAB6-A69A-BBDF-0C8C33061279}"/>
          </ac:spMkLst>
        </pc:spChg>
      </pc:sldChg>
    </pc:docChg>
  </pc:docChgLst>
  <pc:docChgLst>
    <pc:chgData name="Gastgebruiker" userId="S::urn:spo:anon#0c8ebf4ffc2ccb43bdc5c682ec810329cc514d6b206b79b28f57085294cb67db::" providerId="AD" clId="Web-{0E5C1312-B027-EAB0-5B57-B3089FB227A8}"/>
    <pc:docChg chg="modSld">
      <pc:chgData name="Gastgebruiker" userId="S::urn:spo:anon#0c8ebf4ffc2ccb43bdc5c682ec810329cc514d6b206b79b28f57085294cb67db::" providerId="AD" clId="Web-{0E5C1312-B027-EAB0-5B57-B3089FB227A8}" dt="2024-11-13T19:20:59.696" v="11" actId="20577"/>
      <pc:docMkLst>
        <pc:docMk/>
      </pc:docMkLst>
      <pc:sldChg chg="modSp">
        <pc:chgData name="Gastgebruiker" userId="S::urn:spo:anon#0c8ebf4ffc2ccb43bdc5c682ec810329cc514d6b206b79b28f57085294cb67db::" providerId="AD" clId="Web-{0E5C1312-B027-EAB0-5B57-B3089FB227A8}" dt="2024-11-13T19:20:59.696" v="11" actId="20577"/>
        <pc:sldMkLst>
          <pc:docMk/>
          <pc:sldMk cId="948246460" sldId="269"/>
        </pc:sldMkLst>
        <pc:spChg chg="mod">
          <ac:chgData name="Gastgebruiker" userId="S::urn:spo:anon#0c8ebf4ffc2ccb43bdc5c682ec810329cc514d6b206b79b28f57085294cb67db::" providerId="AD" clId="Web-{0E5C1312-B027-EAB0-5B57-B3089FB227A8}" dt="2024-11-13T19:20:59.696" v="11" actId="20577"/>
          <ac:spMkLst>
            <pc:docMk/>
            <pc:sldMk cId="948246460" sldId="269"/>
            <ac:spMk id="3" creationId="{7DB8EF02-DF1E-4CA0-A16A-719DCC97ED5B}"/>
          </ac:spMkLst>
        </pc:spChg>
      </pc:sldChg>
    </pc:docChg>
  </pc:docChgLst>
  <pc:docChgLst>
    <pc:chgData name="Gastgebruiker" userId="S::urn:spo:anon#0c8ebf4ffc2ccb43bdc5c682ec810329cc514d6b206b79b28f57085294cb67db::" providerId="AD" clId="Web-{A982212F-B4D0-F502-07DF-4C4E5E1416EE}"/>
    <pc:docChg chg="addSld modSld sldOrd modSection">
      <pc:chgData name="Gastgebruiker" userId="S::urn:spo:anon#0c8ebf4ffc2ccb43bdc5c682ec810329cc514d6b206b79b28f57085294cb67db::" providerId="AD" clId="Web-{A982212F-B4D0-F502-07DF-4C4E5E1416EE}" dt="2024-11-14T19:32:59.751" v="62"/>
      <pc:docMkLst>
        <pc:docMk/>
      </pc:docMkLst>
      <pc:sldChg chg="modSp">
        <pc:chgData name="Gastgebruiker" userId="S::urn:spo:anon#0c8ebf4ffc2ccb43bdc5c682ec810329cc514d6b206b79b28f57085294cb67db::" providerId="AD" clId="Web-{A982212F-B4D0-F502-07DF-4C4E5E1416EE}" dt="2024-11-14T18:39:45.989" v="10" actId="20577"/>
        <pc:sldMkLst>
          <pc:docMk/>
          <pc:sldMk cId="948246460" sldId="269"/>
        </pc:sldMkLst>
        <pc:spChg chg="mod">
          <ac:chgData name="Gastgebruiker" userId="S::urn:spo:anon#0c8ebf4ffc2ccb43bdc5c682ec810329cc514d6b206b79b28f57085294cb67db::" providerId="AD" clId="Web-{A982212F-B4D0-F502-07DF-4C4E5E1416EE}" dt="2024-11-14T18:39:45.989" v="10" actId="20577"/>
          <ac:spMkLst>
            <pc:docMk/>
            <pc:sldMk cId="948246460" sldId="269"/>
            <ac:spMk id="3" creationId="{7DB8EF02-DF1E-4CA0-A16A-719DCC97ED5B}"/>
          </ac:spMkLst>
        </pc:spChg>
      </pc:sldChg>
      <pc:sldChg chg="modSp">
        <pc:chgData name="Gastgebruiker" userId="S::urn:spo:anon#0c8ebf4ffc2ccb43bdc5c682ec810329cc514d6b206b79b28f57085294cb67db::" providerId="AD" clId="Web-{A982212F-B4D0-F502-07DF-4C4E5E1416EE}" dt="2024-11-14T19:12:22.017" v="27" actId="20577"/>
        <pc:sldMkLst>
          <pc:docMk/>
          <pc:sldMk cId="780908870" sldId="290"/>
        </pc:sldMkLst>
        <pc:spChg chg="mod">
          <ac:chgData name="Gastgebruiker" userId="S::urn:spo:anon#0c8ebf4ffc2ccb43bdc5c682ec810329cc514d6b206b79b28f57085294cb67db::" providerId="AD" clId="Web-{A982212F-B4D0-F502-07DF-4C4E5E1416EE}" dt="2024-11-14T19:12:22.017" v="27" actId="20577"/>
          <ac:spMkLst>
            <pc:docMk/>
            <pc:sldMk cId="780908870" sldId="290"/>
            <ac:spMk id="3" creationId="{77D104CC-CAB6-A69A-BBDF-0C8C33061279}"/>
          </ac:spMkLst>
        </pc:spChg>
      </pc:sldChg>
      <pc:sldChg chg="ord">
        <pc:chgData name="Gastgebruiker" userId="S::urn:spo:anon#0c8ebf4ffc2ccb43bdc5c682ec810329cc514d6b206b79b28f57085294cb67db::" providerId="AD" clId="Web-{A982212F-B4D0-F502-07DF-4C4E5E1416EE}" dt="2024-11-14T19:32:59.751" v="62"/>
        <pc:sldMkLst>
          <pc:docMk/>
          <pc:sldMk cId="2074692263" sldId="294"/>
        </pc:sldMkLst>
      </pc:sldChg>
      <pc:sldChg chg="modSp">
        <pc:chgData name="Gastgebruiker" userId="S::urn:spo:anon#0c8ebf4ffc2ccb43bdc5c682ec810329cc514d6b206b79b28f57085294cb67db::" providerId="AD" clId="Web-{A982212F-B4D0-F502-07DF-4C4E5E1416EE}" dt="2024-11-14T19:13:37.301" v="30" actId="20577"/>
        <pc:sldMkLst>
          <pc:docMk/>
          <pc:sldMk cId="313379714" sldId="297"/>
        </pc:sldMkLst>
        <pc:spChg chg="mod">
          <ac:chgData name="Gastgebruiker" userId="S::urn:spo:anon#0c8ebf4ffc2ccb43bdc5c682ec810329cc514d6b206b79b28f57085294cb67db::" providerId="AD" clId="Web-{A982212F-B4D0-F502-07DF-4C4E5E1416EE}" dt="2024-11-14T19:13:37.301" v="30" actId="20577"/>
          <ac:spMkLst>
            <pc:docMk/>
            <pc:sldMk cId="313379714" sldId="297"/>
            <ac:spMk id="3" creationId="{BB7F467A-7F8C-7C73-F2EE-72940EB2864C}"/>
          </ac:spMkLst>
        </pc:spChg>
      </pc:sldChg>
      <pc:sldChg chg="modSp">
        <pc:chgData name="Gastgebruiker" userId="S::urn:spo:anon#0c8ebf4ffc2ccb43bdc5c682ec810329cc514d6b206b79b28f57085294cb67db::" providerId="AD" clId="Web-{A982212F-B4D0-F502-07DF-4C4E5E1416EE}" dt="2024-11-14T19:18:36.109" v="55" actId="20577"/>
        <pc:sldMkLst>
          <pc:docMk/>
          <pc:sldMk cId="2974619196" sldId="298"/>
        </pc:sldMkLst>
        <pc:spChg chg="mod">
          <ac:chgData name="Gastgebruiker" userId="S::urn:spo:anon#0c8ebf4ffc2ccb43bdc5c682ec810329cc514d6b206b79b28f57085294cb67db::" providerId="AD" clId="Web-{A982212F-B4D0-F502-07DF-4C4E5E1416EE}" dt="2024-11-14T19:18:36.109" v="55" actId="20577"/>
          <ac:spMkLst>
            <pc:docMk/>
            <pc:sldMk cId="2974619196" sldId="298"/>
            <ac:spMk id="3" creationId="{ECFA288C-594F-9FF2-DBC8-725A84953F7E}"/>
          </ac:spMkLst>
        </pc:spChg>
      </pc:sldChg>
      <pc:sldChg chg="addSp modSp">
        <pc:chgData name="Gastgebruiker" userId="S::urn:spo:anon#0c8ebf4ffc2ccb43bdc5c682ec810329cc514d6b206b79b28f57085294cb67db::" providerId="AD" clId="Web-{A982212F-B4D0-F502-07DF-4C4E5E1416EE}" dt="2024-11-14T19:14:35.022" v="32" actId="1076"/>
        <pc:sldMkLst>
          <pc:docMk/>
          <pc:sldMk cId="4176162653" sldId="299"/>
        </pc:sldMkLst>
        <pc:picChg chg="add mod">
          <ac:chgData name="Gastgebruiker" userId="S::urn:spo:anon#0c8ebf4ffc2ccb43bdc5c682ec810329cc514d6b206b79b28f57085294cb67db::" providerId="AD" clId="Web-{A982212F-B4D0-F502-07DF-4C4E5E1416EE}" dt="2024-11-14T19:14:35.022" v="32" actId="1076"/>
          <ac:picMkLst>
            <pc:docMk/>
            <pc:sldMk cId="4176162653" sldId="299"/>
            <ac:picMk id="3" creationId="{33489D44-D32D-4D44-733C-A628F3BF24C2}"/>
          </ac:picMkLst>
        </pc:picChg>
      </pc:sldChg>
      <pc:sldChg chg="addSp delSp modSp ord">
        <pc:chgData name="Gastgebruiker" userId="S::urn:spo:anon#0c8ebf4ffc2ccb43bdc5c682ec810329cc514d6b206b79b28f57085294cb67db::" providerId="AD" clId="Web-{A982212F-B4D0-F502-07DF-4C4E5E1416EE}" dt="2024-11-14T19:11:30.531" v="21"/>
        <pc:sldMkLst>
          <pc:docMk/>
          <pc:sldMk cId="3635909968" sldId="301"/>
        </pc:sldMkLst>
        <pc:spChg chg="del">
          <ac:chgData name="Gastgebruiker" userId="S::urn:spo:anon#0c8ebf4ffc2ccb43bdc5c682ec810329cc514d6b206b79b28f57085294cb67db::" providerId="AD" clId="Web-{A982212F-B4D0-F502-07DF-4C4E5E1416EE}" dt="2024-11-14T19:10:59.592" v="18"/>
          <ac:spMkLst>
            <pc:docMk/>
            <pc:sldMk cId="3635909968" sldId="301"/>
            <ac:spMk id="2" creationId="{EC23875F-4E6F-B011-C277-DA197F73B846}"/>
          </ac:spMkLst>
        </pc:spChg>
        <pc:spChg chg="add mod">
          <ac:chgData name="Gastgebruiker" userId="S::urn:spo:anon#0c8ebf4ffc2ccb43bdc5c682ec810329cc514d6b206b79b28f57085294cb67db::" providerId="AD" clId="Web-{A982212F-B4D0-F502-07DF-4C4E5E1416EE}" dt="2024-11-14T19:11:20.343" v="20" actId="20577"/>
          <ac:spMkLst>
            <pc:docMk/>
            <pc:sldMk cId="3635909968" sldId="301"/>
            <ac:spMk id="6" creationId="{BC72DE8B-F107-9D47-B9D1-390885850111}"/>
          </ac:spMkLst>
        </pc:spChg>
      </pc:sldChg>
      <pc:sldChg chg="addSp delSp modSp add ord replId">
        <pc:chgData name="Gastgebruiker" userId="S::urn:spo:anon#0c8ebf4ffc2ccb43bdc5c682ec810329cc514d6b206b79b28f57085294cb67db::" providerId="AD" clId="Web-{A982212F-B4D0-F502-07DF-4C4E5E1416EE}" dt="2024-11-14T19:21:25.444" v="61"/>
        <pc:sldMkLst>
          <pc:docMk/>
          <pc:sldMk cId="4242159404" sldId="302"/>
        </pc:sldMkLst>
        <pc:picChg chg="del">
          <ac:chgData name="Gastgebruiker" userId="S::urn:spo:anon#0c8ebf4ffc2ccb43bdc5c682ec810329cc514d6b206b79b28f57085294cb67db::" providerId="AD" clId="Web-{A982212F-B4D0-F502-07DF-4C4E5E1416EE}" dt="2024-11-14T19:15:09.023" v="34"/>
          <ac:picMkLst>
            <pc:docMk/>
            <pc:sldMk cId="4242159404" sldId="302"/>
            <ac:picMk id="3" creationId="{33489D44-D32D-4D44-733C-A628F3BF24C2}"/>
          </ac:picMkLst>
        </pc:picChg>
        <pc:picChg chg="add mod">
          <ac:chgData name="Gastgebruiker" userId="S::urn:spo:anon#0c8ebf4ffc2ccb43bdc5c682ec810329cc514d6b206b79b28f57085294cb67db::" providerId="AD" clId="Web-{A982212F-B4D0-F502-07DF-4C4E5E1416EE}" dt="2024-11-14T19:19:52.471" v="59" actId="1076"/>
          <ac:picMkLst>
            <pc:docMk/>
            <pc:sldMk cId="4242159404" sldId="302"/>
            <ac:picMk id="4" creationId="{A55ADEF7-2F44-CED5-E1ED-FBA868531127}"/>
          </ac:picMkLst>
        </pc:picChg>
      </pc:sldChg>
    </pc:docChg>
  </pc:docChgLst>
  <pc:docChgLst>
    <pc:chgData name="Investment Club | VEK" userId="S::investmentclub@vek.be::fccfcf99-cb57-4190-863c-7d6490e7bab2" providerId="AD" clId="Web-{9DB75D49-DDD0-797D-F859-15D09C283B02}"/>
    <pc:docChg chg="modSld">
      <pc:chgData name="Investment Club | VEK" userId="S::investmentclub@vek.be::fccfcf99-cb57-4190-863c-7d6490e7bab2" providerId="AD" clId="Web-{9DB75D49-DDD0-797D-F859-15D09C283B02}" dt="2024-11-14T15:50:44.059" v="1"/>
      <pc:docMkLst>
        <pc:docMk/>
      </pc:docMkLst>
      <pc:sldChg chg="delSp">
        <pc:chgData name="Investment Club | VEK" userId="S::investmentclub@vek.be::fccfcf99-cb57-4190-863c-7d6490e7bab2" providerId="AD" clId="Web-{9DB75D49-DDD0-797D-F859-15D09C283B02}" dt="2024-11-14T15:50:44.059" v="1"/>
        <pc:sldMkLst>
          <pc:docMk/>
          <pc:sldMk cId="4176162653" sldId="299"/>
        </pc:sldMkLst>
        <pc:spChg chg="del">
          <ac:chgData name="Investment Club | VEK" userId="S::investmentclub@vek.be::fccfcf99-cb57-4190-863c-7d6490e7bab2" providerId="AD" clId="Web-{9DB75D49-DDD0-797D-F859-15D09C283B02}" dt="2024-11-14T15:50:44.059" v="1"/>
          <ac:spMkLst>
            <pc:docMk/>
            <pc:sldMk cId="4176162653" sldId="299"/>
            <ac:spMk id="3" creationId="{BFA565A4-691B-C9BF-6269-9DA67F75112D}"/>
          </ac:spMkLst>
        </pc:spChg>
        <pc:spChg chg="del">
          <ac:chgData name="Investment Club | VEK" userId="S::investmentclub@vek.be::fccfcf99-cb57-4190-863c-7d6490e7bab2" providerId="AD" clId="Web-{9DB75D49-DDD0-797D-F859-15D09C283B02}" dt="2024-11-14T15:50:44.059" v="0"/>
          <ac:spMkLst>
            <pc:docMk/>
            <pc:sldMk cId="4176162653" sldId="299"/>
            <ac:spMk id="4" creationId="{93C44D61-96E9-8636-1A17-BF141FBDFA1D}"/>
          </ac:spMkLst>
        </pc:spChg>
      </pc:sldChg>
    </pc:docChg>
  </pc:docChgLst>
  <pc:docChgLst>
    <pc:chgData name="Gastgebruiker" userId="S::urn:spo:anon#0c8ebf4ffc2ccb43bdc5c682ec810329cc514d6b206b79b28f57085294cb67db::" providerId="AD" clId="Web-{60E1AA6E-5A5F-FA41-8CFE-76CCFC42D45E}"/>
    <pc:docChg chg="modSld">
      <pc:chgData name="Gastgebruiker" userId="S::urn:spo:anon#0c8ebf4ffc2ccb43bdc5c682ec810329cc514d6b206b79b28f57085294cb67db::" providerId="AD" clId="Web-{60E1AA6E-5A5F-FA41-8CFE-76CCFC42D45E}" dt="2024-11-14T19:11:45.073" v="157" actId="1076"/>
      <pc:docMkLst>
        <pc:docMk/>
      </pc:docMkLst>
      <pc:sldChg chg="modSp">
        <pc:chgData name="Gastgebruiker" userId="S::urn:spo:anon#0c8ebf4ffc2ccb43bdc5c682ec810329cc514d6b206b79b28f57085294cb67db::" providerId="AD" clId="Web-{60E1AA6E-5A5F-FA41-8CFE-76CCFC42D45E}" dt="2024-11-14T19:11:45.073" v="157" actId="1076"/>
        <pc:sldMkLst>
          <pc:docMk/>
          <pc:sldMk cId="4131347435" sldId="296"/>
        </pc:sldMkLst>
        <pc:graphicFrameChg chg="mod modGraphic">
          <ac:chgData name="Gastgebruiker" userId="S::urn:spo:anon#0c8ebf4ffc2ccb43bdc5c682ec810329cc514d6b206b79b28f57085294cb67db::" providerId="AD" clId="Web-{60E1AA6E-5A5F-FA41-8CFE-76CCFC42D45E}" dt="2024-11-14T19:11:45.073" v="157" actId="1076"/>
          <ac:graphicFrameMkLst>
            <pc:docMk/>
            <pc:sldMk cId="4131347435" sldId="296"/>
            <ac:graphicFrameMk id="10" creationId="{F4113CFB-D840-8F62-5244-E9F156AE582D}"/>
          </ac:graphicFrameMkLst>
        </pc:graphicFrameChg>
      </pc:sldChg>
    </pc:docChg>
  </pc:docChgLst>
  <pc:docChgLst>
    <pc:chgData name="Investment Club | VEK" userId="fccfcf99-cb57-4190-863c-7d6490e7bab2" providerId="ADAL" clId="{5EBE99AE-94F9-4B23-A7D2-795936978607}"/>
    <pc:docChg chg="undo custSel addSld modSld modSection">
      <pc:chgData name="Investment Club | VEK" userId="fccfcf99-cb57-4190-863c-7d6490e7bab2" providerId="ADAL" clId="{5EBE99AE-94F9-4B23-A7D2-795936978607}" dt="2024-11-14T19:23:19.597" v="459" actId="1076"/>
      <pc:docMkLst>
        <pc:docMk/>
      </pc:docMkLst>
      <pc:sldChg chg="modSp mod">
        <pc:chgData name="Investment Club | VEK" userId="fccfcf99-cb57-4190-863c-7d6490e7bab2" providerId="ADAL" clId="{5EBE99AE-94F9-4B23-A7D2-795936978607}" dt="2024-11-14T18:40:40.614" v="1" actId="404"/>
        <pc:sldMkLst>
          <pc:docMk/>
          <pc:sldMk cId="25591784" sldId="293"/>
        </pc:sldMkLst>
        <pc:spChg chg="mod">
          <ac:chgData name="Investment Club | VEK" userId="fccfcf99-cb57-4190-863c-7d6490e7bab2" providerId="ADAL" clId="{5EBE99AE-94F9-4B23-A7D2-795936978607}" dt="2024-11-14T18:40:40.614" v="1" actId="404"/>
          <ac:spMkLst>
            <pc:docMk/>
            <pc:sldMk cId="25591784" sldId="293"/>
            <ac:spMk id="3" creationId="{4B15C5D1-E5A0-00B3-8D84-F48881F183B7}"/>
          </ac:spMkLst>
        </pc:spChg>
      </pc:sldChg>
      <pc:sldChg chg="modSp mod">
        <pc:chgData name="Investment Club | VEK" userId="fccfcf99-cb57-4190-863c-7d6490e7bab2" providerId="ADAL" clId="{5EBE99AE-94F9-4B23-A7D2-795936978607}" dt="2024-11-14T18:40:45.577" v="3" actId="404"/>
        <pc:sldMkLst>
          <pc:docMk/>
          <pc:sldMk cId="770786075" sldId="295"/>
        </pc:sldMkLst>
        <pc:spChg chg="mod">
          <ac:chgData name="Investment Club | VEK" userId="fccfcf99-cb57-4190-863c-7d6490e7bab2" providerId="ADAL" clId="{5EBE99AE-94F9-4B23-A7D2-795936978607}" dt="2024-11-14T18:40:45.577" v="3" actId="404"/>
          <ac:spMkLst>
            <pc:docMk/>
            <pc:sldMk cId="770786075" sldId="295"/>
            <ac:spMk id="3" creationId="{8E165350-F6E7-2B0A-0064-CF1551BF9231}"/>
          </ac:spMkLst>
        </pc:spChg>
      </pc:sldChg>
      <pc:sldChg chg="modSp mod">
        <pc:chgData name="Investment Club | VEK" userId="fccfcf99-cb57-4190-863c-7d6490e7bab2" providerId="ADAL" clId="{5EBE99AE-94F9-4B23-A7D2-795936978607}" dt="2024-11-14T19:15:14.256" v="439" actId="20577"/>
        <pc:sldMkLst>
          <pc:docMk/>
          <pc:sldMk cId="313379714" sldId="297"/>
        </pc:sldMkLst>
        <pc:spChg chg="mod">
          <ac:chgData name="Investment Club | VEK" userId="fccfcf99-cb57-4190-863c-7d6490e7bab2" providerId="ADAL" clId="{5EBE99AE-94F9-4B23-A7D2-795936978607}" dt="2024-11-14T19:15:14.256" v="439" actId="20577"/>
          <ac:spMkLst>
            <pc:docMk/>
            <pc:sldMk cId="313379714" sldId="297"/>
            <ac:spMk id="3" creationId="{BB7F467A-7F8C-7C73-F2EE-72940EB2864C}"/>
          </ac:spMkLst>
        </pc:spChg>
      </pc:sldChg>
      <pc:sldChg chg="addSp delSp modSp new mod">
        <pc:chgData name="Investment Club | VEK" userId="fccfcf99-cb57-4190-863c-7d6490e7bab2" providerId="ADAL" clId="{5EBE99AE-94F9-4B23-A7D2-795936978607}" dt="2024-11-14T19:23:19.597" v="459" actId="1076"/>
        <pc:sldMkLst>
          <pc:docMk/>
          <pc:sldMk cId="3167205619" sldId="303"/>
        </pc:sldMkLst>
        <pc:spChg chg="del">
          <ac:chgData name="Investment Club | VEK" userId="fccfcf99-cb57-4190-863c-7d6490e7bab2" providerId="ADAL" clId="{5EBE99AE-94F9-4B23-A7D2-795936978607}" dt="2024-11-14T19:23:04.423" v="450" actId="478"/>
          <ac:spMkLst>
            <pc:docMk/>
            <pc:sldMk cId="3167205619" sldId="303"/>
            <ac:spMk id="2" creationId="{5DFCAC28-B57F-B70A-DF04-E967CCC682F2}"/>
          </ac:spMkLst>
        </pc:spChg>
        <pc:spChg chg="del">
          <ac:chgData name="Investment Club | VEK" userId="fccfcf99-cb57-4190-863c-7d6490e7bab2" providerId="ADAL" clId="{5EBE99AE-94F9-4B23-A7D2-795936978607}" dt="2024-11-14T19:21:13.201" v="441" actId="478"/>
          <ac:spMkLst>
            <pc:docMk/>
            <pc:sldMk cId="3167205619" sldId="303"/>
            <ac:spMk id="3" creationId="{EFDC728E-CFAF-F465-6574-4FD57D013D02}"/>
          </ac:spMkLst>
        </pc:spChg>
        <pc:spChg chg="add mod">
          <ac:chgData name="Investment Club | VEK" userId="fccfcf99-cb57-4190-863c-7d6490e7bab2" providerId="ADAL" clId="{5EBE99AE-94F9-4B23-A7D2-795936978607}" dt="2024-11-14T19:23:14.804" v="456" actId="1076"/>
          <ac:spMkLst>
            <pc:docMk/>
            <pc:sldMk cId="3167205619" sldId="303"/>
            <ac:spMk id="8" creationId="{BB9ED7C4-2D45-CAEF-7A5E-DB16F5BA3CC1}"/>
          </ac:spMkLst>
        </pc:spChg>
        <pc:picChg chg="add mod">
          <ac:chgData name="Investment Club | VEK" userId="fccfcf99-cb57-4190-863c-7d6490e7bab2" providerId="ADAL" clId="{5EBE99AE-94F9-4B23-A7D2-795936978607}" dt="2024-11-14T19:21:20.584" v="446" actId="1076"/>
          <ac:picMkLst>
            <pc:docMk/>
            <pc:sldMk cId="3167205619" sldId="303"/>
            <ac:picMk id="5" creationId="{0BEA22DB-7536-CCCA-75AF-462D7CAD2237}"/>
          </ac:picMkLst>
        </pc:picChg>
        <pc:picChg chg="add mod">
          <ac:chgData name="Investment Club | VEK" userId="fccfcf99-cb57-4190-863c-7d6490e7bab2" providerId="ADAL" clId="{5EBE99AE-94F9-4B23-A7D2-795936978607}" dt="2024-11-14T19:23:19.597" v="459" actId="1076"/>
          <ac:picMkLst>
            <pc:docMk/>
            <pc:sldMk cId="3167205619" sldId="303"/>
            <ac:picMk id="7" creationId="{6E5D5EFE-1DB3-BCDF-AD04-B04EEE0C0DAB}"/>
          </ac:picMkLst>
        </pc:picChg>
      </pc:sldChg>
    </pc:docChg>
  </pc:docChgLst>
  <pc:docChgLst>
    <pc:chgData name="Gastgebruiker" userId="S::urn:spo:anon#0c8ebf4ffc2ccb43bdc5c682ec810329cc514d6b206b79b28f57085294cb67db::" providerId="AD" clId="Web-{D2FC46C0-D31B-39D5-6749-6659605EF956}"/>
    <pc:docChg chg="sldOrd">
      <pc:chgData name="Gastgebruiker" userId="S::urn:spo:anon#0c8ebf4ffc2ccb43bdc5c682ec810329cc514d6b206b79b28f57085294cb67db::" providerId="AD" clId="Web-{D2FC46C0-D31B-39D5-6749-6659605EF956}" dt="2024-11-14T19:22:50.705" v="1"/>
      <pc:docMkLst>
        <pc:docMk/>
      </pc:docMkLst>
      <pc:sldChg chg="ord">
        <pc:chgData name="Gastgebruiker" userId="S::urn:spo:anon#0c8ebf4ffc2ccb43bdc5c682ec810329cc514d6b206b79b28f57085294cb67db::" providerId="AD" clId="Web-{D2FC46C0-D31B-39D5-6749-6659605EF956}" dt="2024-11-14T19:22:50.705" v="1"/>
        <pc:sldMkLst>
          <pc:docMk/>
          <pc:sldMk cId="2974619196" sldId="298"/>
        </pc:sldMkLst>
      </pc:sldChg>
    </pc:docChg>
  </pc:docChgLst>
  <pc:docChgLst>
    <pc:chgData name="Gastgebruiker" userId="S::urn:spo:anon#0c8ebf4ffc2ccb43bdc5c682ec810329cc514d6b206b79b28f57085294cb67db::" providerId="AD" clId="Web-{3E4D9A16-3434-9212-F504-FA43B6889BE9}"/>
    <pc:docChg chg="modSld">
      <pc:chgData name="Gastgebruiker" userId="S::urn:spo:anon#0c8ebf4ffc2ccb43bdc5c682ec810329cc514d6b206b79b28f57085294cb67db::" providerId="AD" clId="Web-{3E4D9A16-3434-9212-F504-FA43B6889BE9}" dt="2024-11-14T19:00:21.411" v="48" actId="20577"/>
      <pc:docMkLst>
        <pc:docMk/>
      </pc:docMkLst>
      <pc:sldChg chg="modSp">
        <pc:chgData name="Gastgebruiker" userId="S::urn:spo:anon#0c8ebf4ffc2ccb43bdc5c682ec810329cc514d6b206b79b28f57085294cb67db::" providerId="AD" clId="Web-{3E4D9A16-3434-9212-F504-FA43B6889BE9}" dt="2024-11-14T19:00:21.411" v="48" actId="20577"/>
        <pc:sldMkLst>
          <pc:docMk/>
          <pc:sldMk cId="770786075" sldId="295"/>
        </pc:sldMkLst>
        <pc:spChg chg="mod">
          <ac:chgData name="Gastgebruiker" userId="S::urn:spo:anon#0c8ebf4ffc2ccb43bdc5c682ec810329cc514d6b206b79b28f57085294cb67db::" providerId="AD" clId="Web-{3E4D9A16-3434-9212-F504-FA43B6889BE9}" dt="2024-11-14T19:00:21.411" v="48" actId="20577"/>
          <ac:spMkLst>
            <pc:docMk/>
            <pc:sldMk cId="770786075" sldId="295"/>
            <ac:spMk id="3" creationId="{8E165350-F6E7-2B0A-0064-CF1551BF9231}"/>
          </ac:spMkLst>
        </pc:spChg>
      </pc:sldChg>
    </pc:docChg>
  </pc:docChgLst>
  <pc:docChgLst>
    <pc:chgData name="Gastgebruiker" userId="S::urn:spo:anon#0c8ebf4ffc2ccb43bdc5c682ec810329cc514d6b206b79b28f57085294cb67db::" providerId="AD" clId="Web-{00608FB7-B67F-E758-A250-2F07F44CEDA2}"/>
    <pc:docChg chg="addSld modSld modSection">
      <pc:chgData name="Gastgebruiker" userId="S::urn:spo:anon#0c8ebf4ffc2ccb43bdc5c682ec810329cc514d6b206b79b28f57085294cb67db::" providerId="AD" clId="Web-{00608FB7-B67F-E758-A250-2F07F44CEDA2}" dt="2024-11-14T19:13:19.480" v="6" actId="20577"/>
      <pc:docMkLst>
        <pc:docMk/>
      </pc:docMkLst>
      <pc:sldChg chg="modSp">
        <pc:chgData name="Gastgebruiker" userId="S::urn:spo:anon#0c8ebf4ffc2ccb43bdc5c682ec810329cc514d6b206b79b28f57085294cb67db::" providerId="AD" clId="Web-{00608FB7-B67F-E758-A250-2F07F44CEDA2}" dt="2024-11-14T19:13:19.480" v="6" actId="20577"/>
        <pc:sldMkLst>
          <pc:docMk/>
          <pc:sldMk cId="25591784" sldId="293"/>
        </pc:sldMkLst>
        <pc:spChg chg="mod">
          <ac:chgData name="Gastgebruiker" userId="S::urn:spo:anon#0c8ebf4ffc2ccb43bdc5c682ec810329cc514d6b206b79b28f57085294cb67db::" providerId="AD" clId="Web-{00608FB7-B67F-E758-A250-2F07F44CEDA2}" dt="2024-11-14T19:13:19.480" v="6" actId="20577"/>
          <ac:spMkLst>
            <pc:docMk/>
            <pc:sldMk cId="25591784" sldId="293"/>
            <ac:spMk id="3" creationId="{4B15C5D1-E5A0-00B3-8D84-F48881F183B7}"/>
          </ac:spMkLst>
        </pc:spChg>
      </pc:sldChg>
      <pc:sldChg chg="addSp delSp modSp new">
        <pc:chgData name="Gastgebruiker" userId="S::urn:spo:anon#0c8ebf4ffc2ccb43bdc5c682ec810329cc514d6b206b79b28f57085294cb67db::" providerId="AD" clId="Web-{00608FB7-B67F-E758-A250-2F07F44CEDA2}" dt="2024-11-14T19:10:25.021" v="3" actId="14100"/>
        <pc:sldMkLst>
          <pc:docMk/>
          <pc:sldMk cId="3635909968" sldId="301"/>
        </pc:sldMkLst>
        <pc:spChg chg="del">
          <ac:chgData name="Gastgebruiker" userId="S::urn:spo:anon#0c8ebf4ffc2ccb43bdc5c682ec810329cc514d6b206b79b28f57085294cb67db::" providerId="AD" clId="Web-{00608FB7-B67F-E758-A250-2F07F44CEDA2}" dt="2024-11-14T19:10:14.959" v="1"/>
          <ac:spMkLst>
            <pc:docMk/>
            <pc:sldMk cId="3635909968" sldId="301"/>
            <ac:spMk id="3" creationId="{0AB9E4EB-7090-0E07-2F40-DF04B1DA4A38}"/>
          </ac:spMkLst>
        </pc:spChg>
        <pc:picChg chg="add mod ord">
          <ac:chgData name="Gastgebruiker" userId="S::urn:spo:anon#0c8ebf4ffc2ccb43bdc5c682ec810329cc514d6b206b79b28f57085294cb67db::" providerId="AD" clId="Web-{00608FB7-B67F-E758-A250-2F07F44CEDA2}" dt="2024-11-14T19:10:25.021" v="3" actId="14100"/>
          <ac:picMkLst>
            <pc:docMk/>
            <pc:sldMk cId="3635909968" sldId="301"/>
            <ac:picMk id="4" creationId="{212B50EF-820D-A26A-4104-E80B9FC7518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39CEF8-D931-4635-9D59-897EC15C6356}" type="datetimeFigureOut">
              <a:rPr lang="nl-BE" smtClean="0"/>
              <a:t>14/11/2024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485BF0-3D51-4747-9D20-CE4DB12E4A7F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50278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25679-CBCE-8053-4D5A-31DE71669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4F2235-CD14-D842-E159-47E2C2F498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D3C998-D571-881E-2F26-5989E725D8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Deze</a:t>
            </a:r>
            <a:r>
              <a:rPr lang="en-US"/>
              <a:t> </a:t>
            </a:r>
            <a:r>
              <a:rPr lang="en-US" err="1"/>
              <a:t>structuur</a:t>
            </a:r>
            <a:r>
              <a:rPr lang="en-US"/>
              <a:t> </a:t>
            </a:r>
            <a:r>
              <a:rPr lang="en-US" err="1"/>
              <a:t>lijkt</a:t>
            </a:r>
            <a:r>
              <a:rPr lang="en-US"/>
              <a:t> </a:t>
            </a:r>
            <a:r>
              <a:rPr lang="en-US" err="1"/>
              <a:t>zeer</a:t>
            </a:r>
            <a:r>
              <a:rPr lang="en-US"/>
              <a:t> </a:t>
            </a:r>
            <a:r>
              <a:rPr lang="en-US" err="1"/>
              <a:t>ingewikkeld</a:t>
            </a:r>
            <a:r>
              <a:rPr lang="en-US"/>
              <a:t> maar is het </a:t>
            </a:r>
            <a:r>
              <a:rPr lang="en-US" err="1"/>
              <a:t>eigenlijk</a:t>
            </a:r>
            <a:r>
              <a:rPr lang="en-US"/>
              <a:t> </a:t>
            </a:r>
            <a:r>
              <a:rPr lang="en-US" err="1"/>
              <a:t>niet</a:t>
            </a:r>
            <a:r>
              <a:rPr lang="en-US"/>
              <a:t>, de </a:t>
            </a:r>
            <a:r>
              <a:rPr lang="en-US" err="1"/>
              <a:t>reden</a:t>
            </a:r>
            <a:r>
              <a:rPr lang="en-US"/>
              <a:t> </a:t>
            </a:r>
            <a:r>
              <a:rPr lang="en-US" err="1"/>
              <a:t>voor</a:t>
            </a:r>
            <a:r>
              <a:rPr lang="en-US"/>
              <a:t> de </a:t>
            </a:r>
            <a:r>
              <a:rPr lang="en-US" err="1"/>
              <a:t>vele</a:t>
            </a:r>
            <a:r>
              <a:rPr lang="en-US"/>
              <a:t> ‘operating companies’ is om </a:t>
            </a:r>
            <a:r>
              <a:rPr lang="en-US" err="1"/>
              <a:t>alles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regelen</a:t>
            </a:r>
            <a:r>
              <a:rPr lang="en-US"/>
              <a:t> in </a:t>
            </a:r>
            <a:r>
              <a:rPr lang="en-US" err="1"/>
              <a:t>zo’n</a:t>
            </a:r>
            <a:r>
              <a:rPr lang="en-US"/>
              <a:t> </a:t>
            </a:r>
            <a:r>
              <a:rPr lang="en-US" err="1"/>
              <a:t>groot</a:t>
            </a:r>
            <a:r>
              <a:rPr lang="en-US"/>
              <a:t> </a:t>
            </a:r>
            <a:r>
              <a:rPr lang="en-US" err="1"/>
              <a:t>bedrijf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om </a:t>
            </a:r>
            <a:r>
              <a:rPr lang="en-US" err="1"/>
              <a:t>voordeel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halen</a:t>
            </a:r>
            <a:r>
              <a:rPr lang="en-US"/>
              <a:t> </a:t>
            </a:r>
            <a:r>
              <a:rPr lang="en-US" err="1"/>
              <a:t>uit</a:t>
            </a:r>
            <a:r>
              <a:rPr lang="en-US"/>
              <a:t> </a:t>
            </a:r>
            <a:r>
              <a:rPr lang="en-US" err="1"/>
              <a:t>fiscale</a:t>
            </a:r>
            <a:r>
              <a:rPr lang="en-US"/>
              <a:t> </a:t>
            </a:r>
            <a:r>
              <a:rPr lang="en-US" err="1"/>
              <a:t>voordelen</a:t>
            </a:r>
            <a:r>
              <a:rPr lang="en-US"/>
              <a:t> per land. </a:t>
            </a:r>
            <a:r>
              <a:rPr lang="en-US" err="1"/>
              <a:t>Dit</a:t>
            </a:r>
            <a:r>
              <a:rPr lang="en-US"/>
              <a:t> is </a:t>
            </a:r>
            <a:r>
              <a:rPr lang="en-US" err="1"/>
              <a:t>eerder</a:t>
            </a:r>
            <a:r>
              <a:rPr lang="en-US"/>
              <a:t> </a:t>
            </a:r>
            <a:r>
              <a:rPr lang="en-US" err="1"/>
              <a:t>normaal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geen</a:t>
            </a:r>
            <a:r>
              <a:rPr lang="en-US"/>
              <a:t> red flag.</a:t>
            </a:r>
            <a:endParaRPr lang="nl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5CBEE4-8E7E-8158-8F48-33B8640285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485BF0-3D51-4747-9D20-CE4DB12E4A7F}" type="slidenum">
              <a:rPr lang="nl-BE" smtClean="0"/>
              <a:t>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029160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124DB-F7BE-C786-3900-A0C2976D2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08BDAE-E58B-8B71-1E82-177F85B9E4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8D88B0-B858-4BD1-6A1C-2F4AEC2695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Deze</a:t>
            </a:r>
            <a:r>
              <a:rPr lang="en-US"/>
              <a:t> </a:t>
            </a:r>
            <a:r>
              <a:rPr lang="en-US" err="1"/>
              <a:t>structuur</a:t>
            </a:r>
            <a:r>
              <a:rPr lang="en-US"/>
              <a:t> </a:t>
            </a:r>
            <a:r>
              <a:rPr lang="en-US" err="1"/>
              <a:t>lijkt</a:t>
            </a:r>
            <a:r>
              <a:rPr lang="en-US"/>
              <a:t> </a:t>
            </a:r>
            <a:r>
              <a:rPr lang="en-US" err="1"/>
              <a:t>zeer</a:t>
            </a:r>
            <a:r>
              <a:rPr lang="en-US"/>
              <a:t> </a:t>
            </a:r>
            <a:r>
              <a:rPr lang="en-US" err="1"/>
              <a:t>ingewikkeld</a:t>
            </a:r>
            <a:r>
              <a:rPr lang="en-US"/>
              <a:t> maar is het </a:t>
            </a:r>
            <a:r>
              <a:rPr lang="en-US" err="1"/>
              <a:t>eigenlijk</a:t>
            </a:r>
            <a:r>
              <a:rPr lang="en-US"/>
              <a:t> </a:t>
            </a:r>
            <a:r>
              <a:rPr lang="en-US" err="1"/>
              <a:t>niet</a:t>
            </a:r>
            <a:r>
              <a:rPr lang="en-US"/>
              <a:t>, de </a:t>
            </a:r>
            <a:r>
              <a:rPr lang="en-US" err="1"/>
              <a:t>reden</a:t>
            </a:r>
            <a:r>
              <a:rPr lang="en-US"/>
              <a:t> </a:t>
            </a:r>
            <a:r>
              <a:rPr lang="en-US" err="1"/>
              <a:t>voor</a:t>
            </a:r>
            <a:r>
              <a:rPr lang="en-US"/>
              <a:t> de </a:t>
            </a:r>
            <a:r>
              <a:rPr lang="en-US" err="1"/>
              <a:t>vele</a:t>
            </a:r>
            <a:r>
              <a:rPr lang="en-US"/>
              <a:t> ‘operating companies’ is om </a:t>
            </a:r>
            <a:r>
              <a:rPr lang="en-US" err="1"/>
              <a:t>alles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regelen</a:t>
            </a:r>
            <a:r>
              <a:rPr lang="en-US"/>
              <a:t> in </a:t>
            </a:r>
            <a:r>
              <a:rPr lang="en-US" err="1"/>
              <a:t>zo’n</a:t>
            </a:r>
            <a:r>
              <a:rPr lang="en-US"/>
              <a:t> </a:t>
            </a:r>
            <a:r>
              <a:rPr lang="en-US" err="1"/>
              <a:t>groot</a:t>
            </a:r>
            <a:r>
              <a:rPr lang="en-US"/>
              <a:t> </a:t>
            </a:r>
            <a:r>
              <a:rPr lang="en-US" err="1"/>
              <a:t>bedrijf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om </a:t>
            </a:r>
            <a:r>
              <a:rPr lang="en-US" err="1"/>
              <a:t>voordeel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halen</a:t>
            </a:r>
            <a:r>
              <a:rPr lang="en-US"/>
              <a:t> </a:t>
            </a:r>
            <a:r>
              <a:rPr lang="en-US" err="1"/>
              <a:t>uit</a:t>
            </a:r>
            <a:r>
              <a:rPr lang="en-US"/>
              <a:t> </a:t>
            </a:r>
            <a:r>
              <a:rPr lang="en-US" err="1"/>
              <a:t>fiscale</a:t>
            </a:r>
            <a:r>
              <a:rPr lang="en-US"/>
              <a:t> </a:t>
            </a:r>
            <a:r>
              <a:rPr lang="en-US" err="1"/>
              <a:t>voordelen</a:t>
            </a:r>
            <a:r>
              <a:rPr lang="en-US"/>
              <a:t> per land. </a:t>
            </a:r>
            <a:r>
              <a:rPr lang="en-US" err="1"/>
              <a:t>Dit</a:t>
            </a:r>
            <a:r>
              <a:rPr lang="en-US"/>
              <a:t> is </a:t>
            </a:r>
            <a:r>
              <a:rPr lang="en-US" err="1"/>
              <a:t>eerder</a:t>
            </a:r>
            <a:r>
              <a:rPr lang="en-US"/>
              <a:t> </a:t>
            </a:r>
            <a:r>
              <a:rPr lang="en-US" err="1"/>
              <a:t>normaal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geen</a:t>
            </a:r>
            <a:r>
              <a:rPr lang="en-US"/>
              <a:t> red flag.</a:t>
            </a:r>
            <a:endParaRPr lang="nl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C89AB8-8BF0-1E3D-5C36-0CE27C2648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485BF0-3D51-4747-9D20-CE4DB12E4A7F}" type="slidenum">
              <a:rPr lang="nl-BE" smtClean="0"/>
              <a:t>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127728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9AC517-B988-EB68-8BAC-925B8C429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715FCC8-49F3-DA7C-D48E-D96CC614E6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E32E5A1-436D-5DAD-AB61-F9E63D53C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14/11/2024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D773E98-2CD4-4896-A8D4-721A101A6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4BCCD98-667F-C1AA-3F92-6A4B8516C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84829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E01D21-EFE2-BA02-4562-FCDC06012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C78237D-D423-2D73-C4FF-7137A03ABA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2E2D613-3ABC-6C9C-AAF0-28156D9C5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14/11/2024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B35B855-4A0E-2D07-328D-8DB476106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D6B777F-5E77-5BD5-24C1-F2CCC1BC2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08851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B10792-05AE-BC19-2B74-E3F8EB7C0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D7F92F7-C619-6432-8C30-11F29A9C72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B6A89C8-7D22-1FFD-A6BF-2301B8B4B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14/11/2024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8D7AB5B-906F-0094-6232-F56E4D8EF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2BB81CA-0192-9646-9C81-51CB30982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22883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91FD50-0C59-C417-55E1-5B3A891EA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072CF92-7358-3C54-F5F6-E2907BA7A6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E8CD0E01-57D7-1ED1-25CB-80AF4919F3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EF8A1F70-CB2A-3596-2FF6-A5518EB71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14/11/2024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36DEAD15-42FE-9533-E17D-C8D552AA4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E1BE3A8-C2AB-BD02-4381-014E1BAE8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407604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CAE3E7-3791-865B-3F8B-F0364AA08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C289837-11C1-D555-A7C5-13704B5A8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9AC8E3B0-F466-2639-BB83-F754FBE4B6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B5629B61-B828-DAE9-43BD-D83CFD7731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7A95B215-8D9C-8203-3A79-6B052A6E9B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8222EA28-84C7-1A06-ACB3-6131D7C76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14/11/2024</a:t>
            </a:fld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6C2FCF4A-C584-0AD6-787A-DE0731DFE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BC2CE877-1AB5-5219-5331-E750DF8B7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335264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15DD5A-C047-F8D0-DA7E-19329467A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A7DD8A31-6EFC-CFB6-C096-C1FB86C63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14/11/2024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363919A-4AC8-2939-3A78-BC0128E13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E0690A0E-097A-7DDE-A49E-22FF894B7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8773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A5ECDA8F-593F-DEC1-EB1E-019275C61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14/11/2024</a:t>
            </a:fld>
            <a:endParaRPr lang="nl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1A989CE3-ABEA-CBC6-17DC-301A91C44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655E20E-9A75-6809-639D-6BF508F71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89007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750C39-B327-A6CA-9BA1-8A6D4C157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411A3E1-63CD-AA3E-9B0E-912E88F19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4DA25E0A-0902-85F9-601D-04F8AFDDA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70B2E31D-5342-EC7F-E643-58EE8699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14/11/2024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844D4488-8B90-86E5-8C03-7E4B8FB5C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63F28CB5-5AD3-1F16-2D64-D41D4CA56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961395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6DB5E9-EA15-D30B-3C35-42A9BBF08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95281E37-FB05-E021-874C-01D79EEDDA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4C42E8BD-AD00-F1CA-03F5-2675F2AC1B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62E5033-4861-59E4-CE97-FFC9C32B4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14/11/2024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90FFDCAE-789C-84DA-F97A-AF00B6478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33AFDC7F-2710-035E-BB0A-DDC96F4F7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215969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609A12-F89E-8C75-46BD-2D9B07210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AB165141-0061-579D-91C9-66A577F9EE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80BF015-D3A6-E932-D45E-2155C8D46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14/11/2024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B7F2026-EBD9-14E0-ECF9-9FD50B26D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0E25C6A-274B-2F87-37F0-B01D042F9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73478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5D68690B-1FE4-5378-5250-AF6AC74C2C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83CD605D-8B21-C317-340A-11D26EC33F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3E270A5-8991-CAED-AD4F-FCA600976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14/11/2024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0245DB4-94EF-F96B-1B89-C6FA18065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1ED165D-6C26-FE9A-A313-D5FA88962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869578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6D74-CFC0-5AAD-0DBA-4DAE2FE55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DE51AA-1826-D5A4-4D74-A387839ED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14/11/2024</a:t>
            </a:fld>
            <a:endParaRPr lang="nl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31CC4B-E962-E33F-B794-ED573FCF3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819002-D3F4-0B35-B8C1-52338A27C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742228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FBC7C-D718-AD56-BB7A-81ABE0A964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29C63E-9C7B-8E7C-A717-FDCFDE121D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C5AEF8-3D49-DDF2-B9AB-0E9D4A929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11/14/2024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FF76D-B929-D2EF-FB98-572CB6CCF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4CBF5-2216-5724-58FB-FEB68F7C6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5307856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08AB3-0611-255A-0882-8B7ECD513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F1010-89D2-01C1-845E-DD17DB4D9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643EA-82EE-878C-ABA0-AFDBC6EDB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11/14/2024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328868-17D1-F1D6-6B4B-75AE970C5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18483-0AD5-F41E-3130-A4EBD8B11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699246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FDB43-CC8E-3A65-A592-6B7E6C600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EE7A94-F2CC-F7F5-D941-55B8FDDE37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B2ECE2-97A4-0081-7019-909BE4185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11/14/2024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390EB-9333-46CB-6D91-6BFD1BA27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C0607-343C-8770-0DAF-9D3302EDF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8361176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8B67D-412C-FEA2-9096-8BCBCC5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26F19-6BDC-1F37-AD39-067A46C597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1FFC51-EC72-C86E-038E-9FA25C073E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A048AD-0E09-1CC7-700B-001F01FB6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11/14/2024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AF59AB-58F9-B8B5-0773-E24D51EDC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D107C3-7DD1-F595-7642-C341AA0F1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960298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DBEC9-4C32-2BE4-CA4C-FCA81E1FF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0F3422-63DF-23D2-542D-6EF4370C17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808E8A-3245-31B7-5872-6E65528762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47431C-97B5-59FF-C5B6-C9848AE6A9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3902D8-0AE8-A661-6A7C-47164949E5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57AFB6-E851-88B9-1BDE-E6CF53710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11/14/2024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CAE788-1F15-9300-B7B7-A5A445B71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9874FD-327C-9575-A12D-18F87C220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265646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27F15-611A-41B6-0A4D-6FC022E2B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5270E5-7C95-D9B4-F71E-5F787F80D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11/14/2024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47CE89-5CA6-A295-4332-AD7A4428A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E939CE-AB76-6F40-4A8B-FA8B80F21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1586487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E04FC0-D99F-388C-0B79-992280415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11/14/2024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66F526-2840-2DC9-FA31-16E98D9B8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F1413F-E31B-E36B-FB48-134137F6A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303154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B067D-A42F-4274-2573-3FC2654B1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DE74E-D1B8-93D4-E538-C24EC12288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0124F2-ECDB-334C-C672-B930DA1D96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7CED1B-74FF-5CBC-384C-034C3B820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11/14/2024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2D9E93-1F54-2EF5-5D68-13E957525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271EB1-CA88-7427-A265-6E788740D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910962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82458-2C56-62A3-CD46-259AAB532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86F67C-AC15-3039-4652-C04CAA2C07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13E69E-3B81-2E0B-764A-D9AF1DB7DC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610C8E-DE1F-33A1-42C8-F36DB46BA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11/14/2024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B6E386-E2D1-41AE-6DF4-0A56515CF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FAD2B2-48DB-3767-F174-5DD2AA85B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3913400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C07D2-095A-7FBB-456B-09911A384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917183-08A6-52C7-607B-B3A658B523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05959-5EF3-4640-B1C7-DD79EAF72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11/14/2024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C315E6-F1C0-6CFC-6B44-46144E2F4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0F5F67-7669-4A78-FA65-4AFC9EE0A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999310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BE960C-5CFF-3258-A914-F627E93925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22DCE5-12E8-721A-8C2D-6F635614DD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6A7F42-E301-DB24-EA06-10E8B84CE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11/14/2024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2B63F5-58D8-1D33-6CAF-0967B11C8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09A63-A46F-7696-234D-FA0799AF2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35068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A3C29633-190A-0197-3DA9-EC8DFAB0F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76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90301B5E-4E2B-A6DB-5925-B2EC519EB6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796AF50-A528-B12A-96B0-868A2F2677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C89BB1-5A5B-4779-81CE-BF22AFA9B40A}" type="datetimeFigureOut">
              <a:rPr lang="nl-BE" smtClean="0"/>
              <a:t>14/11/2024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928E766-20E7-FFEB-BB73-3728F14346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9F1833D-C567-A08F-A4C3-DA00B20469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DB9325-F9AB-0E8D-505A-AD1065F024E3}"/>
              </a:ext>
            </a:extLst>
          </p:cNvPr>
          <p:cNvCxnSpPr>
            <a:cxnSpLocks/>
          </p:cNvCxnSpPr>
          <p:nvPr userDrawn="1"/>
        </p:nvCxnSpPr>
        <p:spPr>
          <a:xfrm flipH="1">
            <a:off x="832857" y="1379372"/>
            <a:ext cx="10520943" cy="6606"/>
          </a:xfrm>
          <a:prstGeom prst="line">
            <a:avLst/>
          </a:prstGeom>
          <a:ln w="38100">
            <a:solidFill>
              <a:srgbClr val="074422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6938EE0-8464-5FE4-4025-D7C4D74A0332}"/>
              </a:ext>
            </a:extLst>
          </p:cNvPr>
          <p:cNvCxnSpPr>
            <a:cxnSpLocks/>
          </p:cNvCxnSpPr>
          <p:nvPr userDrawn="1"/>
        </p:nvCxnSpPr>
        <p:spPr>
          <a:xfrm flipH="1">
            <a:off x="853293" y="6176963"/>
            <a:ext cx="9128907" cy="0"/>
          </a:xfrm>
          <a:prstGeom prst="line">
            <a:avLst/>
          </a:prstGeom>
          <a:ln w="38100">
            <a:solidFill>
              <a:srgbClr val="074422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E7A888C-6579-EE81-3DA4-6DC8DFA250D4}"/>
              </a:ext>
            </a:extLst>
          </p:cNvPr>
          <p:cNvCxnSpPr>
            <a:cxnSpLocks/>
          </p:cNvCxnSpPr>
          <p:nvPr userDrawn="1"/>
        </p:nvCxnSpPr>
        <p:spPr>
          <a:xfrm flipH="1">
            <a:off x="11018520" y="6176963"/>
            <a:ext cx="335280" cy="0"/>
          </a:xfrm>
          <a:prstGeom prst="line">
            <a:avLst/>
          </a:prstGeom>
          <a:ln w="38100">
            <a:solidFill>
              <a:srgbClr val="074422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7E023A86-F80F-76D3-C672-8C771FC48894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033800" y="5710404"/>
            <a:ext cx="933119" cy="933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725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C66EFB-49B5-5AD4-7916-FC6162A53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7D05F7-2DDD-5EEC-8413-0DCA0CF59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E564E-4AB9-C83C-1931-128DE4E6DC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60EBFD-C0B0-4406-9B6E-841DD2A8CA96}" type="datetimeFigureOut">
              <a:rPr lang="en-BE" smtClean="0"/>
              <a:t>11/14/2024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C0F2FF-9BB5-8647-2B06-30D4FE031C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ECACD-1254-E804-895F-79A9E21739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3C9968-DF2A-4DEA-A251-97EFC3DCF20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11410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B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A9B099-3678-56D7-4D13-0036810034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54201"/>
            <a:ext cx="9684774" cy="1655762"/>
          </a:xfrm>
        </p:spPr>
        <p:txBody>
          <a:bodyPr>
            <a:normAutofit/>
          </a:bodyPr>
          <a:lstStyle/>
          <a:p>
            <a:r>
              <a:rPr lang="nl-BE" sz="7200" b="1" cap="all" err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Lato Black"/>
                <a:ea typeface="Lato Black"/>
                <a:cs typeface="Lato Black"/>
              </a:rPr>
              <a:t>Socfinasia</a:t>
            </a:r>
            <a:endParaRPr lang="nl-BE" sz="7200" b="1" cap="all" err="1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  <a:latin typeface="Lato Black" panose="020F0A02020204030203" pitchFamily="34" charset="0"/>
            </a:endParaRP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7DB8EF02-DF1E-4CA0-A16A-719DCC97ED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5239" y="3602038"/>
            <a:ext cx="10491020" cy="241776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BE" sz="4400" cap="small">
                <a:ln w="3175">
                  <a:noFill/>
                </a:ln>
                <a:solidFill>
                  <a:schemeClr val="bg1"/>
                </a:solidFill>
                <a:latin typeface="Lato"/>
                <a:ea typeface="Lato"/>
                <a:cs typeface="Lato"/>
              </a:rPr>
              <a:t>Amélie Cuvelier Wout </a:t>
            </a:r>
            <a:r>
              <a:rPr lang="nl-BE" sz="4400" cap="small" err="1">
                <a:ln w="3175">
                  <a:noFill/>
                </a:ln>
                <a:solidFill>
                  <a:schemeClr val="bg1"/>
                </a:solidFill>
                <a:latin typeface="Lato"/>
                <a:ea typeface="Lato"/>
                <a:cs typeface="Lato"/>
              </a:rPr>
              <a:t>Jonckheere</a:t>
            </a:r>
            <a:endParaRPr lang="nl-BE" sz="4400" cap="small">
              <a:ln w="3175">
                <a:noFill/>
              </a:ln>
              <a:solidFill>
                <a:schemeClr val="bg1"/>
              </a:solidFill>
              <a:latin typeface="Lato"/>
              <a:ea typeface="Lato"/>
              <a:cs typeface="Lato"/>
            </a:endParaRPr>
          </a:p>
          <a:p>
            <a:r>
              <a:rPr lang="nl-BE" sz="4400" cap="small">
                <a:ln w="3175">
                  <a:noFill/>
                </a:ln>
                <a:solidFill>
                  <a:schemeClr val="bg1"/>
                </a:solidFill>
                <a:latin typeface="Lato"/>
                <a:ea typeface="Lato"/>
                <a:cs typeface="Lato"/>
              </a:rPr>
              <a:t>Arthur Carème  Chloé De Rijck</a:t>
            </a:r>
          </a:p>
          <a:p>
            <a:r>
              <a:rPr lang="nl-BE" sz="4400" cap="small">
                <a:ln w="3175">
                  <a:noFill/>
                </a:ln>
                <a:solidFill>
                  <a:schemeClr val="bg1"/>
                </a:solidFill>
                <a:latin typeface="Lato"/>
                <a:ea typeface="Lato"/>
                <a:cs typeface="Lato"/>
              </a:rPr>
              <a:t>Reinout Van </a:t>
            </a:r>
            <a:r>
              <a:rPr lang="nl-BE" sz="4400" cap="small" err="1">
                <a:ln w="3175">
                  <a:noFill/>
                </a:ln>
                <a:solidFill>
                  <a:schemeClr val="bg1"/>
                </a:solidFill>
                <a:latin typeface="Lato"/>
                <a:ea typeface="Lato"/>
                <a:cs typeface="Lato"/>
              </a:rPr>
              <a:t>Reepingen</a:t>
            </a:r>
            <a:r>
              <a:rPr lang="nl-BE" sz="4400" cap="small">
                <a:ln w="3175">
                  <a:noFill/>
                </a:ln>
                <a:solidFill>
                  <a:schemeClr val="bg1"/>
                </a:solidFill>
                <a:latin typeface="Lato"/>
                <a:ea typeface="Lato"/>
                <a:cs typeface="Lato"/>
              </a:rPr>
              <a:t> Carlo </a:t>
            </a:r>
            <a:r>
              <a:rPr lang="nl-BE" sz="4400" cap="small" err="1">
                <a:ln w="3175">
                  <a:noFill/>
                </a:ln>
                <a:solidFill>
                  <a:schemeClr val="bg1"/>
                </a:solidFill>
                <a:latin typeface="Lato"/>
                <a:ea typeface="Lato"/>
                <a:cs typeface="Lato"/>
              </a:rPr>
              <a:t>Follesa</a:t>
            </a:r>
            <a:endParaRPr lang="nl-BE" sz="4400" cap="small">
              <a:ln w="3175">
                <a:noFill/>
              </a:ln>
              <a:solidFill>
                <a:schemeClr val="bg1"/>
              </a:solidFill>
              <a:latin typeface="Lato"/>
              <a:ea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948246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3B34C-DA43-EC7B-11D4-CFA2BE842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8BF17-7AF0-BA19-5F7A-64CBDCA1D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Korte inleiding</a:t>
            </a:r>
            <a:endParaRPr lang="en-BE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9C85E-1183-D1F8-7472-88EA10C22A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9120" y="4756031"/>
            <a:ext cx="1945640" cy="58812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BE" sz="3200"/>
              <a:t>Holding</a:t>
            </a:r>
          </a:p>
          <a:p>
            <a:endParaRPr lang="nl-BE" sz="2400"/>
          </a:p>
          <a:p>
            <a:endParaRPr lang="nl-BE" sz="2400"/>
          </a:p>
          <a:p>
            <a:endParaRPr lang="nl-BE" sz="2400"/>
          </a:p>
        </p:txBody>
      </p:sp>
      <p:pic>
        <p:nvPicPr>
          <p:cNvPr id="1026" name="Picture 2" descr="Key Dates - Socfin">
            <a:extLst>
              <a:ext uri="{FF2B5EF4-FFF2-40B4-BE49-F238E27FC236}">
                <a16:creationId xmlns:a16="http://schemas.microsoft.com/office/drawing/2014/main" id="{2296BC3C-48A9-50D5-5520-3FA419CC88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5663" y="1513840"/>
            <a:ext cx="8823793" cy="3060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967C3CC-FEEB-D56C-DCC5-8E36E3728933}"/>
              </a:ext>
            </a:extLst>
          </p:cNvPr>
          <p:cNvSpPr txBox="1">
            <a:spLocks/>
          </p:cNvSpPr>
          <p:nvPr/>
        </p:nvSpPr>
        <p:spPr>
          <a:xfrm>
            <a:off x="6096000" y="4805235"/>
            <a:ext cx="2522220" cy="100764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BE" sz="3200"/>
              <a:t>Agrarische sector</a:t>
            </a:r>
          </a:p>
          <a:p>
            <a:endParaRPr lang="nl-BE" sz="2400"/>
          </a:p>
          <a:p>
            <a:endParaRPr lang="nl-BE" sz="2400"/>
          </a:p>
          <a:p>
            <a:endParaRPr lang="nl-BE" sz="240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7DC516B-4567-6183-51A5-8FB302B8815F}"/>
              </a:ext>
            </a:extLst>
          </p:cNvPr>
          <p:cNvSpPr txBox="1">
            <a:spLocks/>
          </p:cNvSpPr>
          <p:nvPr/>
        </p:nvSpPr>
        <p:spPr>
          <a:xfrm>
            <a:off x="3931920" y="4767343"/>
            <a:ext cx="1945640" cy="48797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BE" sz="3200" err="1"/>
              <a:t>Socfin</a:t>
            </a:r>
            <a:endParaRPr lang="nl-BE" sz="3200"/>
          </a:p>
          <a:p>
            <a:endParaRPr lang="nl-BE" sz="2400"/>
          </a:p>
          <a:p>
            <a:endParaRPr lang="nl-BE" sz="2400"/>
          </a:p>
          <a:p>
            <a:endParaRPr lang="nl-BE" sz="240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13CECC7-80AC-6FA8-DCED-BD23D537808D}"/>
              </a:ext>
            </a:extLst>
          </p:cNvPr>
          <p:cNvSpPr txBox="1">
            <a:spLocks/>
          </p:cNvSpPr>
          <p:nvPr/>
        </p:nvSpPr>
        <p:spPr>
          <a:xfrm>
            <a:off x="8836660" y="4805235"/>
            <a:ext cx="1945640" cy="100764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BE" sz="3200"/>
              <a:t>Azië</a:t>
            </a:r>
          </a:p>
          <a:p>
            <a:endParaRPr lang="nl-BE" sz="2400"/>
          </a:p>
          <a:p>
            <a:endParaRPr lang="nl-BE" sz="2400"/>
          </a:p>
          <a:p>
            <a:endParaRPr lang="nl-BE" sz="2400"/>
          </a:p>
        </p:txBody>
      </p:sp>
    </p:spTree>
    <p:extLst>
      <p:ext uri="{BB962C8B-B14F-4D97-AF65-F5344CB8AC3E}">
        <p14:creationId xmlns:p14="http://schemas.microsoft.com/office/powerpoint/2010/main" val="3456899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1A86F-5B76-0BB6-9CB9-9E48128D5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F883F-2A47-B00C-6AB4-F884E031C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Geschiedenis</a:t>
            </a:r>
            <a:endParaRPr lang="en-BE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104CC-CAB6-A69A-BBDF-0C8C330612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ea typeface="+mn-lt"/>
                <a:cs typeface="+mn-lt"/>
              </a:rPr>
              <a:t>1972</a:t>
            </a:r>
            <a:r>
              <a:rPr lang="en-US">
                <a:ea typeface="+mn-lt"/>
                <a:cs typeface="+mn-lt"/>
              </a:rPr>
              <a:t>: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Oprichting</a:t>
            </a:r>
            <a:endParaRPr lang="en-US" sz="2400">
              <a:ea typeface="+mn-lt"/>
              <a:cs typeface="+mn-lt"/>
            </a:endParaRPr>
          </a:p>
          <a:p>
            <a:r>
              <a:rPr lang="en-US" b="1">
                <a:ea typeface="+mn-lt"/>
                <a:cs typeface="+mn-lt"/>
              </a:rPr>
              <a:t>1974</a:t>
            </a:r>
            <a:r>
              <a:rPr lang="en-US">
                <a:ea typeface="+mn-lt"/>
                <a:cs typeface="+mn-lt"/>
              </a:rPr>
              <a:t>: </a:t>
            </a:r>
            <a:r>
              <a:rPr lang="en-US" sz="2400" err="1">
                <a:ea typeface="+mn-lt"/>
                <a:cs typeface="+mn-lt"/>
              </a:rPr>
              <a:t>LuxSE</a:t>
            </a:r>
            <a:endParaRPr lang="en-US" sz="2400" err="1"/>
          </a:p>
          <a:p>
            <a:r>
              <a:rPr lang="en-US" sz="2400" b="1">
                <a:ea typeface="+mn-lt"/>
                <a:cs typeface="+mn-lt"/>
              </a:rPr>
              <a:t>2001: </a:t>
            </a:r>
            <a:r>
              <a:rPr lang="en-US" sz="2400">
                <a:ea typeface="+mn-lt"/>
                <a:cs typeface="+mn-lt"/>
              </a:rPr>
              <a:t>PNS Ltd </a:t>
            </a:r>
            <a:r>
              <a:rPr lang="en-US" sz="2400" err="1">
                <a:ea typeface="+mn-lt"/>
                <a:cs typeface="+mn-lt"/>
              </a:rPr>
              <a:t>heeft</a:t>
            </a:r>
            <a:r>
              <a:rPr lang="en-US" sz="2400">
                <a:ea typeface="+mn-lt"/>
                <a:cs typeface="+mn-lt"/>
              </a:rPr>
              <a:t> 30% van PT </a:t>
            </a:r>
            <a:r>
              <a:rPr lang="en-US" sz="2400" err="1">
                <a:ea typeface="+mn-lt"/>
                <a:cs typeface="+mn-lt"/>
              </a:rPr>
              <a:t>Socfindo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overgenomen</a:t>
            </a:r>
            <a:r>
              <a:rPr lang="en-US" sz="2400">
                <a:ea typeface="+mn-lt"/>
                <a:cs typeface="+mn-lt"/>
              </a:rPr>
              <a:t> van de </a:t>
            </a:r>
            <a:r>
              <a:rPr lang="en-US" sz="2400" err="1">
                <a:ea typeface="+mn-lt"/>
                <a:cs typeface="+mn-lt"/>
              </a:rPr>
              <a:t>Indonesische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overheid</a:t>
            </a:r>
            <a:r>
              <a:rPr lang="en-US" sz="2400">
                <a:ea typeface="+mn-lt"/>
                <a:cs typeface="+mn-lt"/>
              </a:rPr>
              <a:t>.</a:t>
            </a:r>
            <a:endParaRPr lang="en-US" sz="2400" b="1"/>
          </a:p>
          <a:p>
            <a:r>
              <a:rPr lang="en-US" sz="2400" b="1"/>
              <a:t>2007</a:t>
            </a:r>
            <a:r>
              <a:rPr lang="en-US" sz="2400"/>
              <a:t>: </a:t>
            </a:r>
            <a:r>
              <a:rPr lang="en-US" sz="2400" err="1">
                <a:ea typeface="+mn-lt"/>
                <a:cs typeface="+mn-lt"/>
              </a:rPr>
              <a:t>Incorporatie</a:t>
            </a:r>
            <a:r>
              <a:rPr lang="en-US" sz="2400">
                <a:ea typeface="+mn-lt"/>
                <a:cs typeface="+mn-lt"/>
              </a:rPr>
              <a:t> van </a:t>
            </a:r>
            <a:r>
              <a:rPr lang="en-US" sz="2400" err="1">
                <a:ea typeface="+mn-lt"/>
                <a:cs typeface="+mn-lt"/>
              </a:rPr>
              <a:t>Socfin</a:t>
            </a:r>
            <a:r>
              <a:rPr lang="en-US" sz="2400">
                <a:ea typeface="+mn-lt"/>
                <a:cs typeface="+mn-lt"/>
              </a:rPr>
              <a:t>-KCD (</a:t>
            </a:r>
            <a:r>
              <a:rPr lang="en-US" sz="2400" err="1">
                <a:ea typeface="+mn-lt"/>
                <a:cs typeface="+mn-lt"/>
              </a:rPr>
              <a:t>Cambodja</a:t>
            </a:r>
            <a:r>
              <a:rPr lang="en-US" sz="2400">
                <a:ea typeface="+mn-lt"/>
                <a:cs typeface="+mn-lt"/>
              </a:rPr>
              <a:t>)</a:t>
            </a:r>
          </a:p>
          <a:p>
            <a:r>
              <a:rPr lang="en-US" sz="2400" b="1"/>
              <a:t>2011</a:t>
            </a:r>
            <a:r>
              <a:rPr lang="en-US" sz="2400"/>
              <a:t>: </a:t>
            </a:r>
            <a:r>
              <a:rPr lang="en-US" sz="2400" err="1"/>
              <a:t>Aandelen</a:t>
            </a:r>
            <a:r>
              <a:rPr lang="en-US" sz="2400"/>
              <a:t> </a:t>
            </a:r>
            <a:r>
              <a:rPr lang="en-US" sz="2400" err="1"/>
              <a:t>gesplitst</a:t>
            </a:r>
            <a:r>
              <a:rPr lang="en-US" sz="2400"/>
              <a:t> in 20 </a:t>
            </a:r>
          </a:p>
          <a:p>
            <a:r>
              <a:rPr lang="en-US" sz="2400" b="1"/>
              <a:t>2015</a:t>
            </a:r>
            <a:r>
              <a:rPr lang="en-US" sz="2400"/>
              <a:t>: </a:t>
            </a:r>
            <a:r>
              <a:rPr lang="en-US" sz="2400" err="1">
                <a:ea typeface="+mn-lt"/>
                <a:cs typeface="+mn-lt"/>
              </a:rPr>
              <a:t>Aankoop</a:t>
            </a:r>
            <a:r>
              <a:rPr lang="en-US" sz="2400">
                <a:ea typeface="+mn-lt"/>
                <a:cs typeface="+mn-lt"/>
              </a:rPr>
              <a:t> van  </a:t>
            </a:r>
            <a:r>
              <a:rPr lang="en-US" sz="2400" err="1">
                <a:ea typeface="+mn-lt"/>
                <a:cs typeface="+mn-lt"/>
              </a:rPr>
              <a:t>resterende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aandelen</a:t>
            </a:r>
            <a:r>
              <a:rPr lang="en-US" sz="2400">
                <a:ea typeface="+mn-lt"/>
                <a:cs typeface="+mn-lt"/>
              </a:rPr>
              <a:t> in </a:t>
            </a:r>
            <a:r>
              <a:rPr lang="en-US" sz="2400" err="1">
                <a:ea typeface="+mn-lt"/>
                <a:cs typeface="+mn-lt"/>
              </a:rPr>
              <a:t>Socfin</a:t>
            </a:r>
            <a:r>
              <a:rPr lang="en-US" sz="2400">
                <a:ea typeface="+mn-lt"/>
                <a:cs typeface="+mn-lt"/>
              </a:rPr>
              <a:t>-KCD tot 100%.</a:t>
            </a:r>
            <a:endParaRPr lang="en-US" sz="2400"/>
          </a:p>
          <a:p>
            <a:r>
              <a:rPr lang="en-US" sz="2400" b="1"/>
              <a:t>2023</a:t>
            </a:r>
            <a:r>
              <a:rPr lang="en-US" sz="2400"/>
              <a:t>: </a:t>
            </a:r>
            <a:r>
              <a:rPr lang="en-US" sz="2400" err="1"/>
              <a:t>Moederholding</a:t>
            </a:r>
            <a:r>
              <a:rPr lang="en-US" sz="2400"/>
              <a:t> </a:t>
            </a:r>
            <a:r>
              <a:rPr lang="en-US" sz="2400" err="1"/>
              <a:t>Socfin</a:t>
            </a:r>
            <a:r>
              <a:rPr lang="en-US" sz="2400"/>
              <a:t> van </a:t>
            </a:r>
            <a:r>
              <a:rPr lang="en-US" sz="2400" err="1"/>
              <a:t>beurs</a:t>
            </a:r>
            <a:r>
              <a:rPr lang="en-US" sz="2400"/>
              <a:t> </a:t>
            </a:r>
            <a:r>
              <a:rPr lang="en-US" sz="2400" err="1"/>
              <a:t>gehaald</a:t>
            </a:r>
            <a:endParaRPr lang="en-US" sz="2400"/>
          </a:p>
          <a:p>
            <a:endParaRPr lang="en-US" sz="2400"/>
          </a:p>
          <a:p>
            <a:endParaRPr lang="en-US" sz="2400"/>
          </a:p>
          <a:p>
            <a:pPr marL="914400" lvl="2" indent="0">
              <a:buNone/>
            </a:pPr>
            <a:endParaRPr lang="en-US" sz="1600"/>
          </a:p>
          <a:p>
            <a:endParaRPr lang="en-US" sz="2400"/>
          </a:p>
          <a:p>
            <a:endParaRPr lang="en-US" sz="2400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endParaRPr lang="en-US"/>
          </a:p>
          <a:p>
            <a:endParaRPr lang="en-US"/>
          </a:p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780908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F1CB5-763E-94B2-74D8-616F879C5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60B46-867B-41B8-C81C-082CB8344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Management</a:t>
            </a:r>
            <a:endParaRPr lang="en-BE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DCAA9-F904-5AB6-BE60-4A96A15E29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337560" cy="316293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b="1" err="1">
                <a:ea typeface="+mn-lt"/>
                <a:cs typeface="+mn-lt"/>
              </a:rPr>
              <a:t>Hoofdzetel</a:t>
            </a:r>
            <a:endParaRPr lang="en-US" b="1">
              <a:ea typeface="+mn-lt"/>
              <a:cs typeface="+mn-lt"/>
            </a:endParaRPr>
          </a:p>
          <a:p>
            <a:pPr>
              <a:buFont typeface="Aptos" panose="020B0004020202020204" pitchFamily="34" charset="0"/>
              <a:buChar char="-"/>
            </a:pPr>
            <a:r>
              <a:rPr lang="en-US" sz="2400"/>
              <a:t>Luxemburg</a:t>
            </a:r>
          </a:p>
          <a:p>
            <a:r>
              <a:rPr lang="en-US" sz="3200" b="1">
                <a:ea typeface="+mn-lt"/>
                <a:cs typeface="+mn-lt"/>
              </a:rPr>
              <a:t>Shareholders</a:t>
            </a:r>
            <a:endParaRPr lang="en-US" sz="3500" b="1">
              <a:ea typeface="+mn-lt"/>
              <a:cs typeface="+mn-lt"/>
            </a:endParaRPr>
          </a:p>
          <a:p>
            <a:pPr>
              <a:buFont typeface="Aptos" panose="020B0004020202020204" pitchFamily="34" charset="0"/>
              <a:buChar char="-"/>
            </a:pPr>
            <a:r>
              <a:rPr lang="en-US" sz="2400" err="1">
                <a:ea typeface="+mn-lt"/>
                <a:cs typeface="+mn-lt"/>
              </a:rPr>
              <a:t>Socfin</a:t>
            </a:r>
            <a:r>
              <a:rPr lang="en-US" sz="2400">
                <a:ea typeface="+mn-lt"/>
                <a:cs typeface="+mn-lt"/>
              </a:rPr>
              <a:t> (58%)</a:t>
            </a:r>
          </a:p>
          <a:p>
            <a:pPr>
              <a:buFont typeface="Aptos" panose="020B0004020202020204" pitchFamily="34" charset="0"/>
              <a:buChar char="-"/>
            </a:pPr>
            <a:r>
              <a:rPr lang="en-US" sz="2400" err="1">
                <a:ea typeface="+mn-lt"/>
                <a:cs typeface="+mn-lt"/>
              </a:rPr>
              <a:t>Bollor</a:t>
            </a:r>
            <a:r>
              <a:rPr lang="nl-BE" sz="2400">
                <a:ea typeface="+mn-lt"/>
                <a:cs typeface="+mn-lt"/>
              </a:rPr>
              <a:t>é </a:t>
            </a:r>
            <a:r>
              <a:rPr lang="en-US" sz="2400">
                <a:ea typeface="+mn-lt"/>
                <a:cs typeface="+mn-lt"/>
              </a:rPr>
              <a:t>(22%)</a:t>
            </a:r>
          </a:p>
          <a:p>
            <a:pPr>
              <a:buFont typeface="Aptos" panose="020B0004020202020204" pitchFamily="34" charset="0"/>
              <a:buChar char="-"/>
            </a:pPr>
            <a:r>
              <a:rPr lang="en-US" sz="2400">
                <a:ea typeface="+mn-lt"/>
                <a:cs typeface="+mn-lt"/>
              </a:rPr>
              <a:t>Free float (20%)</a:t>
            </a:r>
          </a:p>
          <a:p>
            <a:pPr marL="0" indent="0">
              <a:buNone/>
            </a:pPr>
            <a:endParaRPr lang="en-US" sz="2400">
              <a:ea typeface="+mn-lt"/>
              <a:cs typeface="+mn-lt"/>
            </a:endParaRPr>
          </a:p>
          <a:p>
            <a:pPr marL="0" indent="0">
              <a:buNone/>
            </a:pPr>
            <a:endParaRPr lang="en-BE"/>
          </a:p>
        </p:txBody>
      </p:sp>
      <p:pic>
        <p:nvPicPr>
          <p:cNvPr id="2050" name="Picture 2" descr="Hubert Fabri, proche de Bolloré, acquitté à cause d'un faux procès-verbal |  L'Echo">
            <a:extLst>
              <a:ext uri="{FF2B5EF4-FFF2-40B4-BE49-F238E27FC236}">
                <a16:creationId xmlns:a16="http://schemas.microsoft.com/office/drawing/2014/main" id="{FD023C8C-A048-8A8D-11A6-B0F38682405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00" t="222" r="22834" b="7537"/>
          <a:stretch/>
        </p:blipFill>
        <p:spPr bwMode="auto">
          <a:xfrm>
            <a:off x="4867065" y="1825625"/>
            <a:ext cx="2127724" cy="207645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Bezoekers op je website identificeren ...">
            <a:extLst>
              <a:ext uri="{FF2B5EF4-FFF2-40B4-BE49-F238E27FC236}">
                <a16:creationId xmlns:a16="http://schemas.microsoft.com/office/drawing/2014/main" id="{7232F5D8-8A4F-6B92-30AC-9D9FA9E4F3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183" y="1825625"/>
            <a:ext cx="2200275" cy="207645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4144636-1EF9-90EF-80C9-E7FBEEC67A77}"/>
              </a:ext>
            </a:extLst>
          </p:cNvPr>
          <p:cNvSpPr txBox="1"/>
          <p:nvPr/>
        </p:nvSpPr>
        <p:spPr>
          <a:xfrm>
            <a:off x="4397878" y="4267200"/>
            <a:ext cx="30660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Vincent </a:t>
            </a:r>
            <a:r>
              <a:rPr lang="en-US" sz="3200" b="1" err="1"/>
              <a:t>Bollor</a:t>
            </a:r>
            <a:r>
              <a:rPr lang="nl-BE" sz="3200" b="1"/>
              <a:t>é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0BBD8A-333C-6039-D497-5F63740B2ECF}"/>
              </a:ext>
            </a:extLst>
          </p:cNvPr>
          <p:cNvSpPr txBox="1"/>
          <p:nvPr/>
        </p:nvSpPr>
        <p:spPr>
          <a:xfrm>
            <a:off x="7655560" y="4277360"/>
            <a:ext cx="25095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Hubert Fabri</a:t>
            </a:r>
            <a:endParaRPr lang="nl-BE" sz="3200" b="1"/>
          </a:p>
        </p:txBody>
      </p:sp>
    </p:spTree>
    <p:extLst>
      <p:ext uri="{BB962C8B-B14F-4D97-AF65-F5344CB8AC3E}">
        <p14:creationId xmlns:p14="http://schemas.microsoft.com/office/powerpoint/2010/main" val="537405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C30F3-727E-DEFC-215E-2751BBD85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Tijdelijke aanduiding voor inhoud 3" descr="Afbeelding met tekst, schermopname, diagram, Parallel&#10;&#10;Automatisch gegenereerde beschrijving">
            <a:extLst>
              <a:ext uri="{FF2B5EF4-FFF2-40B4-BE49-F238E27FC236}">
                <a16:creationId xmlns:a16="http://schemas.microsoft.com/office/drawing/2014/main" id="{CDC9AED9-6118-0607-B53F-4EA081C11A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7139" r="-3379"/>
          <a:stretch/>
        </p:blipFill>
        <p:spPr>
          <a:xfrm>
            <a:off x="1" y="1"/>
            <a:ext cx="12192000" cy="6858000"/>
          </a:xfr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5DF6D0F3-B675-9522-CCCC-01DF690B478A}"/>
              </a:ext>
            </a:extLst>
          </p:cNvPr>
          <p:cNvGrpSpPr/>
          <p:nvPr/>
        </p:nvGrpSpPr>
        <p:grpSpPr>
          <a:xfrm>
            <a:off x="5422463" y="4129546"/>
            <a:ext cx="1448674" cy="876481"/>
            <a:chOff x="5751776" y="4145578"/>
            <a:chExt cx="1429104" cy="860451"/>
          </a:xfrm>
        </p:grpSpPr>
        <p:sp>
          <p:nvSpPr>
            <p:cNvPr id="6" name="Tekstvak 5">
              <a:extLst>
                <a:ext uri="{FF2B5EF4-FFF2-40B4-BE49-F238E27FC236}">
                  <a16:creationId xmlns:a16="http://schemas.microsoft.com/office/drawing/2014/main" id="{8D7F8E38-26F7-A09E-45BD-51E53F6F6EDA}"/>
                </a:ext>
              </a:extLst>
            </p:cNvPr>
            <p:cNvSpPr txBox="1"/>
            <p:nvPr/>
          </p:nvSpPr>
          <p:spPr>
            <a:xfrm>
              <a:off x="5751776" y="4145578"/>
              <a:ext cx="1183453" cy="415498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FFFF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nl-NL" sz="1000" err="1">
                  <a:solidFill>
                    <a:schemeClr val="bg1"/>
                  </a:solidFill>
                </a:rPr>
                <a:t>Indonesian</a:t>
              </a:r>
              <a:endParaRPr lang="nl-NL" sz="1000">
                <a:solidFill>
                  <a:schemeClr val="bg1"/>
                </a:solidFill>
              </a:endParaRPr>
            </a:p>
            <a:p>
              <a:pPr algn="ctr"/>
              <a:r>
                <a:rPr lang="nl-NL" sz="1000" err="1">
                  <a:solidFill>
                    <a:schemeClr val="bg1"/>
                  </a:solidFill>
                </a:rPr>
                <a:t>government</a:t>
              </a:r>
              <a:endParaRPr lang="nl-NL" sz="1000">
                <a:solidFill>
                  <a:schemeClr val="bg1"/>
                </a:solidFill>
              </a:endParaRPr>
            </a:p>
          </p:txBody>
        </p:sp>
        <p:cxnSp>
          <p:nvCxnSpPr>
            <p:cNvPr id="7" name="Rechte verbindingslijn met pijl 6">
              <a:extLst>
                <a:ext uri="{FF2B5EF4-FFF2-40B4-BE49-F238E27FC236}">
                  <a16:creationId xmlns:a16="http://schemas.microsoft.com/office/drawing/2014/main" id="{37A1395D-D870-5CDA-F67D-5B8324944CDA}"/>
                </a:ext>
              </a:extLst>
            </p:cNvPr>
            <p:cNvCxnSpPr/>
            <p:nvPr/>
          </p:nvCxnSpPr>
          <p:spPr>
            <a:xfrm flipH="1">
              <a:off x="6344679" y="4544711"/>
              <a:ext cx="12359" cy="46131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" name="Tekstvak 7">
              <a:extLst>
                <a:ext uri="{FF2B5EF4-FFF2-40B4-BE49-F238E27FC236}">
                  <a16:creationId xmlns:a16="http://schemas.microsoft.com/office/drawing/2014/main" id="{920C0ABC-9558-8A3D-4F73-24BBECF83ED6}"/>
                </a:ext>
              </a:extLst>
            </p:cNvPr>
            <p:cNvSpPr txBox="1"/>
            <p:nvPr/>
          </p:nvSpPr>
          <p:spPr>
            <a:xfrm>
              <a:off x="6326303" y="4699701"/>
              <a:ext cx="854577" cy="2616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nl-NL" sz="1100"/>
                <a:t>10%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DD603646-40ED-8CF1-A844-6B84C41F491B}"/>
              </a:ext>
            </a:extLst>
          </p:cNvPr>
          <p:cNvGrpSpPr/>
          <p:nvPr/>
        </p:nvGrpSpPr>
        <p:grpSpPr>
          <a:xfrm>
            <a:off x="-5795428" y="0"/>
            <a:ext cx="6143198" cy="6857448"/>
            <a:chOff x="-598588" y="0"/>
            <a:chExt cx="6143198" cy="6857448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7A4A762-ADC4-63BA-093C-0E07FD15A33B}"/>
                </a:ext>
              </a:extLst>
            </p:cNvPr>
            <p:cNvSpPr txBox="1"/>
            <p:nvPr/>
          </p:nvSpPr>
          <p:spPr>
            <a:xfrm>
              <a:off x="-598588" y="0"/>
              <a:ext cx="3539188" cy="685744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nl-BE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8B1E690-AF16-1374-69CC-E1527DF4AD77}"/>
                </a:ext>
              </a:extLst>
            </p:cNvPr>
            <p:cNvSpPr txBox="1"/>
            <p:nvPr/>
          </p:nvSpPr>
          <p:spPr>
            <a:xfrm rot="5400000">
              <a:off x="2031598" y="-2630186"/>
              <a:ext cx="882825" cy="614319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nl-BE"/>
            </a:p>
          </p:txBody>
        </p:sp>
      </p:grpSp>
    </p:spTree>
    <p:extLst>
      <p:ext uri="{BB962C8B-B14F-4D97-AF65-F5344CB8AC3E}">
        <p14:creationId xmlns:p14="http://schemas.microsoft.com/office/powerpoint/2010/main" val="2740615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0A2ED-BBC6-512C-9045-736998EF3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Tijdelijke aanduiding voor inhoud 3" descr="Afbeelding met tekst, schermopname, diagram, Parallel&#10;&#10;Automatisch gegenereerde beschrijving">
            <a:extLst>
              <a:ext uri="{FF2B5EF4-FFF2-40B4-BE49-F238E27FC236}">
                <a16:creationId xmlns:a16="http://schemas.microsoft.com/office/drawing/2014/main" id="{2A720244-CEF8-C53D-7B1E-F360A0FBC9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29061" t="4722" r="-5064" b="19997"/>
          <a:stretch/>
        </p:blipFill>
        <p:spPr>
          <a:xfrm>
            <a:off x="-598588" y="552"/>
            <a:ext cx="12802921" cy="6865045"/>
          </a:xfr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FB62D691-1E72-C88E-9E93-9A6AF6027A6F}"/>
              </a:ext>
            </a:extLst>
          </p:cNvPr>
          <p:cNvGrpSpPr/>
          <p:nvPr/>
        </p:nvGrpSpPr>
        <p:grpSpPr>
          <a:xfrm>
            <a:off x="2971796" y="5044439"/>
            <a:ext cx="1872883" cy="1148878"/>
            <a:chOff x="5751776" y="4145578"/>
            <a:chExt cx="1483989" cy="826531"/>
          </a:xfrm>
        </p:grpSpPr>
        <p:sp>
          <p:nvSpPr>
            <p:cNvPr id="6" name="Tekstvak 5">
              <a:extLst>
                <a:ext uri="{FF2B5EF4-FFF2-40B4-BE49-F238E27FC236}">
                  <a16:creationId xmlns:a16="http://schemas.microsoft.com/office/drawing/2014/main" id="{06228968-A469-8797-E722-5676EDB2F12F}"/>
                </a:ext>
              </a:extLst>
            </p:cNvPr>
            <p:cNvSpPr txBox="1"/>
            <p:nvPr/>
          </p:nvSpPr>
          <p:spPr>
            <a:xfrm>
              <a:off x="5751776" y="4145578"/>
              <a:ext cx="1183453" cy="376417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FFFF00"/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nl-NL" sz="1400" err="1">
                  <a:solidFill>
                    <a:schemeClr val="bg1"/>
                  </a:solidFill>
                </a:rPr>
                <a:t>Indonesian</a:t>
              </a:r>
              <a:endParaRPr lang="nl-NL" sz="1400">
                <a:solidFill>
                  <a:schemeClr val="bg1"/>
                </a:solidFill>
              </a:endParaRPr>
            </a:p>
            <a:p>
              <a:pPr algn="ctr"/>
              <a:r>
                <a:rPr lang="nl-NL" sz="1400" err="1">
                  <a:solidFill>
                    <a:schemeClr val="bg1"/>
                  </a:solidFill>
                </a:rPr>
                <a:t>government</a:t>
              </a:r>
              <a:endParaRPr lang="nl-NL" sz="1400">
                <a:solidFill>
                  <a:schemeClr val="bg1"/>
                </a:solidFill>
              </a:endParaRPr>
            </a:p>
          </p:txBody>
        </p:sp>
        <p:cxnSp>
          <p:nvCxnSpPr>
            <p:cNvPr id="7" name="Rechte verbindingslijn met pijl 6">
              <a:extLst>
                <a:ext uri="{FF2B5EF4-FFF2-40B4-BE49-F238E27FC236}">
                  <a16:creationId xmlns:a16="http://schemas.microsoft.com/office/drawing/2014/main" id="{1181565B-C556-CD98-B5D7-11E38E90D843}"/>
                </a:ext>
              </a:extLst>
            </p:cNvPr>
            <p:cNvCxnSpPr/>
            <p:nvPr/>
          </p:nvCxnSpPr>
          <p:spPr>
            <a:xfrm flipH="1">
              <a:off x="6369113" y="4510791"/>
              <a:ext cx="12359" cy="46131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" name="Tekstvak 7">
              <a:extLst>
                <a:ext uri="{FF2B5EF4-FFF2-40B4-BE49-F238E27FC236}">
                  <a16:creationId xmlns:a16="http://schemas.microsoft.com/office/drawing/2014/main" id="{693BE6B1-8ADB-39C6-9032-AAD3AD0E61DC}"/>
                </a:ext>
              </a:extLst>
            </p:cNvPr>
            <p:cNvSpPr txBox="1"/>
            <p:nvPr/>
          </p:nvSpPr>
          <p:spPr>
            <a:xfrm>
              <a:off x="6381188" y="4706724"/>
              <a:ext cx="854577" cy="232493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nl-NL" sz="1500"/>
                <a:t>10%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571199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E38F5-2557-F929-2C60-2521BA020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E1A7DA-B512-15E8-AF9F-ED90DE029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>
                <a:solidFill>
                  <a:srgbClr val="244337"/>
                </a:solidFill>
                <a:latin typeface="Lato Black"/>
                <a:ea typeface="Lato Black"/>
                <a:cs typeface="Lato Black"/>
              </a:rPr>
              <a:t>Geografie </a:t>
            </a:r>
            <a:endParaRPr lang="nl-NL">
              <a:solidFill>
                <a:srgbClr val="000000"/>
              </a:solidFill>
              <a:latin typeface="Lato Black"/>
              <a:ea typeface="Lato Black"/>
              <a:cs typeface="Lato Black"/>
            </a:endParaRPr>
          </a:p>
        </p:txBody>
      </p:sp>
      <p:pic>
        <p:nvPicPr>
          <p:cNvPr id="7" name="Content Placeholder 6" descr="A map of indonesia and indonesia&#10;&#10;Description automatically generated">
            <a:extLst>
              <a:ext uri="{FF2B5EF4-FFF2-40B4-BE49-F238E27FC236}">
                <a16:creationId xmlns:a16="http://schemas.microsoft.com/office/drawing/2014/main" id="{7CDF458E-12E7-017C-A717-40120FBB20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967"/>
          <a:stretch/>
        </p:blipFill>
        <p:spPr>
          <a:xfrm>
            <a:off x="5759158" y="1622425"/>
            <a:ext cx="5367603" cy="3874135"/>
          </a:xfrm>
        </p:spPr>
      </p:pic>
      <p:pic>
        <p:nvPicPr>
          <p:cNvPr id="8" name="Content Placeholder 6" descr="A map of indonesia and indonesia&#10;&#10;Description automatically generated">
            <a:extLst>
              <a:ext uri="{FF2B5EF4-FFF2-40B4-BE49-F238E27FC236}">
                <a16:creationId xmlns:a16="http://schemas.microsoft.com/office/drawing/2014/main" id="{F4EAB838-FE39-B48D-C6F2-0E90D7BD01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82" r="65710"/>
          <a:stretch/>
        </p:blipFill>
        <p:spPr>
          <a:xfrm>
            <a:off x="5759157" y="4328159"/>
            <a:ext cx="1840523" cy="1645603"/>
          </a:xfrm>
          <a:prstGeom prst="rect">
            <a:avLst/>
          </a:prstGeom>
        </p:spPr>
      </p:pic>
      <p:sp>
        <p:nvSpPr>
          <p:cNvPr id="9" name="Tijdelijke aanduiding voor inhoud 2">
            <a:extLst>
              <a:ext uri="{FF2B5EF4-FFF2-40B4-BE49-F238E27FC236}">
                <a16:creationId xmlns:a16="http://schemas.microsoft.com/office/drawing/2014/main" id="{34A1CF98-11D6-1852-1785-BC110193A8B0}"/>
              </a:ext>
            </a:extLst>
          </p:cNvPr>
          <p:cNvSpPr txBox="1">
            <a:spLocks/>
          </p:cNvSpPr>
          <p:nvPr/>
        </p:nvSpPr>
        <p:spPr>
          <a:xfrm>
            <a:off x="838200" y="1622425"/>
            <a:ext cx="10515600" cy="45545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nl-NL" sz="1000">
              <a:ea typeface="+mn-lt"/>
              <a:cs typeface="+mn-lt"/>
            </a:endParaRPr>
          </a:p>
          <a:p>
            <a:r>
              <a:rPr lang="nl-NL" sz="3200" b="1">
                <a:ea typeface="+mn-lt"/>
                <a:cs typeface="+mn-lt"/>
              </a:rPr>
              <a:t>Productie</a:t>
            </a:r>
          </a:p>
          <a:p>
            <a:pPr marL="0" indent="0">
              <a:buNone/>
            </a:pPr>
            <a:r>
              <a:rPr lang="nl-NL" sz="2600" b="1">
                <a:ea typeface="+mn-lt"/>
                <a:cs typeface="+mn-lt"/>
              </a:rPr>
              <a:t>	</a:t>
            </a:r>
            <a:r>
              <a:rPr lang="nl-NL" sz="2600">
                <a:ea typeface="+mn-lt"/>
                <a:cs typeface="+mn-lt"/>
              </a:rPr>
              <a:t>- Zie afbeelding</a:t>
            </a:r>
          </a:p>
          <a:p>
            <a:r>
              <a:rPr lang="nl-NL" sz="3200" b="1">
                <a:ea typeface="+mn-lt"/>
                <a:cs typeface="+mn-lt"/>
              </a:rPr>
              <a:t>Afzetmarkten</a:t>
            </a:r>
          </a:p>
          <a:p>
            <a:pPr marL="0" indent="0">
              <a:buNone/>
            </a:pPr>
            <a:r>
              <a:rPr lang="nl-NL" sz="2600" b="1">
                <a:ea typeface="+mn-lt"/>
                <a:cs typeface="+mn-lt"/>
              </a:rPr>
              <a:t>	</a:t>
            </a:r>
            <a:r>
              <a:rPr lang="nl-NL" sz="2600">
                <a:ea typeface="+mn-lt"/>
                <a:cs typeface="+mn-lt"/>
              </a:rPr>
              <a:t>- </a:t>
            </a:r>
            <a:r>
              <a:rPr lang="nl-NL" sz="2400" err="1">
                <a:ea typeface="+mn-lt"/>
                <a:cs typeface="+mn-lt"/>
              </a:rPr>
              <a:t>Nestl</a:t>
            </a:r>
            <a:r>
              <a:rPr lang="nl-BE" sz="2400">
                <a:ea typeface="+mn-lt"/>
                <a:cs typeface="+mn-lt"/>
              </a:rPr>
              <a:t>é</a:t>
            </a:r>
            <a:r>
              <a:rPr lang="en-US" sz="2400">
                <a:ea typeface="+mn-lt"/>
                <a:cs typeface="+mn-lt"/>
              </a:rPr>
              <a:t>, Unilever, …</a:t>
            </a:r>
            <a:endParaRPr lang="nl-NL" sz="2400">
              <a:ea typeface="+mn-lt"/>
              <a:cs typeface="+mn-lt"/>
            </a:endParaRPr>
          </a:p>
          <a:p>
            <a:r>
              <a:rPr lang="nl-NL" sz="3200" b="1" err="1">
                <a:ea typeface="+mn-lt"/>
                <a:cs typeface="+mn-lt"/>
              </a:rPr>
              <a:t>Socfindo</a:t>
            </a:r>
            <a:endParaRPr lang="nl-NL" sz="3200" b="1">
              <a:ea typeface="+mn-lt"/>
              <a:cs typeface="+mn-lt"/>
            </a:endParaRPr>
          </a:p>
          <a:p>
            <a:pPr marL="0" indent="0">
              <a:buNone/>
            </a:pPr>
            <a:r>
              <a:rPr lang="nl-NL" sz="3200" b="1">
                <a:ea typeface="+mn-lt"/>
                <a:cs typeface="+mn-lt"/>
              </a:rPr>
              <a:t>	</a:t>
            </a:r>
            <a:r>
              <a:rPr lang="nl-NL" sz="2400">
                <a:ea typeface="+mn-lt"/>
                <a:cs typeface="+mn-lt"/>
              </a:rPr>
              <a:t>- 90+% omzet</a:t>
            </a:r>
            <a:endParaRPr lang="nl-NL" sz="3600"/>
          </a:p>
        </p:txBody>
      </p:sp>
    </p:spTree>
    <p:extLst>
      <p:ext uri="{BB962C8B-B14F-4D97-AF65-F5344CB8AC3E}">
        <p14:creationId xmlns:p14="http://schemas.microsoft.com/office/powerpoint/2010/main" val="13955645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05D69-A7E9-9EF4-304A-C3A32801F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58348-7869-2802-6F27-08F5BABD7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Bedrijfsactiviteiten</a:t>
            </a:r>
            <a:endParaRPr lang="en-BE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5C5D1-E5A0-00B3-8D84-F48881F18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b="1" err="1">
                <a:ea typeface="+mn-lt"/>
                <a:cs typeface="+mn-lt"/>
              </a:rPr>
              <a:t>Palmolieproductie</a:t>
            </a:r>
            <a:endParaRPr lang="nl-NL" sz="2000">
              <a:ea typeface="+mn-lt"/>
              <a:cs typeface="+mn-lt"/>
            </a:endParaRPr>
          </a:p>
          <a:p>
            <a:pPr lvl="1">
              <a:buFont typeface="Aptos" panose="020B0004020202020204" pitchFamily="34" charset="0"/>
              <a:buChar char="-"/>
            </a:pPr>
            <a:r>
              <a:rPr lang="en-US" sz="1800">
                <a:ea typeface="+mn-lt"/>
                <a:cs typeface="+mn-lt"/>
              </a:rPr>
              <a:t>Ruwe </a:t>
            </a:r>
            <a:r>
              <a:rPr lang="en-US" sz="1800" err="1">
                <a:ea typeface="+mn-lt"/>
                <a:cs typeface="+mn-lt"/>
              </a:rPr>
              <a:t>palmolie</a:t>
            </a:r>
            <a:r>
              <a:rPr lang="en-US" sz="1800">
                <a:ea typeface="+mn-lt"/>
                <a:cs typeface="+mn-lt"/>
              </a:rPr>
              <a:t> (CPO)</a:t>
            </a:r>
          </a:p>
          <a:p>
            <a:pPr lvl="1">
              <a:buFont typeface="Aptos" panose="020B0004020202020204" pitchFamily="34" charset="0"/>
              <a:buChar char="-"/>
            </a:pPr>
            <a:r>
              <a:rPr lang="en-US" sz="1800">
                <a:ea typeface="+mn-lt"/>
                <a:cs typeface="+mn-lt"/>
              </a:rPr>
              <a:t>Palm kernel oil (PKO)</a:t>
            </a:r>
          </a:p>
          <a:p>
            <a:r>
              <a:rPr lang="en-US" sz="2000" b="1" err="1">
                <a:ea typeface="+mn-lt"/>
                <a:cs typeface="+mn-lt"/>
              </a:rPr>
              <a:t>Rubberproductie</a:t>
            </a:r>
            <a:endParaRPr lang="en-US" sz="2000">
              <a:ea typeface="+mn-lt"/>
              <a:cs typeface="+mn-lt"/>
            </a:endParaRPr>
          </a:p>
          <a:p>
            <a:pPr lvl="1">
              <a:buFont typeface="Aptos" panose="020B0004020202020204" pitchFamily="34" charset="0"/>
              <a:buChar char="-"/>
            </a:pPr>
            <a:r>
              <a:rPr lang="en-US" sz="1800" err="1">
                <a:ea typeface="+mn-lt"/>
                <a:cs typeface="+mn-lt"/>
              </a:rPr>
              <a:t>Natuurrubber</a:t>
            </a:r>
            <a:r>
              <a:rPr lang="en-US" sz="1800">
                <a:ea typeface="+mn-lt"/>
                <a:cs typeface="+mn-lt"/>
              </a:rPr>
              <a:t> (latex </a:t>
            </a:r>
            <a:r>
              <a:rPr lang="en-US" sz="1800" err="1">
                <a:ea typeface="+mn-lt"/>
                <a:cs typeface="+mn-lt"/>
              </a:rPr>
              <a:t>en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droge</a:t>
            </a:r>
            <a:r>
              <a:rPr lang="en-US" sz="1800">
                <a:ea typeface="+mn-lt"/>
                <a:cs typeface="+mn-lt"/>
              </a:rPr>
              <a:t> rubber)</a:t>
            </a:r>
          </a:p>
          <a:p>
            <a:r>
              <a:rPr lang="en-US" sz="2400" b="1" err="1">
                <a:ea typeface="+mn-lt"/>
                <a:cs typeface="+mn-lt"/>
              </a:rPr>
              <a:t>Duurzaamheidsdiensten</a:t>
            </a:r>
            <a:endParaRPr lang="en-US" sz="2000">
              <a:ea typeface="+mn-lt"/>
              <a:cs typeface="+mn-lt"/>
            </a:endParaRPr>
          </a:p>
          <a:p>
            <a:pPr lvl="1">
              <a:buFont typeface="Aptos" panose="020B0004020202020204" pitchFamily="34" charset="0"/>
              <a:buChar char="-"/>
            </a:pPr>
            <a:r>
              <a:rPr lang="en-US" sz="1800">
                <a:ea typeface="+mn-lt"/>
                <a:cs typeface="+mn-lt"/>
              </a:rPr>
              <a:t>Sociale </a:t>
            </a:r>
            <a:r>
              <a:rPr lang="en-US" sz="1800" err="1">
                <a:ea typeface="+mn-lt"/>
                <a:cs typeface="+mn-lt"/>
              </a:rPr>
              <a:t>en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ecologische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projecten</a:t>
            </a:r>
            <a:r>
              <a:rPr lang="en-US" sz="1800">
                <a:ea typeface="+mn-lt"/>
                <a:cs typeface="+mn-lt"/>
              </a:rPr>
              <a:t> in </a:t>
            </a:r>
            <a:r>
              <a:rPr lang="en-US" sz="1800" err="1">
                <a:ea typeface="+mn-lt"/>
                <a:cs typeface="+mn-lt"/>
              </a:rPr>
              <a:t>lokale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gemeenschappen</a:t>
            </a:r>
            <a:endParaRPr lang="en-US" sz="1800">
              <a:ea typeface="+mn-lt"/>
              <a:cs typeface="+mn-lt"/>
            </a:endParaRPr>
          </a:p>
          <a:p>
            <a:pPr lvl="1">
              <a:buFont typeface="Aptos" panose="020B0004020202020204" pitchFamily="34" charset="0"/>
              <a:buChar char="-"/>
            </a:pPr>
            <a:r>
              <a:rPr lang="en-US" sz="1800" err="1">
                <a:ea typeface="+mn-lt"/>
                <a:cs typeface="+mn-lt"/>
              </a:rPr>
              <a:t>Certificeringen</a:t>
            </a:r>
            <a:r>
              <a:rPr lang="en-US" sz="1800">
                <a:ea typeface="+mn-lt"/>
                <a:cs typeface="+mn-lt"/>
              </a:rPr>
              <a:t> (</a:t>
            </a:r>
            <a:r>
              <a:rPr lang="en-US" sz="1800" err="1">
                <a:ea typeface="+mn-lt"/>
                <a:cs typeface="+mn-lt"/>
              </a:rPr>
              <a:t>bijv</a:t>
            </a:r>
            <a:r>
              <a:rPr lang="en-US" sz="1800">
                <a:ea typeface="+mn-lt"/>
                <a:cs typeface="+mn-lt"/>
              </a:rPr>
              <a:t>. RSPO, FSC) </a:t>
            </a:r>
            <a:r>
              <a:rPr lang="en-US" sz="1800" err="1">
                <a:ea typeface="+mn-lt"/>
                <a:cs typeface="+mn-lt"/>
              </a:rPr>
              <a:t>voor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duurzame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productie</a:t>
            </a:r>
            <a:endParaRPr lang="en-US" sz="1800">
              <a:ea typeface="+mn-lt"/>
              <a:cs typeface="+mn-lt"/>
            </a:endParaRPr>
          </a:p>
          <a:p>
            <a:r>
              <a:rPr lang="en-US" sz="2400" b="1"/>
              <a:t>Audits</a:t>
            </a:r>
            <a:endParaRPr lang="en-US" sz="2000" b="1"/>
          </a:p>
          <a:p>
            <a:pPr>
              <a:buAutoNum type="arabicPeriod"/>
            </a:pPr>
            <a:endParaRPr lang="en-BE" sz="2000"/>
          </a:p>
        </p:txBody>
      </p:sp>
    </p:spTree>
    <p:extLst>
      <p:ext uri="{BB962C8B-B14F-4D97-AF65-F5344CB8AC3E}">
        <p14:creationId xmlns:p14="http://schemas.microsoft.com/office/powerpoint/2010/main" val="25591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Tijdelijke aanduiding voor inhoud 3" descr="Afbeelding met tekst, diagram, lijn, Parallel&#10;&#10;Automatisch gegenereerde beschrijving">
            <a:extLst>
              <a:ext uri="{FF2B5EF4-FFF2-40B4-BE49-F238E27FC236}">
                <a16:creationId xmlns:a16="http://schemas.microsoft.com/office/drawing/2014/main" id="{212B50EF-820D-A26A-4104-E80B9FC751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5282" y="1614043"/>
            <a:ext cx="7849339" cy="4545164"/>
          </a:xfr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C72DE8B-F107-9D47-B9D1-390885850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7641"/>
          </a:xfrm>
        </p:spPr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/>
                <a:ea typeface="Lato Black"/>
                <a:cs typeface="Lato Black"/>
              </a:rPr>
              <a:t>Palmolie</a:t>
            </a:r>
            <a:endParaRPr lang="en-BE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5909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EA37A-043D-16E7-82FF-68EF91286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11AD7-D5C3-0F29-423B-B7A5860D1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/>
                <a:ea typeface="Lato Black"/>
                <a:cs typeface="Lato Black"/>
              </a:rPr>
              <a:t>Peers: </a:t>
            </a:r>
            <a:r>
              <a:rPr lang="nl-BE" err="1">
                <a:solidFill>
                  <a:srgbClr val="244337"/>
                </a:solidFill>
                <a:latin typeface="Lato Black"/>
                <a:ea typeface="Lato Black"/>
                <a:cs typeface="Lato Black"/>
              </a:rPr>
              <a:t>Sipef</a:t>
            </a:r>
            <a:endParaRPr lang="en-BE">
              <a:solidFill>
                <a:srgbClr val="244337"/>
              </a:solidFill>
              <a:latin typeface="Lato Black"/>
              <a:ea typeface="Lato Black"/>
              <a:cs typeface="Lato Black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65350-F6E7-2B0A-0064-CF1551BF92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/>
            <a:r>
              <a:rPr lang="nl-NL" sz="2400" b="1"/>
              <a:t>  Slechtere technologieën</a:t>
            </a:r>
            <a:endParaRPr lang="en-US"/>
          </a:p>
          <a:p>
            <a:pPr>
              <a:buFont typeface="Aptos" panose="020B0004020202020204" pitchFamily="34" charset="0"/>
              <a:buChar char="-"/>
            </a:pPr>
            <a:r>
              <a:rPr lang="nl-NL" sz="1800"/>
              <a:t>Komt pas in 2029</a:t>
            </a:r>
          </a:p>
          <a:p>
            <a:r>
              <a:rPr lang="nl-NL" sz="2400" b="1"/>
              <a:t>Bredere productdiversificatie</a:t>
            </a:r>
          </a:p>
          <a:p>
            <a:r>
              <a:rPr lang="nl-NL" sz="2400" b="1"/>
              <a:t>Biedt geen consultancy</a:t>
            </a:r>
          </a:p>
          <a:p>
            <a:r>
              <a:rPr lang="nl-NL" sz="2400" b="1"/>
              <a:t>Grotere nadruk op duurzaam beheer</a:t>
            </a:r>
          </a:p>
          <a:p>
            <a:r>
              <a:rPr lang="nl-NL" sz="2400" b="1"/>
              <a:t>Vulkaan </a:t>
            </a:r>
            <a:r>
              <a:rPr lang="nl-NL" sz="2400" b="1" err="1"/>
              <a:t>Ulawun</a:t>
            </a:r>
            <a:r>
              <a:rPr lang="nl-NL" sz="2400" b="1"/>
              <a:t> -&gt; probleem</a:t>
            </a:r>
          </a:p>
          <a:p>
            <a:endParaRPr lang="nl-NL" sz="1600"/>
          </a:p>
          <a:p>
            <a:endParaRPr lang="nl-NL" sz="1600"/>
          </a:p>
        </p:txBody>
      </p:sp>
      <p:pic>
        <p:nvPicPr>
          <p:cNvPr id="3076" name="Picture 4" descr="SIPEF SVG Logo download for free - PNG/EPS/PDF/CDR/AI format download -  FreeSvgLogo.com">
            <a:extLst>
              <a:ext uri="{FF2B5EF4-FFF2-40B4-BE49-F238E27FC236}">
                <a16:creationId xmlns:a16="http://schemas.microsoft.com/office/drawing/2014/main" id="{089BA512-7D64-52A4-8155-750930FD02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2079" y="1625600"/>
            <a:ext cx="3185795" cy="2612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07860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7B701-1896-52D5-6804-F45690CAB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FF5D7-3752-90E2-3D89-DE38C2E75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SWOT-analyse</a:t>
            </a:r>
            <a:endParaRPr lang="en-BE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graphicFrame>
        <p:nvGraphicFramePr>
          <p:cNvPr id="10" name="Tijdelijke aanduiding voor inhoud 9">
            <a:extLst>
              <a:ext uri="{FF2B5EF4-FFF2-40B4-BE49-F238E27FC236}">
                <a16:creationId xmlns:a16="http://schemas.microsoft.com/office/drawing/2014/main" id="{F4113CFB-D840-8F62-5244-E9F156AE58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0994836"/>
              </p:ext>
            </p:extLst>
          </p:nvPr>
        </p:nvGraphicFramePr>
        <p:xfrm>
          <a:off x="838200" y="1428132"/>
          <a:ext cx="10515600" cy="45753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92316084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00671685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75770573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390905429"/>
                    </a:ext>
                  </a:extLst>
                </a:gridCol>
              </a:tblGrid>
              <a:tr h="460574">
                <a:tc>
                  <a:txBody>
                    <a:bodyPr/>
                    <a:lstStyle/>
                    <a:p>
                      <a:r>
                        <a:rPr lang="nl-NL"/>
                        <a:t>Zwaktes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443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/>
                        <a:t>Sterktes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443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/>
                        <a:t>Kansen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443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/>
                        <a:t>Bedreigingen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443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462150"/>
                  </a:ext>
                </a:extLst>
              </a:tr>
              <a:tr h="3709454">
                <a:tc>
                  <a:txBody>
                    <a:bodyPr/>
                    <a:lstStyle/>
                    <a:p>
                      <a:pPr marL="285750" lvl="0" indent="-285750" algn="l">
                        <a:lnSpc>
                          <a:spcPct val="100000"/>
                        </a:lnSpc>
                        <a:buFont typeface="Calibri"/>
                        <a:buChar char="-"/>
                      </a:pPr>
                      <a:r>
                        <a:rPr lang="nl-NL" sz="2400" b="0" i="0" u="none" strike="noStrike" baseline="0" noProof="0">
                          <a:solidFill>
                            <a:srgbClr val="000000"/>
                          </a:solidFill>
                          <a:latin typeface="Aptos"/>
                        </a:rPr>
                        <a:t>Innovatie is moeilijk.</a:t>
                      </a:r>
                      <a:endParaRPr lang="nl-NL" sz="2400"/>
                    </a:p>
                    <a:p>
                      <a:pPr marL="285750" lvl="0" indent="-285750">
                        <a:buFont typeface="Calibri"/>
                        <a:buChar char="-"/>
                      </a:pPr>
                      <a:r>
                        <a:rPr lang="nl-NL" sz="2400" b="0" i="0" u="none" strike="noStrike" baseline="0" noProof="0">
                          <a:solidFill>
                            <a:srgbClr val="000000"/>
                          </a:solidFill>
                          <a:latin typeface="Aptos"/>
                        </a:rPr>
                        <a:t>Klimaatafhankelijk. </a:t>
                      </a:r>
                      <a:endParaRPr lang="nl-NL" sz="2400"/>
                    </a:p>
                    <a:p>
                      <a:pPr marL="285750" lvl="0" indent="-285750">
                        <a:buFont typeface="Calibri"/>
                        <a:buChar char="-"/>
                      </a:pPr>
                      <a:r>
                        <a:rPr lang="nl-NL" sz="2400" b="0" i="0" u="none" strike="noStrike" baseline="0" noProof="0">
                          <a:solidFill>
                            <a:srgbClr val="000000"/>
                          </a:solidFill>
                          <a:latin typeface="Aptos"/>
                        </a:rPr>
                        <a:t>Controverses arbeidsrechten en ontbossing.</a:t>
                      </a:r>
                      <a:endParaRPr lang="nl-NL" sz="2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alibri"/>
                        <a:buChar char="-"/>
                      </a:pPr>
                      <a:r>
                        <a:rPr lang="nl-NL" sz="2400" b="0" i="0" u="none" strike="noStrike" noProof="0">
                          <a:latin typeface="Aptos"/>
                        </a:rPr>
                        <a:t>Diversificatie </a:t>
                      </a:r>
                      <a:endParaRPr lang="nl-NL" sz="240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alibri"/>
                        <a:buChar char="-"/>
                      </a:pPr>
                      <a:r>
                        <a:rPr lang="nl-NL" sz="2400" b="0" i="0" u="none" strike="noStrike" noProof="0">
                          <a:latin typeface="Aptos"/>
                        </a:rPr>
                        <a:t>Grote expertise</a:t>
                      </a:r>
                      <a:endParaRPr lang="nl-NL" sz="240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alibri"/>
                        <a:buChar char="-"/>
                      </a:pPr>
                      <a:r>
                        <a:rPr lang="nl-NL" sz="2400" b="0" i="0" u="none" strike="noStrike" noProof="0">
                          <a:latin typeface="Aptos"/>
                        </a:rPr>
                        <a:t>Genetisch gemodificeerde planten, hogere rendementen</a:t>
                      </a:r>
                      <a:endParaRPr lang="nl-NL" sz="2400"/>
                    </a:p>
                    <a:p>
                      <a:pPr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2400" b="0" i="0" u="none" strike="noStrike" noProof="0">
                          <a:latin typeface="Aptos"/>
                        </a:rPr>
                        <a:t>-   Sterke groep.</a:t>
                      </a:r>
                      <a:endParaRPr lang="nl-NL" sz="240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Calibri"/>
                        <a:buChar char="-"/>
                      </a:pPr>
                      <a:r>
                        <a:rPr lang="nl-NL" sz="2400" b="0" i="0" u="none" strike="noStrike" noProof="0">
                          <a:latin typeface="Aptos"/>
                        </a:rPr>
                        <a:t>Palmolie heeft meeste omzet /ha</a:t>
                      </a:r>
                      <a:endParaRPr lang="nl-NL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lnSpc>
                          <a:spcPct val="100000"/>
                        </a:lnSpc>
                        <a:buFont typeface="Calibri"/>
                        <a:buChar char="-"/>
                      </a:pPr>
                      <a:r>
                        <a:rPr lang="nl-NL" sz="2400" b="0" i="0" u="none" strike="noStrike" baseline="0" noProof="0">
                          <a:solidFill>
                            <a:srgbClr val="000000"/>
                          </a:solidFill>
                          <a:latin typeface="Aptos"/>
                        </a:rPr>
                        <a:t>Groeiende vraag naar palmolie.</a:t>
                      </a:r>
                      <a:endParaRPr lang="nl-NL" sz="240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buFont typeface="Calibri"/>
                        <a:buChar char="-"/>
                      </a:pPr>
                      <a:r>
                        <a:rPr lang="nl-NL" sz="2400"/>
                        <a:t>Trump </a:t>
                      </a:r>
                      <a:r>
                        <a:rPr lang="nl-NL" sz="2400" b="0" i="0" u="none" strike="noStrike" baseline="0" noProof="0">
                          <a:solidFill>
                            <a:srgbClr val="000000"/>
                          </a:solidFill>
                          <a:latin typeface="Aptos"/>
                        </a:rPr>
                        <a:t>(Meer fosiel?)</a:t>
                      </a:r>
                      <a:endParaRPr lang="nl-NL" sz="2400"/>
                    </a:p>
                    <a:p>
                      <a:pPr marL="285750" lvl="0" indent="-285750">
                        <a:buFont typeface="Calibri"/>
                        <a:buChar char="-"/>
                      </a:pPr>
                      <a:r>
                        <a:rPr lang="nl-NL" sz="2400" b="0" i="0" u="none" strike="noStrike" baseline="0" noProof="0">
                          <a:solidFill>
                            <a:srgbClr val="000000"/>
                          </a:solidFill>
                          <a:latin typeface="Aptos"/>
                        </a:rPr>
                        <a:t>Efficiëntie verhogen</a:t>
                      </a:r>
                    </a:p>
                    <a:p>
                      <a:pPr marL="285750" lvl="0" indent="-285750">
                        <a:buFont typeface="Calibri"/>
                        <a:buChar char="-"/>
                      </a:pPr>
                      <a:r>
                        <a:rPr lang="nl-NL" sz="2400" b="0" i="0" u="none" strike="noStrike" baseline="0" noProof="0">
                          <a:solidFill>
                            <a:srgbClr val="000000"/>
                          </a:solidFill>
                          <a:latin typeface="Aptos"/>
                        </a:rPr>
                        <a:t>Groei per capita 16-21kg EM -&gt; 67kg</a:t>
                      </a:r>
                    </a:p>
                    <a:p>
                      <a:pPr marL="285750" lvl="0" indent="-285750">
                        <a:buFont typeface="Calibri"/>
                        <a:buChar char="-"/>
                      </a:pPr>
                      <a:r>
                        <a:rPr lang="nl-NL" sz="2400" b="0" i="0" u="none" strike="noStrike" baseline="0" noProof="0">
                          <a:solidFill>
                            <a:srgbClr val="000000"/>
                          </a:solidFill>
                          <a:latin typeface="Aptos"/>
                        </a:rPr>
                        <a:t>China &amp; India 37%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lnSpc>
                          <a:spcPct val="100000"/>
                        </a:lnSpc>
                        <a:buFont typeface="Calibri"/>
                        <a:buChar char="-"/>
                      </a:pPr>
                      <a:r>
                        <a:rPr lang="nl-NL" sz="2400" b="0" i="0" u="none" strike="noStrike" baseline="0" noProof="0">
                          <a:solidFill>
                            <a:srgbClr val="000000"/>
                          </a:solidFill>
                          <a:latin typeface="Aptos"/>
                        </a:rPr>
                        <a:t>Toenemende milieueisen </a:t>
                      </a:r>
                      <a:endParaRPr lang="nl-NL" sz="240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buFont typeface="Calibri"/>
                        <a:buChar char="-"/>
                      </a:pPr>
                      <a:r>
                        <a:rPr lang="nl-NL" sz="2400" b="0" i="0" u="none" strike="noStrike" baseline="0" noProof="0">
                          <a:solidFill>
                            <a:srgbClr val="000000"/>
                          </a:solidFill>
                          <a:latin typeface="Aptos"/>
                        </a:rPr>
                        <a:t>Volatiele grondstofprijzen</a:t>
                      </a:r>
                      <a:endParaRPr lang="nl-NL" sz="240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buFont typeface="Calibri"/>
                        <a:buChar char="-"/>
                      </a:pPr>
                      <a:r>
                        <a:rPr lang="nl-NL" sz="2400" b="0" i="0" u="none" strike="noStrike" baseline="0" noProof="0">
                          <a:solidFill>
                            <a:srgbClr val="000000"/>
                          </a:solidFill>
                          <a:latin typeface="Aptos"/>
                        </a:rPr>
                        <a:t>Klimaatopwarming</a:t>
                      </a:r>
                      <a:endParaRPr lang="nl-NL" sz="2400"/>
                    </a:p>
                    <a:p>
                      <a:pPr marL="285750" lvl="0" indent="-285750">
                        <a:buFont typeface="Calibri"/>
                        <a:buChar char="-"/>
                      </a:pPr>
                      <a:r>
                        <a:rPr lang="nl-NL" sz="2400" b="0" i="0" u="none" strike="noStrike" baseline="0" noProof="0">
                          <a:solidFill>
                            <a:srgbClr val="000000"/>
                          </a:solidFill>
                          <a:latin typeface="Aptos"/>
                        </a:rPr>
                        <a:t>Conflicten landbezit</a:t>
                      </a:r>
                      <a:endParaRPr lang="nl-NL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95725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13474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6678B-293D-C231-8AC9-3479013F9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E324A-03B7-1480-BAA7-333D598AA45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3200" b="1"/>
              <a:t>Afrika</a:t>
            </a:r>
          </a:p>
          <a:p>
            <a:endParaRPr lang="nl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45D0CE-945C-BFBC-7F40-38C2D0709F9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3200" b="1" err="1"/>
              <a:t>Azië</a:t>
            </a:r>
            <a:endParaRPr lang="nl-BE" sz="3200" b="1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EC45974-4194-1836-70BF-DAE69D2FE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7641"/>
          </a:xfrm>
        </p:spPr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En </a:t>
            </a:r>
            <a:r>
              <a:rPr lang="nl-BE" err="1">
                <a:solidFill>
                  <a:srgbClr val="244337"/>
                </a:solidFill>
                <a:latin typeface="Lato Black" panose="020F0A02020204030203" pitchFamily="34" charset="0"/>
              </a:rPr>
              <a:t>Socfinaf</a:t>
            </a:r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?</a:t>
            </a:r>
            <a:endParaRPr lang="en-BE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pic>
        <p:nvPicPr>
          <p:cNvPr id="7" name="Picture 6" descr="A person driving a green race car&#10;&#10;Description automatically generated">
            <a:extLst>
              <a:ext uri="{FF2B5EF4-FFF2-40B4-BE49-F238E27FC236}">
                <a16:creationId xmlns:a16="http://schemas.microsoft.com/office/drawing/2014/main" id="{B488F294-C098-E43E-F3E1-CE6DA88037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673" y="2454313"/>
            <a:ext cx="2642647" cy="23970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98CDFB-D083-C696-1AA1-00DB253BFE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673" y="5046738"/>
            <a:ext cx="5181601" cy="959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5764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F7F78-FD26-02C6-39BA-090CA7B2A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21D20-4423-C7DE-E7E6-D52598BDC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Financials</a:t>
            </a:r>
            <a:endParaRPr lang="en-BE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pic>
        <p:nvPicPr>
          <p:cNvPr id="3" name="Afbeelding 2" descr="Afbeelding met tekst, Perceel, schermopname, diagram&#10;&#10;Automatisch gegenereerde beschrijving">
            <a:extLst>
              <a:ext uri="{FF2B5EF4-FFF2-40B4-BE49-F238E27FC236}">
                <a16:creationId xmlns:a16="http://schemas.microsoft.com/office/drawing/2014/main" id="{33489D44-D32D-4D44-733C-A628F3BF2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150" y="1497315"/>
            <a:ext cx="9029700" cy="410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1626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F7F78-FD26-02C6-39BA-090CA7B2A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21D20-4423-C7DE-E7E6-D52598BDC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Financials</a:t>
            </a:r>
            <a:endParaRPr lang="en-BE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pic>
        <p:nvPicPr>
          <p:cNvPr id="4" name="Afbeelding 3" descr="Afbeelding met tekst, schermopname, Lettertype, diagram&#10;&#10;Automatisch gegenereerde beschrijving">
            <a:extLst>
              <a:ext uri="{FF2B5EF4-FFF2-40B4-BE49-F238E27FC236}">
                <a16:creationId xmlns:a16="http://schemas.microsoft.com/office/drawing/2014/main" id="{A55ADEF7-2F44-CED5-E1ED-FBA868531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208" y="1713367"/>
            <a:ext cx="9494156" cy="3915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1594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EA22DB-7536-CCCA-75AF-462D7CAD2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4103" y="3706354"/>
            <a:ext cx="6383793" cy="23479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5D5EFE-1DB3-BCDF-AD04-B04EEE0C0D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60" y="1458140"/>
            <a:ext cx="10412278" cy="2248214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B9ED7C4-2D45-CAEF-7A5E-DB16F5BA3CC1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0076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Financials</a:t>
            </a:r>
            <a:endParaRPr lang="en-BE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72056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E618A-21EC-1B1F-B190-0456EAEEB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9A636-53F9-F1EA-142A-F57567835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Financials</a:t>
            </a:r>
            <a:endParaRPr lang="en-BE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E8766E-3229-A645-0C90-E9B3A068FF9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424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8F05C8A-7D3A-56EB-9D91-8578E098D1C7}"/>
              </a:ext>
            </a:extLst>
          </p:cNvPr>
          <p:cNvSpPr txBox="1"/>
          <p:nvPr/>
        </p:nvSpPr>
        <p:spPr>
          <a:xfrm>
            <a:off x="12192000" y="-398585"/>
            <a:ext cx="10925908" cy="74558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nl-B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B816B4-731A-A521-EA1B-084C20688230}"/>
              </a:ext>
            </a:extLst>
          </p:cNvPr>
          <p:cNvSpPr txBox="1"/>
          <p:nvPr/>
        </p:nvSpPr>
        <p:spPr>
          <a:xfrm>
            <a:off x="12349676" y="834157"/>
            <a:ext cx="31394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200 Day simple moving average</a:t>
            </a:r>
            <a:endParaRPr lang="nl-BE" sz="3200" b="1"/>
          </a:p>
        </p:txBody>
      </p:sp>
    </p:spTree>
    <p:extLst>
      <p:ext uri="{BB962C8B-B14F-4D97-AF65-F5344CB8AC3E}">
        <p14:creationId xmlns:p14="http://schemas.microsoft.com/office/powerpoint/2010/main" val="20746922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F3233-D08D-F17E-A336-6721CE0B9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84761-799E-2246-6508-807BB25AA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Financials</a:t>
            </a:r>
            <a:endParaRPr lang="en-BE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2613D7-1FBE-7B42-940B-75A1A655BAF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8184" t="3650" r="-15711" b="2275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4492F39-1B22-47CF-0439-CEA735A58EFB}"/>
              </a:ext>
            </a:extLst>
          </p:cNvPr>
          <p:cNvSpPr txBox="1"/>
          <p:nvPr/>
        </p:nvSpPr>
        <p:spPr>
          <a:xfrm>
            <a:off x="7995138" y="365125"/>
            <a:ext cx="3704493" cy="64928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nl-BE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179C75-D92A-6569-8343-224C6967B7C0}"/>
              </a:ext>
            </a:extLst>
          </p:cNvPr>
          <p:cNvSpPr txBox="1"/>
          <p:nvPr/>
        </p:nvSpPr>
        <p:spPr>
          <a:xfrm>
            <a:off x="8387276" y="868945"/>
            <a:ext cx="31394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200 Day simple moving average</a:t>
            </a:r>
            <a:endParaRPr lang="nl-BE" sz="3200" b="1"/>
          </a:p>
        </p:txBody>
      </p:sp>
    </p:spTree>
    <p:extLst>
      <p:ext uri="{BB962C8B-B14F-4D97-AF65-F5344CB8AC3E}">
        <p14:creationId xmlns:p14="http://schemas.microsoft.com/office/powerpoint/2010/main" val="24092162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D6169-1708-5E2C-9529-93BD295EE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B5311-2360-7821-1436-1AC1E95BD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Conclusie</a:t>
            </a:r>
            <a:endParaRPr lang="en-BE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F467A-7F8C-7C73-F2EE-72940EB286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sz="2000"/>
              <a:t>Met de </a:t>
            </a:r>
            <a:r>
              <a:rPr lang="en-GB" sz="2000" err="1"/>
              <a:t>palmolie</a:t>
            </a:r>
            <a:r>
              <a:rPr lang="en-GB" sz="2000"/>
              <a:t> </a:t>
            </a:r>
            <a:r>
              <a:rPr lang="en-GB" sz="2000" err="1"/>
              <a:t>prijs</a:t>
            </a:r>
            <a:r>
              <a:rPr lang="en-GB" sz="2000"/>
              <a:t> die </a:t>
            </a:r>
            <a:r>
              <a:rPr lang="en-GB" sz="2000" err="1"/>
              <a:t>uitbreekt</a:t>
            </a:r>
            <a:r>
              <a:rPr lang="en-GB" sz="2000"/>
              <a:t>, </a:t>
            </a:r>
            <a:r>
              <a:rPr lang="en-GB" sz="2000" err="1"/>
              <a:t>lijkt</a:t>
            </a:r>
            <a:r>
              <a:rPr lang="en-GB" sz="2000"/>
              <a:t> </a:t>
            </a:r>
            <a:r>
              <a:rPr lang="en-GB" sz="2000" err="1"/>
              <a:t>een</a:t>
            </a:r>
            <a:r>
              <a:rPr lang="en-GB" sz="2000"/>
              <a:t> </a:t>
            </a:r>
            <a:r>
              <a:rPr lang="en-GB" sz="2000" err="1"/>
              <a:t>investering</a:t>
            </a:r>
            <a:r>
              <a:rPr lang="en-GB" sz="2000"/>
              <a:t> in </a:t>
            </a:r>
            <a:r>
              <a:rPr lang="en-GB" sz="2000" err="1"/>
              <a:t>palmolieproducent</a:t>
            </a:r>
            <a:r>
              <a:rPr lang="en-GB" sz="2000"/>
              <a:t> ideal</a:t>
            </a:r>
          </a:p>
          <a:p>
            <a:pPr>
              <a:buFont typeface="Wingdings" panose="05000000000000000000" pitchFamily="2" charset="2"/>
              <a:buChar char="Ø"/>
            </a:pPr>
            <a:endParaRPr lang="en-GB" sz="2000"/>
          </a:p>
          <a:p>
            <a:pPr>
              <a:buFont typeface="Wingdings" panose="05000000000000000000" pitchFamily="2" charset="2"/>
              <a:buChar char="Ø"/>
            </a:pPr>
            <a:r>
              <a:rPr lang="en-GB" sz="2000" err="1"/>
              <a:t>Vordering</a:t>
            </a:r>
            <a:r>
              <a:rPr lang="en-GB" sz="2000"/>
              <a:t> van 25 </a:t>
            </a:r>
            <a:r>
              <a:rPr lang="en-GB" sz="2000" err="1"/>
              <a:t>miljoen</a:t>
            </a:r>
            <a:r>
              <a:rPr lang="en-GB" sz="2000"/>
              <a:t> (8 </a:t>
            </a:r>
            <a:r>
              <a:rPr lang="en-GB" sz="2000" err="1"/>
              <a:t>procent</a:t>
            </a:r>
            <a:r>
              <a:rPr lang="en-GB" sz="2000"/>
              <a:t> </a:t>
            </a:r>
            <a:r>
              <a:rPr lang="en-GB" sz="2000" err="1"/>
              <a:t>beurswaarde</a:t>
            </a:r>
            <a:r>
              <a:rPr lang="en-GB" sz="2000"/>
              <a:t>) op holding </a:t>
            </a:r>
            <a:r>
              <a:rPr lang="en-GB" sz="2000" err="1"/>
              <a:t>Socfin</a:t>
            </a:r>
            <a:endParaRPr lang="en-GB" sz="2000"/>
          </a:p>
          <a:p>
            <a:pPr>
              <a:buFont typeface="Wingdings" panose="05000000000000000000" pitchFamily="2" charset="2"/>
              <a:buChar char="Ø"/>
            </a:pPr>
            <a:endParaRPr lang="en-GB" sz="2000"/>
          </a:p>
          <a:p>
            <a:pPr>
              <a:buFont typeface="Wingdings" panose="05000000000000000000" pitchFamily="2" charset="2"/>
              <a:buChar char="Ø"/>
            </a:pPr>
            <a:r>
              <a:rPr lang="en-GB" sz="2000" err="1"/>
              <a:t>Socfinasia</a:t>
            </a:r>
            <a:r>
              <a:rPr lang="en-GB" sz="2000"/>
              <a:t> is </a:t>
            </a:r>
            <a:r>
              <a:rPr lang="en-GB" sz="2000" err="1"/>
              <a:t>enorm</a:t>
            </a:r>
            <a:r>
              <a:rPr lang="en-GB" sz="2000"/>
              <a:t> </a:t>
            </a:r>
            <a:r>
              <a:rPr lang="en-GB" sz="2000" err="1"/>
              <a:t>aantrekkelijk</a:t>
            </a:r>
            <a:r>
              <a:rPr lang="en-GB" sz="2000"/>
              <a:t> door </a:t>
            </a:r>
            <a:r>
              <a:rPr lang="en-GB" sz="2000" err="1"/>
              <a:t>zeer</a:t>
            </a:r>
            <a:r>
              <a:rPr lang="en-GB" sz="2000"/>
              <a:t> </a:t>
            </a:r>
            <a:r>
              <a:rPr lang="en-GB" sz="2000" err="1"/>
              <a:t>hoog</a:t>
            </a:r>
            <a:r>
              <a:rPr lang="en-GB" sz="2000"/>
              <a:t> </a:t>
            </a:r>
            <a:r>
              <a:rPr lang="en-GB" sz="2000" err="1"/>
              <a:t>dividendrendement</a:t>
            </a:r>
            <a:r>
              <a:rPr lang="en-GB" sz="2000"/>
              <a:t> </a:t>
            </a:r>
            <a:r>
              <a:rPr lang="en-GB" sz="2000" err="1"/>
              <a:t>en</a:t>
            </a:r>
            <a:r>
              <a:rPr lang="en-GB" sz="2000"/>
              <a:t> </a:t>
            </a:r>
            <a:r>
              <a:rPr lang="en-GB" sz="2000" err="1"/>
              <a:t>aantrekkelijke</a:t>
            </a:r>
            <a:r>
              <a:rPr lang="en-GB" sz="2000"/>
              <a:t> </a:t>
            </a:r>
            <a:r>
              <a:rPr lang="en-GB" sz="2000" err="1"/>
              <a:t>waardering</a:t>
            </a:r>
            <a:endParaRPr lang="en-BE" sz="2000"/>
          </a:p>
        </p:txBody>
      </p:sp>
    </p:spTree>
    <p:extLst>
      <p:ext uri="{BB962C8B-B14F-4D97-AF65-F5344CB8AC3E}">
        <p14:creationId xmlns:p14="http://schemas.microsoft.com/office/powerpoint/2010/main" val="3133797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396DF-60AE-BC44-BC51-69D0BFDA6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74ED1-F48B-9C7B-8B42-30AE1D0DE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Voorstel</a:t>
            </a:r>
            <a:endParaRPr lang="en-BE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A288C-594F-9FF2-DBC8-725A84953F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err="1"/>
              <a:t>Marktorder</a:t>
            </a:r>
            <a:r>
              <a:rPr lang="en-US"/>
              <a:t> </a:t>
            </a:r>
            <a:r>
              <a:rPr lang="en-US" err="1"/>
              <a:t>voor</a:t>
            </a:r>
            <a:r>
              <a:rPr lang="en-US"/>
              <a:t> 66 </a:t>
            </a:r>
            <a:r>
              <a:rPr lang="en-US" err="1"/>
              <a:t>aandelen</a:t>
            </a:r>
            <a:r>
              <a:rPr lang="en-US"/>
              <a:t> </a:t>
            </a:r>
            <a:r>
              <a:rPr lang="nl-BE"/>
              <a:t>=&gt;</a:t>
            </a:r>
            <a:r>
              <a:rPr lang="en-US"/>
              <a:t> 1062.6 euro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974619196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4FD744ABC62A64EB73EBDE161BAFFAF" ma:contentTypeVersion="13" ma:contentTypeDescription="Een nieuw document maken." ma:contentTypeScope="" ma:versionID="4951167e122b31e5ded957a5580b48da">
  <xsd:schema xmlns:xsd="http://www.w3.org/2001/XMLSchema" xmlns:xs="http://www.w3.org/2001/XMLSchema" xmlns:p="http://schemas.microsoft.com/office/2006/metadata/properties" xmlns:ns2="bc1159ad-d26f-4422-9cd3-507dd7bb304b" xmlns:ns3="8645f338-6b19-47dd-a9cd-521166d8a9c7" targetNamespace="http://schemas.microsoft.com/office/2006/metadata/properties" ma:root="true" ma:fieldsID="283887a6431aabf65d426566ab0d1d71" ns2:_="" ns3:_="">
    <xsd:import namespace="bc1159ad-d26f-4422-9cd3-507dd7bb304b"/>
    <xsd:import namespace="8645f338-6b19-47dd-a9cd-521166d8a9c7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1159ad-d26f-4422-9cd3-507dd7bb304b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Afbeeldingtags" ma:readOnly="false" ma:fieldId="{5cf76f15-5ced-4ddc-b409-7134ff3c332f}" ma:taxonomyMulti="true" ma:sspId="da829b53-f82c-4818-ba9e-f50c3edd119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45f338-6b19-47dd-a9cd-521166d8a9c7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fa6b2853-0cf4-4253-bc2b-fe296ed0741f}" ma:internalName="TaxCatchAll" ma:showField="CatchAllData" ma:web="8645f338-6b19-47dd-a9cd-521166d8a9c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645f338-6b19-47dd-a9cd-521166d8a9c7" xsi:nil="true"/>
    <lcf76f155ced4ddcb4097134ff3c332f xmlns="bc1159ad-d26f-4422-9cd3-507dd7bb304b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DBD6C5D-4773-475C-86FF-2D05E0593407}">
  <ds:schemaRefs>
    <ds:schemaRef ds:uri="8645f338-6b19-47dd-a9cd-521166d8a9c7"/>
    <ds:schemaRef ds:uri="bc1159ad-d26f-4422-9cd3-507dd7bb304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7040381-67DD-4FBC-ACE0-362DC6FCCAC6}">
  <ds:schemaRefs>
    <ds:schemaRef ds:uri="8645f338-6b19-47dd-a9cd-521166d8a9c7"/>
    <ds:schemaRef ds:uri="bc1159ad-d26f-4422-9cd3-507dd7bb304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176AE51-6F4C-460E-A4C6-2DFD6C1DFC3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19</Slides>
  <Notes>2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1" baseType="lpstr">
      <vt:lpstr>Kantoorthema</vt:lpstr>
      <vt:lpstr>Custom Design</vt:lpstr>
      <vt:lpstr>Socfinasia</vt:lpstr>
      <vt:lpstr>Korte inleiding</vt:lpstr>
      <vt:lpstr>Geschiedenis</vt:lpstr>
      <vt:lpstr>Management</vt:lpstr>
      <vt:lpstr>PowerPoint Presentation</vt:lpstr>
      <vt:lpstr>PowerPoint Presentation</vt:lpstr>
      <vt:lpstr>Geografie </vt:lpstr>
      <vt:lpstr>Bedrijfsactiviteiten</vt:lpstr>
      <vt:lpstr>Palmolie</vt:lpstr>
      <vt:lpstr>Peers: Sipef</vt:lpstr>
      <vt:lpstr>SWOT-analyse</vt:lpstr>
      <vt:lpstr>En Socfinaf?</vt:lpstr>
      <vt:lpstr>Financials</vt:lpstr>
      <vt:lpstr>Financials</vt:lpstr>
      <vt:lpstr>PowerPoint Presentation</vt:lpstr>
      <vt:lpstr>Financials</vt:lpstr>
      <vt:lpstr>Financials</vt:lpstr>
      <vt:lpstr>Conclusie</vt:lpstr>
      <vt:lpstr>Voorstel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Vek investment club</dc:title>
  <dc:creator>Investment Club | VEK</dc:creator>
  <cp:revision>1</cp:revision>
  <cp:lastPrinted>2024-07-16T07:40:55Z</cp:lastPrinted>
  <dcterms:created xsi:type="dcterms:W3CDTF">2024-07-09T18:43:59Z</dcterms:created>
  <dcterms:modified xsi:type="dcterms:W3CDTF">2024-11-14T19:52:58Z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0x01010004FD744ABC62A64EB73EBDE161BAFFAF</vt:lpwstr>
  </property>
  <property fmtid="{D5CDD505-2E9C-101B-9397-08002B2CF9AE}" pid="3" name="MediaServiceImageTags">
    <vt:lpwstr/>
  </property>
</Properties>
</file>